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9792f247-1a9d-8b3d-46e6-a1b6c53970a1}">
          <p14:sldIdLst>
            <p14:sldId id="256"/>
            <p14:sldId id="257"/>
            <p14:sldId id="258"/>
            <p14:sldId id="259"/>
            <p14:sldId id="260"/>
            <p14:sldId id="261"/>
            <p14:sldId id="262"/>
            <p14:sldId id="263"/>
          </p14:sldIdLst>
        </p14:section>
        <p14:section name="Backup" id="{8e3afbd1-9027-f803-a18a-32548e383c2c}">
          <p14:sldIdLst>
            <p14:sldId id="264"/>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Which inputs mattered most</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F6F6B"/>
            </a:solidFill>
            <a:effectLst/>
          </c:spPr>
          <c:invertIfNegative val="0"/>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cat>
            <c:multiLvlStrRef>
              <c:f>Sheet1!$A$2:$A$7</c:f>
              <c:multiLvlStrCache>
                <c:ptCount val="6"/>
                <c:lvl>
                  <c:pt idx="0">
                    <c:v>Volatility change (5 days)</c:v>
                  </c:pt>
                  <c:pt idx="1">
                    <c:v>Return over 10 days</c:v>
                  </c:pt>
                  <c:pt idx="2">
                    <c:v>Candle shape</c:v>
                  </c:pt>
                  <c:pt idx="3">
                    <c:v>Price vs 10-day average</c:v>
                  </c:pt>
                  <c:pt idx="4">
                    <c:v>RSI change (1 day)</c:v>
                  </c:pt>
                  <c:pt idx="5">
                    <c:v>Order flow, 2 days ago</c:v>
                  </c:pt>
                </c:lvl>
              </c:multiLvlStrCache>
            </c:multiLvlStrRef>
          </c:cat>
          <c:val>
            <c:numRef>
              <c:f>Sheet1!$B$2:$B$7</c:f>
              <c:numCache>
                <c:formatCode>General</c:formatCode>
                <c:ptCount val="6"/>
                <c:pt idx="0">
                  <c:v>0.0264</c:v>
                </c:pt>
                <c:pt idx="1">
                  <c:v>0.0194</c:v>
                </c:pt>
                <c:pt idx="2">
                  <c:v>0.0167</c:v>
                </c:pt>
                <c:pt idx="3">
                  <c:v>0.0156</c:v>
                </c:pt>
                <c:pt idx="4">
                  <c:v>0.0148</c:v>
                </c:pt>
                <c:pt idx="5">
                  <c:v>0.0145</c:v>
                </c:pt>
              </c:numCache>
            </c:numRef>
          </c:val>
        </c:ser>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D3D4"/>
            </a:solidFill>
            <a:prstDash val="solid"/>
            <a:round/>
          </a:ln>
        </c:spPr>
        <c:txPr>
          <a:bodyPr/>
          <a:lstStyle/>
          <a:p>
            <a:pPr>
              <a:defRPr sz="1100" b="0" i="0" u="none" strike="noStrike">
                <a:solidFill>
                  <a:srgbClr val="55666E"/>
                </a:solidFill>
                <a:latin typeface="+mn-lt"/>
              </a:defRPr>
            </a:pPr>
            <a:endParaRPr lang="en-US"/>
          </a:p>
        </c:txPr>
        <c:crossAx val="2094734552"/>
        <c:crosses val="autoZero"/>
        <c:auto val="1"/>
        <c:lblAlgn val="ctr"/>
        <c:noMultiLvlLbl val="1"/>
      </c:catAx>
      <c:valAx>
        <c:axId val="2094734552"/>
        <c:scaling>
          <c:orientation val="minMax"/>
          <c:max val="0.03432"/>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Balanced accuracy (50% = guessing)</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8A9A9C"/>
            </a:solidFill>
            <a:effectLst/>
          </c:spPr>
          <c:invertIfNegative val="0"/>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A9C"/>
              </a:solidFill>
              <a:effectLst/>
            </c:spPr>
          </c:dPt>
          <c:dPt>
            <c:idx val="1"/>
            <c:invertIfNegative val="0"/>
            <c:bubble3D val="0"/>
            <c:spPr>
              <a:solidFill>
                <a:srgbClr val="8A9A9C"/>
              </a:solidFill>
              <a:effectLst/>
            </c:spPr>
          </c:dPt>
          <c:dPt>
            <c:idx val="2"/>
            <c:invertIfNegative val="0"/>
            <c:bubble3D val="0"/>
            <c:spPr>
              <a:solidFill>
                <a:srgbClr val="8A9A9C"/>
              </a:solidFill>
              <a:effectLst/>
            </c:spPr>
          </c:dPt>
          <c:dPt>
            <c:idx val="3"/>
            <c:invertIfNegative val="0"/>
            <c:bubble3D val="0"/>
            <c:spPr>
              <a:solidFill>
                <a:srgbClr val="8A9A9C"/>
              </a:solidFill>
              <a:effectLst/>
            </c:spPr>
          </c:dPt>
          <c:dPt>
            <c:idx val="4"/>
            <c:invertIfNegative val="0"/>
            <c:bubble3D val="0"/>
            <c:spPr>
              <a:solidFill>
                <a:srgbClr val="1F6F6B"/>
              </a:solidFill>
              <a:effectLst/>
            </c:spPr>
          </c:dPt>
          <c:cat>
            <c:multiLvlStrRef>
              <c:f>Sheet1!$A$2:$A$6</c:f>
              <c:multiLvlStrCache>
                <c:ptCount val="5"/>
                <c:lvl>
                  <c:pt idx="0">
                    <c:v>Guess UP</c:v>
                  </c:pt>
                  <c:pt idx="1">
                    <c:v>Model A</c:v>
                  </c:pt>
                  <c:pt idx="2">
                    <c:v>Model B</c:v>
                  </c:pt>
                  <c:pt idx="3">
                    <c:v>Model C</c:v>
                  </c:pt>
                  <c:pt idx="4">
                    <c:v>Our blend</c:v>
                  </c:pt>
                </c:lvl>
              </c:multiLvlStrCache>
            </c:multiLvlStrRef>
          </c:cat>
          <c:val>
            <c:numRef>
              <c:f>Sheet1!$B$2:$B$6</c:f>
              <c:numCache>
                <c:formatCode>General</c:formatCode>
                <c:ptCount val="5"/>
                <c:pt idx="0">
                  <c:v>0.5</c:v>
                </c:pt>
                <c:pt idx="1">
                  <c:v>0.5174</c:v>
                </c:pt>
                <c:pt idx="2">
                  <c:v>0.5312</c:v>
                </c:pt>
                <c:pt idx="3">
                  <c:v>0.5315</c:v>
                </c:pt>
                <c:pt idx="4">
                  <c:v>0.5418</c:v>
                </c:pt>
              </c:numCache>
            </c:numRef>
          </c:val>
        </c:ser>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100" b="0" i="0" u="none" strike="noStrike">
                <a:solidFill>
                  <a:srgbClr val="55666E"/>
                </a:solidFill>
                <a:latin typeface="+mn-lt"/>
              </a:defRPr>
            </a:pPr>
            <a:endParaRPr lang="en-US"/>
          </a:p>
        </c:txPr>
        <c:crossAx val="2094734552"/>
        <c:crosses val="autoZero"/>
        <c:auto val="1"/>
        <c:lblAlgn val="ctr"/>
        <c:noMultiLvlLbl val="1"/>
      </c:catAx>
      <c:valAx>
        <c:axId val="2094734552"/>
        <c:scaling>
          <c:orientation val="minMax"/>
          <c:max val="0.56"/>
          <c:min val="0.45"/>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Average daily price swing</a:t>
            </a:r>
          </a:p>
        </c:rich>
      </c:tx>
      <c:layout/>
      <c:overlay val="0"/>
    </c:title>
    <c:autoTitleDeleted val="0"/>
    <c:plotArea>
      <c:layout/>
      <c:barChart>
        <c:barDir val="col"/>
        <c:grouping val="clustered"/>
        <c:varyColors val="0"/>
        <c:ser>
          <c:idx val="0"/>
          <c:order val="0"/>
          <c:tx>
            <c:strRef>
              <c:f>Sheet1!$B$1</c:f>
              <c:strCache>
                <c:ptCount val="1"/>
                <c:pt idx="0">
                  <c:v>Daily swing</c:v>
                </c:pt>
              </c:strCache>
            </c:strRef>
          </c:tx>
          <c:spPr>
            <a:solidFill>
              <a:srgbClr val="8A9A9C"/>
            </a:solidFill>
            <a:effectLst/>
          </c:spPr>
          <c:invertIfNegative val="0"/>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A9C"/>
              </a:solidFill>
              <a:effectLst/>
            </c:spPr>
          </c:dPt>
          <c:dPt>
            <c:idx val="1"/>
            <c:invertIfNegative val="0"/>
            <c:bubble3D val="0"/>
            <c:spPr>
              <a:solidFill>
                <a:srgbClr val="8A9A9C"/>
              </a:solidFill>
              <a:effectLst/>
            </c:spPr>
          </c:dPt>
          <c:dPt>
            <c:idx val="2"/>
            <c:invertIfNegative val="0"/>
            <c:bubble3D val="0"/>
            <c:spPr>
              <a:solidFill>
                <a:srgbClr val="C0452F"/>
              </a:solidFill>
              <a:effectLst/>
            </c:spPr>
          </c:dPt>
          <c:cat>
            <c:multiLvlStrRef>
              <c:f>Sheet1!$A$2:$A$4</c:f>
              <c:multiLvlStrCache>
                <c:ptCount val="3"/>
                <c:lvl>
                  <c:pt idx="0">
                    <c:v>Calm</c:v>
                  </c:pt>
                  <c:pt idx="1">
                    <c:v>Before crash</c:v>
                  </c:pt>
                  <c:pt idx="2">
                    <c:v>Crash</c:v>
                  </c:pt>
                </c:lvl>
              </c:multiLvlStrCache>
            </c:multiLvlStrRef>
          </c:cat>
          <c:val>
            <c:numRef>
              <c:f>Sheet1!$B$2:$B$4</c:f>
              <c:numCache>
                <c:formatCode>General</c:formatCode>
                <c:ptCount val="3"/>
                <c:pt idx="0">
                  <c:v>0.01231</c:v>
                </c:pt>
                <c:pt idx="1">
                  <c:v>0.01338</c:v>
                </c:pt>
                <c:pt idx="2">
                  <c:v>0.06603</c:v>
                </c:pt>
              </c:numCache>
            </c:numRef>
          </c:val>
        </c:ser>
        <c:dLbls>
          <c:numFmt formatCode="0.0%" sourceLinked="0"/>
          <c:txPr>
            <a:bodyPr/>
            <a:lstStyle/>
            <a:p>
              <a:pPr>
                <a:defRPr b="0" i="0" strike="noStrike" sz="1000" u="none">
                  <a:solidFill>
                    <a:srgbClr val="1323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200" b="0" i="0" u="none" strike="noStrike">
                <a:solidFill>
                  <a:srgbClr val="55666E"/>
                </a:solidFill>
                <a:latin typeface="+mn-lt"/>
              </a:defRPr>
            </a:pPr>
            <a:endParaRPr lang="en-US"/>
          </a:p>
        </c:txPr>
        <c:crossAx val="2094734552"/>
        <c:crosses val="autoZero"/>
        <c:auto val="1"/>
        <c:lblAlgn val="ctr"/>
        <c:noMultiLvlLbl val="1"/>
      </c:catAx>
      <c:valAx>
        <c:axId val="2094734552"/>
        <c:scaling>
          <c:orientation val="minMax"/>
          <c:max val="0.08"/>
          <c:min val="0"/>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Price, days 801–900</a:t>
            </a:r>
          </a:p>
        </c:rich>
      </c:tx>
      <c:layout/>
      <c:overlay val="0"/>
    </c:title>
    <c:autoTitleDeleted val="0"/>
    <c:plotArea>
      <c:layout/>
      <c:lineChart>
        <c:varyColors val="0"/>
        <c:ser>
          <c:idx val="0"/>
          <c:order val="0"/>
          <c:tx>
            <c:strRef>
              <c:f>Sheet1!$B$1</c:f>
              <c:strCache>
                <c:ptCount val="1"/>
                <c:pt idx="0">
                  <c:v>Price</c:v>
                </c:pt>
              </c:strCache>
            </c:strRef>
          </c:tx>
          <c:spPr>
            <a:solidFill>
              <a:srgbClr val="1F6F6B"/>
            </a:solidFill>
            <a:ln w="25400" cap="flat">
              <a:solidFill>
                <a:srgbClr val="1F6F6B"/>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1F6F6B"/>
              </a:solidFill>
              <a:ln w="9525" cap="flat">
                <a:solidFill>
                  <a:srgbClr val="1F6F6B"/>
                </a:solidFill>
                <a:prstDash val="solid"/>
                <a:round/>
              </a:ln>
              <a:effectLst/>
            </c:spPr>
          </c:marker>
          <c:cat>
            <c:multiLvlStrRef>
              <c:f>Sheet1!$A$2:$A$101</c:f>
              <c:multiLvlStrCache>
                <c:ptCount val="100"/>
                <c:lvl>
                  <c:pt idx="0">
                    <c:v>801</c:v>
                  </c:pt>
                  <c:pt idx="1">
                    <c:v>802</c:v>
                  </c:pt>
                  <c:pt idx="2">
                    <c:v>803</c:v>
                  </c:pt>
                  <c:pt idx="3">
                    <c:v>804</c:v>
                  </c:pt>
                  <c:pt idx="4">
                    <c:v>805</c:v>
                  </c:pt>
                  <c:pt idx="5">
                    <c:v>806</c:v>
                  </c:pt>
                  <c:pt idx="6">
                    <c:v>807</c:v>
                  </c:pt>
                  <c:pt idx="7">
                    <c:v>808</c:v>
                  </c:pt>
                  <c:pt idx="8">
                    <c:v>809</c:v>
                  </c:pt>
                  <c:pt idx="9">
                    <c:v>810</c:v>
                  </c:pt>
                  <c:pt idx="10">
                    <c:v>811</c:v>
                  </c:pt>
                  <c:pt idx="11">
                    <c:v>812</c:v>
                  </c:pt>
                  <c:pt idx="12">
                    <c:v>813</c:v>
                  </c:pt>
                  <c:pt idx="13">
                    <c:v>814</c:v>
                  </c:pt>
                  <c:pt idx="14">
                    <c:v>815</c:v>
                  </c:pt>
                  <c:pt idx="15">
                    <c:v>816</c:v>
                  </c:pt>
                  <c:pt idx="16">
                    <c:v>817</c:v>
                  </c:pt>
                  <c:pt idx="17">
                    <c:v>818</c:v>
                  </c:pt>
                  <c:pt idx="18">
                    <c:v>819</c:v>
                  </c:pt>
                  <c:pt idx="19">
                    <c:v>820</c:v>
                  </c:pt>
                  <c:pt idx="20">
                    <c:v>821</c:v>
                  </c:pt>
                  <c:pt idx="21">
                    <c:v>822</c:v>
                  </c:pt>
                  <c:pt idx="22">
                    <c:v>823</c:v>
                  </c:pt>
                  <c:pt idx="23">
                    <c:v>824</c:v>
                  </c:pt>
                  <c:pt idx="24">
                    <c:v>825</c:v>
                  </c:pt>
                  <c:pt idx="25">
                    <c:v>826</c:v>
                  </c:pt>
                  <c:pt idx="26">
                    <c:v>827</c:v>
                  </c:pt>
                  <c:pt idx="27">
                    <c:v>828</c:v>
                  </c:pt>
                  <c:pt idx="28">
                    <c:v>829</c:v>
                  </c:pt>
                  <c:pt idx="29">
                    <c:v>830</c:v>
                  </c:pt>
                  <c:pt idx="30">
                    <c:v>831</c:v>
                  </c:pt>
                  <c:pt idx="31">
                    <c:v>832</c:v>
                  </c:pt>
                  <c:pt idx="32">
                    <c:v>833</c:v>
                  </c:pt>
                  <c:pt idx="33">
                    <c:v>834</c:v>
                  </c:pt>
                  <c:pt idx="34">
                    <c:v>835</c:v>
                  </c:pt>
                  <c:pt idx="35">
                    <c:v>836</c:v>
                  </c:pt>
                  <c:pt idx="36">
                    <c:v>837</c:v>
                  </c:pt>
                  <c:pt idx="37">
                    <c:v>838</c:v>
                  </c:pt>
                  <c:pt idx="38">
                    <c:v>839</c:v>
                  </c:pt>
                  <c:pt idx="39">
                    <c:v>840</c:v>
                  </c:pt>
                  <c:pt idx="40">
                    <c:v>841</c:v>
                  </c:pt>
                  <c:pt idx="41">
                    <c:v>842</c:v>
                  </c:pt>
                  <c:pt idx="42">
                    <c:v>843</c:v>
                  </c:pt>
                  <c:pt idx="43">
                    <c:v>844</c:v>
                  </c:pt>
                  <c:pt idx="44">
                    <c:v>845</c:v>
                  </c:pt>
                  <c:pt idx="45">
                    <c:v>846</c:v>
                  </c:pt>
                  <c:pt idx="46">
                    <c:v>847</c:v>
                  </c:pt>
                  <c:pt idx="47">
                    <c:v>848</c:v>
                  </c:pt>
                  <c:pt idx="48">
                    <c:v>849</c:v>
                  </c:pt>
                  <c:pt idx="49">
                    <c:v>850</c:v>
                  </c:pt>
                  <c:pt idx="50">
                    <c:v>851</c:v>
                  </c:pt>
                  <c:pt idx="51">
                    <c:v>852</c:v>
                  </c:pt>
                  <c:pt idx="52">
                    <c:v>853</c:v>
                  </c:pt>
                  <c:pt idx="53">
                    <c:v>854</c:v>
                  </c:pt>
                  <c:pt idx="54">
                    <c:v>855</c:v>
                  </c:pt>
                  <c:pt idx="55">
                    <c:v>856</c:v>
                  </c:pt>
                  <c:pt idx="56">
                    <c:v>857</c:v>
                  </c:pt>
                  <c:pt idx="57">
                    <c:v>858</c:v>
                  </c:pt>
                  <c:pt idx="58">
                    <c:v>859</c:v>
                  </c:pt>
                  <c:pt idx="59">
                    <c:v>860</c:v>
                  </c:pt>
                  <c:pt idx="60">
                    <c:v>861</c:v>
                  </c:pt>
                  <c:pt idx="61">
                    <c:v>862</c:v>
                  </c:pt>
                  <c:pt idx="62">
                    <c:v>863</c:v>
                  </c:pt>
                  <c:pt idx="63">
                    <c:v>864</c:v>
                  </c:pt>
                  <c:pt idx="64">
                    <c:v>865</c:v>
                  </c:pt>
                  <c:pt idx="65">
                    <c:v>866</c:v>
                  </c:pt>
                  <c:pt idx="66">
                    <c:v>867</c:v>
                  </c:pt>
                  <c:pt idx="67">
                    <c:v>868</c:v>
                  </c:pt>
                  <c:pt idx="68">
                    <c:v>869</c:v>
                  </c:pt>
                  <c:pt idx="69">
                    <c:v>870</c:v>
                  </c:pt>
                  <c:pt idx="70">
                    <c:v>871</c:v>
                  </c:pt>
                  <c:pt idx="71">
                    <c:v>872</c:v>
                  </c:pt>
                  <c:pt idx="72">
                    <c:v>873</c:v>
                  </c:pt>
                  <c:pt idx="73">
                    <c:v>874</c:v>
                  </c:pt>
                  <c:pt idx="74">
                    <c:v>875</c:v>
                  </c:pt>
                  <c:pt idx="75">
                    <c:v>876</c:v>
                  </c:pt>
                  <c:pt idx="76">
                    <c:v>877</c:v>
                  </c:pt>
                  <c:pt idx="77">
                    <c:v>878</c:v>
                  </c:pt>
                  <c:pt idx="78">
                    <c:v>879</c:v>
                  </c:pt>
                  <c:pt idx="79">
                    <c:v>880</c:v>
                  </c:pt>
                  <c:pt idx="80">
                    <c:v>881</c:v>
                  </c:pt>
                  <c:pt idx="81">
                    <c:v>882</c:v>
                  </c:pt>
                  <c:pt idx="82">
                    <c:v>883</c:v>
                  </c:pt>
                  <c:pt idx="83">
                    <c:v>884</c:v>
                  </c:pt>
                  <c:pt idx="84">
                    <c:v>885</c:v>
                  </c:pt>
                  <c:pt idx="85">
                    <c:v>886</c:v>
                  </c:pt>
                  <c:pt idx="86">
                    <c:v>887</c:v>
                  </c:pt>
                  <c:pt idx="87">
                    <c:v>888</c:v>
                  </c:pt>
                  <c:pt idx="88">
                    <c:v>889</c:v>
                  </c:pt>
                  <c:pt idx="89">
                    <c:v>890</c:v>
                  </c:pt>
                  <c:pt idx="90">
                    <c:v>891</c:v>
                  </c:pt>
                  <c:pt idx="91">
                    <c:v>892</c:v>
                  </c:pt>
                  <c:pt idx="92">
                    <c:v>893</c:v>
                  </c:pt>
                  <c:pt idx="93">
                    <c:v>894</c:v>
                  </c:pt>
                  <c:pt idx="94">
                    <c:v>895</c:v>
                  </c:pt>
                  <c:pt idx="95">
                    <c:v>896</c:v>
                  </c:pt>
                  <c:pt idx="96">
                    <c:v>897</c:v>
                  </c:pt>
                  <c:pt idx="97">
                    <c:v>898</c:v>
                  </c:pt>
                  <c:pt idx="98">
                    <c:v>899</c:v>
                  </c:pt>
                  <c:pt idx="99">
                    <c:v>900</c:v>
                  </c:pt>
                </c:lvl>
              </c:multiLvlStrCache>
            </c:multiLvlStrRef>
          </c:cat>
          <c:val>
            <c:numRef>
              <c:f>Sheet1!$B$2:$B$101</c:f>
              <c:numCache>
                <c:formatCode>General</c:formatCode>
                <c:ptCount val="100"/>
                <c:pt idx="0">
                  <c:v>343.41</c:v>
                </c:pt>
                <c:pt idx="1">
                  <c:v>350.36</c:v>
                </c:pt>
                <c:pt idx="2">
                  <c:v>346.69</c:v>
                </c:pt>
                <c:pt idx="3">
                  <c:v>346.35</c:v>
                </c:pt>
                <c:pt idx="4">
                  <c:v>351.63</c:v>
                </c:pt>
                <c:pt idx="5">
                  <c:v>352.92</c:v>
                </c:pt>
                <c:pt idx="6">
                  <c:v>358.69</c:v>
                </c:pt>
                <c:pt idx="7">
                  <c:v>359.57</c:v>
                </c:pt>
                <c:pt idx="8">
                  <c:v>354.03</c:v>
                </c:pt>
                <c:pt idx="9">
                  <c:v>352.58</c:v>
                </c:pt>
                <c:pt idx="10">
                  <c:v>348.61</c:v>
                </c:pt>
                <c:pt idx="11">
                  <c:v>350.24</c:v>
                </c:pt>
                <c:pt idx="12">
                  <c:v>352.2</c:v>
                </c:pt>
                <c:pt idx="13">
                  <c:v>349.91</c:v>
                </c:pt>
                <c:pt idx="14">
                  <c:v>355.88</c:v>
                </c:pt>
                <c:pt idx="15">
                  <c:v>356.66</c:v>
                </c:pt>
                <c:pt idx="16">
                  <c:v>365.54</c:v>
                </c:pt>
                <c:pt idx="17">
                  <c:v>364.15</c:v>
                </c:pt>
                <c:pt idx="18">
                  <c:v>357.78</c:v>
                </c:pt>
                <c:pt idx="19">
                  <c:v>358.31</c:v>
                </c:pt>
                <c:pt idx="20">
                  <c:v>362.68</c:v>
                </c:pt>
                <c:pt idx="21">
                  <c:v>365.89</c:v>
                </c:pt>
                <c:pt idx="22">
                  <c:v>367.2</c:v>
                </c:pt>
                <c:pt idx="23">
                  <c:v>363.21</c:v>
                </c:pt>
                <c:pt idx="24">
                  <c:v>365.42</c:v>
                </c:pt>
                <c:pt idx="25">
                  <c:v>363.38</c:v>
                </c:pt>
                <c:pt idx="26">
                  <c:v>359.97</c:v>
                </c:pt>
                <c:pt idx="27">
                  <c:v>365.26</c:v>
                </c:pt>
                <c:pt idx="28">
                  <c:v>370.93</c:v>
                </c:pt>
                <c:pt idx="29">
                  <c:v>368.14</c:v>
                </c:pt>
                <c:pt idx="30">
                  <c:v>368.58</c:v>
                </c:pt>
                <c:pt idx="31">
                  <c:v>370.44</c:v>
                </c:pt>
                <c:pt idx="32">
                  <c:v>385.94</c:v>
                </c:pt>
                <c:pt idx="33">
                  <c:v>389.64</c:v>
                </c:pt>
                <c:pt idx="34">
                  <c:v>392.53</c:v>
                </c:pt>
                <c:pt idx="35">
                  <c:v>388.64</c:v>
                </c:pt>
                <c:pt idx="36">
                  <c:v>386.79</c:v>
                </c:pt>
                <c:pt idx="37">
                  <c:v>382.79</c:v>
                </c:pt>
                <c:pt idx="38">
                  <c:v>388.13</c:v>
                </c:pt>
                <c:pt idx="39">
                  <c:v>393.98</c:v>
                </c:pt>
                <c:pt idx="40">
                  <c:v>392.31</c:v>
                </c:pt>
                <c:pt idx="41">
                  <c:v>399.49</c:v>
                </c:pt>
                <c:pt idx="42">
                  <c:v>407.9</c:v>
                </c:pt>
                <c:pt idx="43">
                  <c:v>404.88</c:v>
                </c:pt>
                <c:pt idx="44">
                  <c:v>407.64</c:v>
                </c:pt>
                <c:pt idx="45">
                  <c:v>415.31</c:v>
                </c:pt>
                <c:pt idx="46">
                  <c:v>413.05</c:v>
                </c:pt>
                <c:pt idx="47">
                  <c:v>404.85</c:v>
                </c:pt>
                <c:pt idx="48">
                  <c:v>398.06</c:v>
                </c:pt>
                <c:pt idx="49">
                  <c:v>397.16</c:v>
                </c:pt>
                <c:pt idx="50">
                  <c:v>378.82</c:v>
                </c:pt>
                <c:pt idx="51">
                  <c:v>416.97</c:v>
                </c:pt>
                <c:pt idx="52">
                  <c:v>351.98</c:v>
                </c:pt>
                <c:pt idx="53">
                  <c:v>316.03</c:v>
                </c:pt>
                <c:pt idx="54">
                  <c:v>316.23</c:v>
                </c:pt>
                <c:pt idx="55">
                  <c:v>290.06</c:v>
                </c:pt>
                <c:pt idx="56">
                  <c:v>293.02</c:v>
                </c:pt>
                <c:pt idx="57">
                  <c:v>278.37</c:v>
                </c:pt>
                <c:pt idx="58">
                  <c:v>265.21</c:v>
                </c:pt>
                <c:pt idx="59">
                  <c:v>257.54</c:v>
                </c:pt>
                <c:pt idx="60">
                  <c:v>248.49</c:v>
                </c:pt>
                <c:pt idx="61">
                  <c:v>268.26</c:v>
                </c:pt>
                <c:pt idx="62">
                  <c:v>278.6</c:v>
                </c:pt>
                <c:pt idx="63">
                  <c:v>286.06</c:v>
                </c:pt>
                <c:pt idx="64">
                  <c:v>274.65</c:v>
                </c:pt>
                <c:pt idx="65">
                  <c:v>288.52</c:v>
                </c:pt>
                <c:pt idx="66">
                  <c:v>294.48</c:v>
                </c:pt>
                <c:pt idx="67">
                  <c:v>288.05</c:v>
                </c:pt>
                <c:pt idx="68">
                  <c:v>281.72</c:v>
                </c:pt>
                <c:pt idx="69">
                  <c:v>255.52</c:v>
                </c:pt>
                <c:pt idx="70">
                  <c:v>253.44</c:v>
                </c:pt>
                <c:pt idx="71">
                  <c:v>272.02</c:v>
                </c:pt>
                <c:pt idx="72">
                  <c:v>264.41</c:v>
                </c:pt>
                <c:pt idx="73">
                  <c:v>242.78</c:v>
                </c:pt>
                <c:pt idx="74">
                  <c:v>232.17</c:v>
                </c:pt>
                <c:pt idx="75">
                  <c:v>263.51</c:v>
                </c:pt>
                <c:pt idx="76">
                  <c:v>263.63</c:v>
                </c:pt>
                <c:pt idx="77">
                  <c:v>228.12</c:v>
                </c:pt>
                <c:pt idx="78">
                  <c:v>263.24</c:v>
                </c:pt>
                <c:pt idx="79">
                  <c:v>258.42</c:v>
                </c:pt>
                <c:pt idx="80">
                  <c:v>261.8</c:v>
                </c:pt>
                <c:pt idx="81">
                  <c:v>238.56</c:v>
                </c:pt>
                <c:pt idx="82">
                  <c:v>227.8</c:v>
                </c:pt>
                <c:pt idx="83">
                  <c:v>219.02</c:v>
                </c:pt>
                <c:pt idx="84">
                  <c:v>212.77</c:v>
                </c:pt>
                <c:pt idx="85">
                  <c:v>225.93</c:v>
                </c:pt>
                <c:pt idx="86">
                  <c:v>219.71</c:v>
                </c:pt>
                <c:pt idx="87">
                  <c:v>228.52</c:v>
                </c:pt>
                <c:pt idx="88">
                  <c:v>235.11</c:v>
                </c:pt>
                <c:pt idx="89">
                  <c:v>223.26</c:v>
                </c:pt>
                <c:pt idx="90">
                  <c:v>235.66</c:v>
                </c:pt>
                <c:pt idx="91">
                  <c:v>256.51</c:v>
                </c:pt>
                <c:pt idx="92">
                  <c:v>264.47</c:v>
                </c:pt>
                <c:pt idx="93">
                  <c:v>261.53</c:v>
                </c:pt>
                <c:pt idx="94">
                  <c:v>276.88</c:v>
                </c:pt>
                <c:pt idx="95">
                  <c:v>261.56</c:v>
                </c:pt>
                <c:pt idx="96">
                  <c:v>261.3</c:v>
                </c:pt>
                <c:pt idx="97">
                  <c:v>234.63</c:v>
                </c:pt>
                <c:pt idx="98">
                  <c:v>221.23</c:v>
                </c:pt>
                <c:pt idx="99">
                  <c:v>202.62</c:v>
                </c:pt>
              </c:numCache>
            </c:numRef>
          </c:val>
          <c:smooth val="0"/>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catAx>
      <c:valAx>
        <c:axId val="2094734552"/>
        <c:scaling>
          <c:orientation val="minMax"/>
          <c:min val="150"/>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Our position (+1 buy, −1 short)</a:t>
            </a:r>
          </a:p>
        </c:rich>
      </c:tx>
      <c:layout/>
      <c:overlay val="0"/>
    </c:title>
    <c:autoTitleDeleted val="0"/>
    <c:plotArea>
      <c:layout/>
      <c:barChart>
        <c:barDir val="col"/>
        <c:grouping val="clustered"/>
        <c:varyColors val="0"/>
        <c:ser>
          <c:idx val="0"/>
          <c:order val="0"/>
          <c:tx>
            <c:strRef>
              <c:f>Sheet1!$B$1</c:f>
              <c:strCache>
                <c:ptCount val="1"/>
                <c:pt idx="0">
                  <c:v>Position</c:v>
                </c:pt>
              </c:strCache>
            </c:strRef>
          </c:tx>
          <c:spPr>
            <a:solidFill>
              <a:srgbClr val="D9962B"/>
            </a:solidFill>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cat>
            <c:multiLvlStrRef>
              <c:f>Sheet1!$A$2:$A$101</c:f>
              <c:multiLvlStrCache>
                <c:ptCount val="100"/>
                <c:lvl>
                  <c:pt idx="0">
                    <c:v>801</c:v>
                  </c:pt>
                  <c:pt idx="1">
                    <c:v>802</c:v>
                  </c:pt>
                  <c:pt idx="2">
                    <c:v>803</c:v>
                  </c:pt>
                  <c:pt idx="3">
                    <c:v>804</c:v>
                  </c:pt>
                  <c:pt idx="4">
                    <c:v>805</c:v>
                  </c:pt>
                  <c:pt idx="5">
                    <c:v>806</c:v>
                  </c:pt>
                  <c:pt idx="6">
                    <c:v>807</c:v>
                  </c:pt>
                  <c:pt idx="7">
                    <c:v>808</c:v>
                  </c:pt>
                  <c:pt idx="8">
                    <c:v>809</c:v>
                  </c:pt>
                  <c:pt idx="9">
                    <c:v>810</c:v>
                  </c:pt>
                  <c:pt idx="10">
                    <c:v>811</c:v>
                  </c:pt>
                  <c:pt idx="11">
                    <c:v>812</c:v>
                  </c:pt>
                  <c:pt idx="12">
                    <c:v>813</c:v>
                  </c:pt>
                  <c:pt idx="13">
                    <c:v>814</c:v>
                  </c:pt>
                  <c:pt idx="14">
                    <c:v>815</c:v>
                  </c:pt>
                  <c:pt idx="15">
                    <c:v>816</c:v>
                  </c:pt>
                  <c:pt idx="16">
                    <c:v>817</c:v>
                  </c:pt>
                  <c:pt idx="17">
                    <c:v>818</c:v>
                  </c:pt>
                  <c:pt idx="18">
                    <c:v>819</c:v>
                  </c:pt>
                  <c:pt idx="19">
                    <c:v>820</c:v>
                  </c:pt>
                  <c:pt idx="20">
                    <c:v>821</c:v>
                  </c:pt>
                  <c:pt idx="21">
                    <c:v>822</c:v>
                  </c:pt>
                  <c:pt idx="22">
                    <c:v>823</c:v>
                  </c:pt>
                  <c:pt idx="23">
                    <c:v>824</c:v>
                  </c:pt>
                  <c:pt idx="24">
                    <c:v>825</c:v>
                  </c:pt>
                  <c:pt idx="25">
                    <c:v>826</c:v>
                  </c:pt>
                  <c:pt idx="26">
                    <c:v>827</c:v>
                  </c:pt>
                  <c:pt idx="27">
                    <c:v>828</c:v>
                  </c:pt>
                  <c:pt idx="28">
                    <c:v>829</c:v>
                  </c:pt>
                  <c:pt idx="29">
                    <c:v>830</c:v>
                  </c:pt>
                  <c:pt idx="30">
                    <c:v>831</c:v>
                  </c:pt>
                  <c:pt idx="31">
                    <c:v>832</c:v>
                  </c:pt>
                  <c:pt idx="32">
                    <c:v>833</c:v>
                  </c:pt>
                  <c:pt idx="33">
                    <c:v>834</c:v>
                  </c:pt>
                  <c:pt idx="34">
                    <c:v>835</c:v>
                  </c:pt>
                  <c:pt idx="35">
                    <c:v>836</c:v>
                  </c:pt>
                  <c:pt idx="36">
                    <c:v>837</c:v>
                  </c:pt>
                  <c:pt idx="37">
                    <c:v>838</c:v>
                  </c:pt>
                  <c:pt idx="38">
                    <c:v>839</c:v>
                  </c:pt>
                  <c:pt idx="39">
                    <c:v>840</c:v>
                  </c:pt>
                  <c:pt idx="40">
                    <c:v>841</c:v>
                  </c:pt>
                  <c:pt idx="41">
                    <c:v>842</c:v>
                  </c:pt>
                  <c:pt idx="42">
                    <c:v>843</c:v>
                  </c:pt>
                  <c:pt idx="43">
                    <c:v>844</c:v>
                  </c:pt>
                  <c:pt idx="44">
                    <c:v>845</c:v>
                  </c:pt>
                  <c:pt idx="45">
                    <c:v>846</c:v>
                  </c:pt>
                  <c:pt idx="46">
                    <c:v>847</c:v>
                  </c:pt>
                  <c:pt idx="47">
                    <c:v>848</c:v>
                  </c:pt>
                  <c:pt idx="48">
                    <c:v>849</c:v>
                  </c:pt>
                  <c:pt idx="49">
                    <c:v>850</c:v>
                  </c:pt>
                  <c:pt idx="50">
                    <c:v>851</c:v>
                  </c:pt>
                  <c:pt idx="51">
                    <c:v>852</c:v>
                  </c:pt>
                  <c:pt idx="52">
                    <c:v>853</c:v>
                  </c:pt>
                  <c:pt idx="53">
                    <c:v>854</c:v>
                  </c:pt>
                  <c:pt idx="54">
                    <c:v>855</c:v>
                  </c:pt>
                  <c:pt idx="55">
                    <c:v>856</c:v>
                  </c:pt>
                  <c:pt idx="56">
                    <c:v>857</c:v>
                  </c:pt>
                  <c:pt idx="57">
                    <c:v>858</c:v>
                  </c:pt>
                  <c:pt idx="58">
                    <c:v>859</c:v>
                  </c:pt>
                  <c:pt idx="59">
                    <c:v>860</c:v>
                  </c:pt>
                  <c:pt idx="60">
                    <c:v>861</c:v>
                  </c:pt>
                  <c:pt idx="61">
                    <c:v>862</c:v>
                  </c:pt>
                  <c:pt idx="62">
                    <c:v>863</c:v>
                  </c:pt>
                  <c:pt idx="63">
                    <c:v>864</c:v>
                  </c:pt>
                  <c:pt idx="64">
                    <c:v>865</c:v>
                  </c:pt>
                  <c:pt idx="65">
                    <c:v>866</c:v>
                  </c:pt>
                  <c:pt idx="66">
                    <c:v>867</c:v>
                  </c:pt>
                  <c:pt idx="67">
                    <c:v>868</c:v>
                  </c:pt>
                  <c:pt idx="68">
                    <c:v>869</c:v>
                  </c:pt>
                  <c:pt idx="69">
                    <c:v>870</c:v>
                  </c:pt>
                  <c:pt idx="70">
                    <c:v>871</c:v>
                  </c:pt>
                  <c:pt idx="71">
                    <c:v>872</c:v>
                  </c:pt>
                  <c:pt idx="72">
                    <c:v>873</c:v>
                  </c:pt>
                  <c:pt idx="73">
                    <c:v>874</c:v>
                  </c:pt>
                  <c:pt idx="74">
                    <c:v>875</c:v>
                  </c:pt>
                  <c:pt idx="75">
                    <c:v>876</c:v>
                  </c:pt>
                  <c:pt idx="76">
                    <c:v>877</c:v>
                  </c:pt>
                  <c:pt idx="77">
                    <c:v>878</c:v>
                  </c:pt>
                  <c:pt idx="78">
                    <c:v>879</c:v>
                  </c:pt>
                  <c:pt idx="79">
                    <c:v>880</c:v>
                  </c:pt>
                  <c:pt idx="80">
                    <c:v>881</c:v>
                  </c:pt>
                  <c:pt idx="81">
                    <c:v>882</c:v>
                  </c:pt>
                  <c:pt idx="82">
                    <c:v>883</c:v>
                  </c:pt>
                  <c:pt idx="83">
                    <c:v>884</c:v>
                  </c:pt>
                  <c:pt idx="84">
                    <c:v>885</c:v>
                  </c:pt>
                  <c:pt idx="85">
                    <c:v>886</c:v>
                  </c:pt>
                  <c:pt idx="86">
                    <c:v>887</c:v>
                  </c:pt>
                  <c:pt idx="87">
                    <c:v>888</c:v>
                  </c:pt>
                  <c:pt idx="88">
                    <c:v>889</c:v>
                  </c:pt>
                  <c:pt idx="89">
                    <c:v>890</c:v>
                  </c:pt>
                  <c:pt idx="90">
                    <c:v>891</c:v>
                  </c:pt>
                  <c:pt idx="91">
                    <c:v>892</c:v>
                  </c:pt>
                  <c:pt idx="92">
                    <c:v>893</c:v>
                  </c:pt>
                  <c:pt idx="93">
                    <c:v>894</c:v>
                  </c:pt>
                  <c:pt idx="94">
                    <c:v>895</c:v>
                  </c:pt>
                  <c:pt idx="95">
                    <c:v>896</c:v>
                  </c:pt>
                  <c:pt idx="96">
                    <c:v>897</c:v>
                  </c:pt>
                  <c:pt idx="97">
                    <c:v>898</c:v>
                  </c:pt>
                  <c:pt idx="98">
                    <c:v>899</c:v>
                  </c:pt>
                  <c:pt idx="99">
                    <c:v>900</c:v>
                  </c:pt>
                </c:lvl>
              </c:multiLvlStrCache>
            </c:multiLvlStrRef>
          </c:cat>
          <c:val>
            <c:numRef>
              <c:f>Sheet1!$B$2:$B$101</c:f>
              <c:numCache>
                <c:formatCode>General</c:formatCode>
                <c:ptCount val="100"/>
                <c:pt idx="0">
                  <c:v>0.4579</c:v>
                </c:pt>
                <c:pt idx="1">
                  <c:v>-0.1973</c:v>
                </c:pt>
                <c:pt idx="2">
                  <c:v>-0.2305</c:v>
                </c:pt>
                <c:pt idx="3">
                  <c:v>-0.2525</c:v>
                </c:pt>
                <c:pt idx="4">
                  <c:v>-0.2716</c:v>
                </c:pt>
                <c:pt idx="5">
                  <c:v>-0.2832</c:v>
                </c:pt>
                <c:pt idx="6">
                  <c:v>0.3145</c:v>
                </c:pt>
                <c:pt idx="7">
                  <c:v>0.3565</c:v>
                </c:pt>
                <c:pt idx="8">
                  <c:v>0.3865</c:v>
                </c:pt>
                <c:pt idx="9">
                  <c:v>0.4032</c:v>
                </c:pt>
                <c:pt idx="10">
                  <c:v>0.4145</c:v>
                </c:pt>
                <c:pt idx="11">
                  <c:v>0.4206</c:v>
                </c:pt>
                <c:pt idx="12">
                  <c:v>0.4258</c:v>
                </c:pt>
                <c:pt idx="13">
                  <c:v>0.4297</c:v>
                </c:pt>
                <c:pt idx="14">
                  <c:v>0.4414</c:v>
                </c:pt>
                <c:pt idx="15">
                  <c:v>0.4499</c:v>
                </c:pt>
                <c:pt idx="16">
                  <c:v>0.4591</c:v>
                </c:pt>
                <c:pt idx="17">
                  <c:v>0.4496</c:v>
                </c:pt>
                <c:pt idx="18">
                  <c:v>0.442</c:v>
                </c:pt>
                <c:pt idx="19">
                  <c:v>0.3738</c:v>
                </c:pt>
                <c:pt idx="20">
                  <c:v>0.3793</c:v>
                </c:pt>
                <c:pt idx="21">
                  <c:v>0.3747</c:v>
                </c:pt>
                <c:pt idx="22">
                  <c:v>0.4159</c:v>
                </c:pt>
                <c:pt idx="23">
                  <c:v>0.447</c:v>
                </c:pt>
                <c:pt idx="24">
                  <c:v>0.4707</c:v>
                </c:pt>
                <c:pt idx="25">
                  <c:v>0.4925</c:v>
                </c:pt>
                <c:pt idx="26">
                  <c:v>0.506</c:v>
                </c:pt>
                <c:pt idx="27">
                  <c:v>0.5202</c:v>
                </c:pt>
                <c:pt idx="28">
                  <c:v>0.5233</c:v>
                </c:pt>
                <c:pt idx="29">
                  <c:v>0.5238</c:v>
                </c:pt>
                <c:pt idx="30">
                  <c:v>0.4901</c:v>
                </c:pt>
                <c:pt idx="31">
                  <c:v>0.4951</c:v>
                </c:pt>
                <c:pt idx="32">
                  <c:v>0.5137</c:v>
                </c:pt>
                <c:pt idx="33">
                  <c:v>0.3552</c:v>
                </c:pt>
                <c:pt idx="34">
                  <c:v>0.3255</c:v>
                </c:pt>
                <c:pt idx="35">
                  <c:v>0.3375</c:v>
                </c:pt>
                <c:pt idx="36">
                  <c:v>0.3206</c:v>
                </c:pt>
                <c:pt idx="37">
                  <c:v>0.302</c:v>
                </c:pt>
                <c:pt idx="38">
                  <c:v>0.3469</c:v>
                </c:pt>
                <c:pt idx="39">
                  <c:v>0.3853</c:v>
                </c:pt>
                <c:pt idx="40">
                  <c:v>0.4099</c:v>
                </c:pt>
                <c:pt idx="41">
                  <c:v>0.4267</c:v>
                </c:pt>
                <c:pt idx="42">
                  <c:v>0.4348</c:v>
                </c:pt>
                <c:pt idx="43">
                  <c:v>0.4354</c:v>
                </c:pt>
                <c:pt idx="44">
                  <c:v>0.4377</c:v>
                </c:pt>
                <c:pt idx="45">
                  <c:v>0.4393</c:v>
                </c:pt>
                <c:pt idx="46">
                  <c:v>0.44</c:v>
                </c:pt>
                <c:pt idx="47">
                  <c:v>0.4427</c:v>
                </c:pt>
                <c:pt idx="48">
                  <c:v>0.4142</c:v>
                </c:pt>
                <c:pt idx="49">
                  <c:v>0.3789</c:v>
                </c:pt>
                <c:pt idx="50">
                  <c:v>0.383</c:v>
                </c:pt>
                <c:pt idx="51">
                  <c:v>0.3338</c:v>
                </c:pt>
                <c:pt idx="52">
                  <c:v>0.0668</c:v>
                </c:pt>
                <c:pt idx="53">
                  <c:v>-0.1169</c:v>
                </c:pt>
                <c:pt idx="54">
                  <c:v>-0.1277</c:v>
                </c:pt>
                <c:pt idx="55">
                  <c:v>-0.1351</c:v>
                </c:pt>
                <c:pt idx="56">
                  <c:v>-0.1394</c:v>
                </c:pt>
                <c:pt idx="57">
                  <c:v>-0.1614</c:v>
                </c:pt>
                <c:pt idx="58">
                  <c:v>-0.1968</c:v>
                </c:pt>
                <c:pt idx="59">
                  <c:v>-0.2216</c:v>
                </c:pt>
                <c:pt idx="60">
                  <c:v>-0.2397</c:v>
                </c:pt>
                <c:pt idx="61">
                  <c:v>-0.2524</c:v>
                </c:pt>
                <c:pt idx="62">
                  <c:v>-0.2554</c:v>
                </c:pt>
                <c:pt idx="63">
                  <c:v>-0.2564</c:v>
                </c:pt>
                <c:pt idx="64">
                  <c:v>-0.2556</c:v>
                </c:pt>
                <c:pt idx="65">
                  <c:v>-0.2554</c:v>
                </c:pt>
                <c:pt idx="66">
                  <c:v>-0.2504</c:v>
                </c:pt>
                <c:pt idx="67">
                  <c:v>-0.2477</c:v>
                </c:pt>
                <c:pt idx="68">
                  <c:v>-0.2471</c:v>
                </c:pt>
                <c:pt idx="69">
                  <c:v>-0.247</c:v>
                </c:pt>
                <c:pt idx="70">
                  <c:v>-0.2397</c:v>
                </c:pt>
                <c:pt idx="71">
                  <c:v>-0.239</c:v>
                </c:pt>
                <c:pt idx="72">
                  <c:v>-0.2419</c:v>
                </c:pt>
                <c:pt idx="73">
                  <c:v>-0.245</c:v>
                </c:pt>
                <c:pt idx="74">
                  <c:v>-0.229</c:v>
                </c:pt>
                <c:pt idx="75">
                  <c:v>-0.2384</c:v>
                </c:pt>
                <c:pt idx="76">
                  <c:v>-0.1811</c:v>
                </c:pt>
                <c:pt idx="77">
                  <c:v>-0.1808</c:v>
                </c:pt>
                <c:pt idx="78">
                  <c:v>-0.1535</c:v>
                </c:pt>
                <c:pt idx="79">
                  <c:v>-0.1291</c:v>
                </c:pt>
                <c:pt idx="80">
                  <c:v>-0.1266</c:v>
                </c:pt>
                <c:pt idx="81">
                  <c:v>-0.1324</c:v>
                </c:pt>
                <c:pt idx="82">
                  <c:v>-0.1333</c:v>
                </c:pt>
                <c:pt idx="83">
                  <c:v>-0.142</c:v>
                </c:pt>
                <c:pt idx="84">
                  <c:v>-0.1619</c:v>
                </c:pt>
                <c:pt idx="85">
                  <c:v>-0.1759</c:v>
                </c:pt>
                <c:pt idx="86">
                  <c:v>-0.1853</c:v>
                </c:pt>
                <c:pt idx="87">
                  <c:v>-0.1921</c:v>
                </c:pt>
                <c:pt idx="88">
                  <c:v>-0.1961</c:v>
                </c:pt>
                <c:pt idx="89">
                  <c:v>-0.1985</c:v>
                </c:pt>
                <c:pt idx="90">
                  <c:v>-0.202</c:v>
                </c:pt>
                <c:pt idx="91">
                  <c:v>-0.2034</c:v>
                </c:pt>
                <c:pt idx="92">
                  <c:v>-0.0407</c:v>
                </c:pt>
                <c:pt idx="93">
                  <c:v>-0.0081</c:v>
                </c:pt>
                <c:pt idx="94">
                  <c:v>-0.0016</c:v>
                </c:pt>
                <c:pt idx="95">
                  <c:v>-0.0003</c:v>
                </c:pt>
                <c:pt idx="96">
                  <c:v>-0.0001</c:v>
                </c:pt>
                <c:pt idx="97">
                  <c:v>0</c:v>
                </c:pt>
                <c:pt idx="98">
                  <c:v>-0.0718</c:v>
                </c:pt>
                <c:pt idx="99">
                  <c:v>-0.1231</c:v>
                </c:pt>
              </c:numCache>
            </c:numRef>
          </c:val>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tickLblSkip val="10"/>
      </c:catAx>
      <c:valAx>
        <c:axId val="2094734552"/>
        <c:scaling>
          <c:orientation val="minMax"/>
          <c:max val="1"/>
          <c:min val="-1"/>
        </c:scaling>
        <c:delete val="0"/>
        <c:axPos val="l"/>
        <c:majorGridlines>
          <c:spPr>
            <a:ln w="9525" cap="flat">
              <a:solidFill>
                <a:srgbClr val="E1E7E7"/>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What 1 unit of money became, days 851–900</a:t>
            </a:r>
          </a:p>
        </c:rich>
      </c:tx>
      <c:layout/>
      <c:overlay val="0"/>
    </c:title>
    <c:autoTitleDeleted val="0"/>
    <c:plotArea>
      <c:layout/>
      <c:lineChart>
        <c:varyColors val="0"/>
        <c:ser>
          <c:idx val="0"/>
          <c:order val="0"/>
          <c:tx>
            <c:strRef>
              <c:f>Sheet1!$B$1</c:f>
              <c:strCache>
                <c:ptCount val="1"/>
                <c:pt idx="0">
                  <c:v>Our strategy</c:v>
                </c:pt>
              </c:strCache>
            </c:strRef>
          </c:tx>
          <c:spPr>
            <a:solidFill>
              <a:srgbClr val="1F6F6B"/>
            </a:solidFill>
            <a:ln w="31750" cap="flat">
              <a:solidFill>
                <a:srgbClr val="1F6F6B"/>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1F6F6B"/>
              </a:solidFill>
              <a:ln w="9525" cap="flat">
                <a:solidFill>
                  <a:srgbClr val="1F6F6B"/>
                </a:solidFill>
                <a:prstDash val="solid"/>
                <a:round/>
              </a:ln>
              <a:effectLst/>
            </c:spPr>
          </c:marker>
          <c:cat>
            <c:multiLvlStrRef>
              <c:f>Sheet1!$A$2:$A$51</c:f>
              <c:multiLvlStrCache>
                <c:ptCount val="50"/>
                <c:lvl>
                  <c:pt idx="0">
                    <c:v>851</c:v>
                  </c:pt>
                  <c:pt idx="1">
                    <c:v>852</c:v>
                  </c:pt>
                  <c:pt idx="2">
                    <c:v>853</c:v>
                  </c:pt>
                  <c:pt idx="3">
                    <c:v>854</c:v>
                  </c:pt>
                  <c:pt idx="4">
                    <c:v>855</c:v>
                  </c:pt>
                  <c:pt idx="5">
                    <c:v>856</c:v>
                  </c:pt>
                  <c:pt idx="6">
                    <c:v>857</c:v>
                  </c:pt>
                  <c:pt idx="7">
                    <c:v>858</c:v>
                  </c:pt>
                  <c:pt idx="8">
                    <c:v>859</c:v>
                  </c:pt>
                  <c:pt idx="9">
                    <c:v>860</c:v>
                  </c:pt>
                  <c:pt idx="10">
                    <c:v>861</c:v>
                  </c:pt>
                  <c:pt idx="11">
                    <c:v>862</c:v>
                  </c:pt>
                  <c:pt idx="12">
                    <c:v>863</c:v>
                  </c:pt>
                  <c:pt idx="13">
                    <c:v>864</c:v>
                  </c:pt>
                  <c:pt idx="14">
                    <c:v>865</c:v>
                  </c:pt>
                  <c:pt idx="15">
                    <c:v>866</c:v>
                  </c:pt>
                  <c:pt idx="16">
                    <c:v>867</c:v>
                  </c:pt>
                  <c:pt idx="17">
                    <c:v>868</c:v>
                  </c:pt>
                  <c:pt idx="18">
                    <c:v>869</c:v>
                  </c:pt>
                  <c:pt idx="19">
                    <c:v>870</c:v>
                  </c:pt>
                  <c:pt idx="20">
                    <c:v>871</c:v>
                  </c:pt>
                  <c:pt idx="21">
                    <c:v>872</c:v>
                  </c:pt>
                  <c:pt idx="22">
                    <c:v>873</c:v>
                  </c:pt>
                  <c:pt idx="23">
                    <c:v>874</c:v>
                  </c:pt>
                  <c:pt idx="24">
                    <c:v>875</c:v>
                  </c:pt>
                  <c:pt idx="25">
                    <c:v>876</c:v>
                  </c:pt>
                  <c:pt idx="26">
                    <c:v>877</c:v>
                  </c:pt>
                  <c:pt idx="27">
                    <c:v>878</c:v>
                  </c:pt>
                  <c:pt idx="28">
                    <c:v>879</c:v>
                  </c:pt>
                  <c:pt idx="29">
                    <c:v>880</c:v>
                  </c:pt>
                  <c:pt idx="30">
                    <c:v>881</c:v>
                  </c:pt>
                  <c:pt idx="31">
                    <c:v>882</c:v>
                  </c:pt>
                  <c:pt idx="32">
                    <c:v>883</c:v>
                  </c:pt>
                  <c:pt idx="33">
                    <c:v>884</c:v>
                  </c:pt>
                  <c:pt idx="34">
                    <c:v>885</c:v>
                  </c:pt>
                  <c:pt idx="35">
                    <c:v>886</c:v>
                  </c:pt>
                  <c:pt idx="36">
                    <c:v>887</c:v>
                  </c:pt>
                  <c:pt idx="37">
                    <c:v>888</c:v>
                  </c:pt>
                  <c:pt idx="38">
                    <c:v>889</c:v>
                  </c:pt>
                  <c:pt idx="39">
                    <c:v>890</c:v>
                  </c:pt>
                  <c:pt idx="40">
                    <c:v>891</c:v>
                  </c:pt>
                  <c:pt idx="41">
                    <c:v>892</c:v>
                  </c:pt>
                  <c:pt idx="42">
                    <c:v>893</c:v>
                  </c:pt>
                  <c:pt idx="43">
                    <c:v>894</c:v>
                  </c:pt>
                  <c:pt idx="44">
                    <c:v>895</c:v>
                  </c:pt>
                  <c:pt idx="45">
                    <c:v>896</c:v>
                  </c:pt>
                  <c:pt idx="46">
                    <c:v>897</c:v>
                  </c:pt>
                  <c:pt idx="47">
                    <c:v>898</c:v>
                  </c:pt>
                  <c:pt idx="48">
                    <c:v>899</c:v>
                  </c:pt>
                  <c:pt idx="49">
                    <c:v>900</c:v>
                  </c:pt>
                </c:lvl>
              </c:multiLvlStrCache>
            </c:multiLvlStrRef>
          </c:cat>
          <c:val>
            <c:numRef>
              <c:f>Sheet1!$B$2:$B$51</c:f>
              <c:numCache>
                <c:formatCode>General</c:formatCode>
                <c:ptCount val="50"/>
                <c:pt idx="0">
                  <c:v>0.98231</c:v>
                </c:pt>
                <c:pt idx="1">
                  <c:v>1.01528</c:v>
                </c:pt>
                <c:pt idx="2">
                  <c:v>1.00444</c:v>
                </c:pt>
                <c:pt idx="3">
                  <c:v>1.01625</c:v>
                </c:pt>
                <c:pt idx="4">
                  <c:v>1.01616</c:v>
                </c:pt>
                <c:pt idx="5">
                  <c:v>1.02751</c:v>
                </c:pt>
                <c:pt idx="6">
                  <c:v>1.02605</c:v>
                </c:pt>
                <c:pt idx="7">
                  <c:v>1.0343</c:v>
                </c:pt>
                <c:pt idx="8">
                  <c:v>1.04389</c:v>
                </c:pt>
                <c:pt idx="9">
                  <c:v>1.05055</c:v>
                </c:pt>
                <c:pt idx="10">
                  <c:v>1.05938</c:v>
                </c:pt>
                <c:pt idx="11">
                  <c:v>1.03809</c:v>
                </c:pt>
                <c:pt idx="12">
                  <c:v>1.02787</c:v>
                </c:pt>
                <c:pt idx="13">
                  <c:v>1.02081</c:v>
                </c:pt>
                <c:pt idx="14">
                  <c:v>1.03122</c:v>
                </c:pt>
                <c:pt idx="15">
                  <c:v>1.01792</c:v>
                </c:pt>
                <c:pt idx="16">
                  <c:v>1.01264</c:v>
                </c:pt>
                <c:pt idx="17">
                  <c:v>1.01812</c:v>
                </c:pt>
                <c:pt idx="18">
                  <c:v>1.02365</c:v>
                </c:pt>
                <c:pt idx="19">
                  <c:v>1.04717</c:v>
                </c:pt>
                <c:pt idx="20">
                  <c:v>1.04919</c:v>
                </c:pt>
                <c:pt idx="21">
                  <c:v>1.03081</c:v>
                </c:pt>
                <c:pt idx="22">
                  <c:v>1.03778</c:v>
                </c:pt>
                <c:pt idx="23">
                  <c:v>1.05858</c:v>
                </c:pt>
                <c:pt idx="24">
                  <c:v>1.06916</c:v>
                </c:pt>
                <c:pt idx="25">
                  <c:v>1.03473</c:v>
                </c:pt>
                <c:pt idx="26">
                  <c:v>1.03459</c:v>
                </c:pt>
                <c:pt idx="27">
                  <c:v>1.05979</c:v>
                </c:pt>
                <c:pt idx="28">
                  <c:v>1.03472</c:v>
                </c:pt>
                <c:pt idx="29">
                  <c:v>1.03714</c:v>
                </c:pt>
                <c:pt idx="30">
                  <c:v>1.03542</c:v>
                </c:pt>
                <c:pt idx="31">
                  <c:v>1.04758</c:v>
                </c:pt>
                <c:pt idx="32">
                  <c:v>1.05387</c:v>
                </c:pt>
                <c:pt idx="33">
                  <c:v>1.05963</c:v>
                </c:pt>
                <c:pt idx="34">
                  <c:v>1.06451</c:v>
                </c:pt>
                <c:pt idx="35">
                  <c:v>1.05291</c:v>
                </c:pt>
                <c:pt idx="36">
                  <c:v>1.05828</c:v>
                </c:pt>
                <c:pt idx="37">
                  <c:v>1.05011</c:v>
                </c:pt>
                <c:pt idx="38">
                  <c:v>1.04417</c:v>
                </c:pt>
                <c:pt idx="39">
                  <c:v>1.05462</c:v>
                </c:pt>
                <c:pt idx="40">
                  <c:v>1.04278</c:v>
                </c:pt>
                <c:pt idx="41">
                  <c:v>1.02401</c:v>
                </c:pt>
                <c:pt idx="42">
                  <c:v>1.02255</c:v>
                </c:pt>
                <c:pt idx="43">
                  <c:v>1.02261</c:v>
                </c:pt>
                <c:pt idx="44">
                  <c:v>1.02251</c:v>
                </c:pt>
                <c:pt idx="45">
                  <c:v>1.02253</c:v>
                </c:pt>
                <c:pt idx="46">
                  <c:v>1.02253</c:v>
                </c:pt>
                <c:pt idx="47">
                  <c:v>1.02253</c:v>
                </c:pt>
                <c:pt idx="48">
                  <c:v>1.02665</c:v>
                </c:pt>
                <c:pt idx="49">
                  <c:v>1.03722</c:v>
                </c:pt>
              </c:numCache>
            </c:numRef>
          </c:val>
          <c:smooth val="0"/>
        </c:ser>
        <c:ser>
          <c:idx val="1"/>
          <c:order val="1"/>
          <c:tx>
            <c:strRef>
              <c:f>Sheet1!$C$1</c:f>
              <c:strCache>
                <c:ptCount val="1"/>
                <c:pt idx="0">
                  <c:v>Just holding the stock</c:v>
                </c:pt>
              </c:strCache>
            </c:strRef>
          </c:tx>
          <c:spPr>
            <a:solidFill>
              <a:srgbClr val="8A9A9C"/>
            </a:solidFill>
            <a:ln w="31750" cap="flat">
              <a:solidFill>
                <a:srgbClr val="8A9A9C"/>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8A9A9C"/>
              </a:solidFill>
              <a:ln w="9525" cap="flat">
                <a:solidFill>
                  <a:srgbClr val="8A9A9C"/>
                </a:solidFill>
                <a:prstDash val="solid"/>
                <a:round/>
              </a:ln>
              <a:effectLst/>
            </c:spPr>
          </c:marker>
          <c:cat>
            <c:multiLvlStrRef>
              <c:f>Sheet1!$A$2:$A$51</c:f>
              <c:multiLvlStrCache>
                <c:ptCount val="50"/>
                <c:lvl>
                  <c:pt idx="0">
                    <c:v>851</c:v>
                  </c:pt>
                  <c:pt idx="1">
                    <c:v>852</c:v>
                  </c:pt>
                  <c:pt idx="2">
                    <c:v>853</c:v>
                  </c:pt>
                  <c:pt idx="3">
                    <c:v>854</c:v>
                  </c:pt>
                  <c:pt idx="4">
                    <c:v>855</c:v>
                  </c:pt>
                  <c:pt idx="5">
                    <c:v>856</c:v>
                  </c:pt>
                  <c:pt idx="6">
                    <c:v>857</c:v>
                  </c:pt>
                  <c:pt idx="7">
                    <c:v>858</c:v>
                  </c:pt>
                  <c:pt idx="8">
                    <c:v>859</c:v>
                  </c:pt>
                  <c:pt idx="9">
                    <c:v>860</c:v>
                  </c:pt>
                  <c:pt idx="10">
                    <c:v>861</c:v>
                  </c:pt>
                  <c:pt idx="11">
                    <c:v>862</c:v>
                  </c:pt>
                  <c:pt idx="12">
                    <c:v>863</c:v>
                  </c:pt>
                  <c:pt idx="13">
                    <c:v>864</c:v>
                  </c:pt>
                  <c:pt idx="14">
                    <c:v>865</c:v>
                  </c:pt>
                  <c:pt idx="15">
                    <c:v>866</c:v>
                  </c:pt>
                  <c:pt idx="16">
                    <c:v>867</c:v>
                  </c:pt>
                  <c:pt idx="17">
                    <c:v>868</c:v>
                  </c:pt>
                  <c:pt idx="18">
                    <c:v>869</c:v>
                  </c:pt>
                  <c:pt idx="19">
                    <c:v>870</c:v>
                  </c:pt>
                  <c:pt idx="20">
                    <c:v>871</c:v>
                  </c:pt>
                  <c:pt idx="21">
                    <c:v>872</c:v>
                  </c:pt>
                  <c:pt idx="22">
                    <c:v>873</c:v>
                  </c:pt>
                  <c:pt idx="23">
                    <c:v>874</c:v>
                  </c:pt>
                  <c:pt idx="24">
                    <c:v>875</c:v>
                  </c:pt>
                  <c:pt idx="25">
                    <c:v>876</c:v>
                  </c:pt>
                  <c:pt idx="26">
                    <c:v>877</c:v>
                  </c:pt>
                  <c:pt idx="27">
                    <c:v>878</c:v>
                  </c:pt>
                  <c:pt idx="28">
                    <c:v>879</c:v>
                  </c:pt>
                  <c:pt idx="29">
                    <c:v>880</c:v>
                  </c:pt>
                  <c:pt idx="30">
                    <c:v>881</c:v>
                  </c:pt>
                  <c:pt idx="31">
                    <c:v>882</c:v>
                  </c:pt>
                  <c:pt idx="32">
                    <c:v>883</c:v>
                  </c:pt>
                  <c:pt idx="33">
                    <c:v>884</c:v>
                  </c:pt>
                  <c:pt idx="34">
                    <c:v>885</c:v>
                  </c:pt>
                  <c:pt idx="35">
                    <c:v>886</c:v>
                  </c:pt>
                  <c:pt idx="36">
                    <c:v>887</c:v>
                  </c:pt>
                  <c:pt idx="37">
                    <c:v>888</c:v>
                  </c:pt>
                  <c:pt idx="38">
                    <c:v>889</c:v>
                  </c:pt>
                  <c:pt idx="39">
                    <c:v>890</c:v>
                  </c:pt>
                  <c:pt idx="40">
                    <c:v>891</c:v>
                  </c:pt>
                  <c:pt idx="41">
                    <c:v>892</c:v>
                  </c:pt>
                  <c:pt idx="42">
                    <c:v>893</c:v>
                  </c:pt>
                  <c:pt idx="43">
                    <c:v>894</c:v>
                  </c:pt>
                  <c:pt idx="44">
                    <c:v>895</c:v>
                  </c:pt>
                  <c:pt idx="45">
                    <c:v>896</c:v>
                  </c:pt>
                  <c:pt idx="46">
                    <c:v>897</c:v>
                  </c:pt>
                  <c:pt idx="47">
                    <c:v>898</c:v>
                  </c:pt>
                  <c:pt idx="48">
                    <c:v>899</c:v>
                  </c:pt>
                  <c:pt idx="49">
                    <c:v>900</c:v>
                  </c:pt>
                </c:lvl>
              </c:multiLvlStrCache>
            </c:multiLvlStrRef>
          </c:cat>
          <c:val>
            <c:numRef>
              <c:f>Sheet1!$C$2:$C$51</c:f>
              <c:numCache>
                <c:formatCode>General</c:formatCode>
                <c:ptCount val="50"/>
                <c:pt idx="0">
                  <c:v>0.95383</c:v>
                </c:pt>
                <c:pt idx="1">
                  <c:v>1.04987</c:v>
                </c:pt>
                <c:pt idx="2">
                  <c:v>0.88624</c:v>
                </c:pt>
                <c:pt idx="3">
                  <c:v>0.79572</c:v>
                </c:pt>
                <c:pt idx="4">
                  <c:v>0.79622</c:v>
                </c:pt>
                <c:pt idx="5">
                  <c:v>0.73033</c:v>
                </c:pt>
                <c:pt idx="6">
                  <c:v>0.73778</c:v>
                </c:pt>
                <c:pt idx="7">
                  <c:v>0.7009</c:v>
                </c:pt>
                <c:pt idx="8">
                  <c:v>0.66776</c:v>
                </c:pt>
                <c:pt idx="9">
                  <c:v>0.64845</c:v>
                </c:pt>
                <c:pt idx="10">
                  <c:v>0.62568</c:v>
                </c:pt>
                <c:pt idx="11">
                  <c:v>0.67545</c:v>
                </c:pt>
                <c:pt idx="12">
                  <c:v>0.70148</c:v>
                </c:pt>
                <c:pt idx="13">
                  <c:v>0.72027</c:v>
                </c:pt>
                <c:pt idx="14">
                  <c:v>0.69154</c:v>
                </c:pt>
                <c:pt idx="15">
                  <c:v>0.72646</c:v>
                </c:pt>
                <c:pt idx="16">
                  <c:v>0.74147</c:v>
                </c:pt>
                <c:pt idx="17">
                  <c:v>0.72526</c:v>
                </c:pt>
                <c:pt idx="18">
                  <c:v>0.70934</c:v>
                </c:pt>
                <c:pt idx="19">
                  <c:v>0.64336</c:v>
                </c:pt>
                <c:pt idx="20">
                  <c:v>0.63813</c:v>
                </c:pt>
                <c:pt idx="21">
                  <c:v>0.68491</c:v>
                </c:pt>
                <c:pt idx="22">
                  <c:v>0.66576</c:v>
                </c:pt>
                <c:pt idx="23">
                  <c:v>0.61129</c:v>
                </c:pt>
                <c:pt idx="24">
                  <c:v>0.58457</c:v>
                </c:pt>
                <c:pt idx="25">
                  <c:v>0.66349</c:v>
                </c:pt>
                <c:pt idx="26">
                  <c:v>0.66378</c:v>
                </c:pt>
                <c:pt idx="27">
                  <c:v>0.57437</c:v>
                </c:pt>
                <c:pt idx="28">
                  <c:v>0.66282</c:v>
                </c:pt>
                <c:pt idx="29">
                  <c:v>0.65067</c:v>
                </c:pt>
                <c:pt idx="30">
                  <c:v>0.65918</c:v>
                </c:pt>
                <c:pt idx="31">
                  <c:v>0.60065</c:v>
                </c:pt>
                <c:pt idx="32">
                  <c:v>0.57358</c:v>
                </c:pt>
                <c:pt idx="33">
                  <c:v>0.55147</c:v>
                </c:pt>
                <c:pt idx="34">
                  <c:v>0.53573</c:v>
                </c:pt>
                <c:pt idx="35">
                  <c:v>0.56887</c:v>
                </c:pt>
                <c:pt idx="36">
                  <c:v>0.55319</c:v>
                </c:pt>
                <c:pt idx="37">
                  <c:v>0.57538</c:v>
                </c:pt>
                <c:pt idx="38">
                  <c:v>0.59197</c:v>
                </c:pt>
                <c:pt idx="39">
                  <c:v>0.56214</c:v>
                </c:pt>
                <c:pt idx="40">
                  <c:v>0.59336</c:v>
                </c:pt>
                <c:pt idx="41">
                  <c:v>0.64586</c:v>
                </c:pt>
                <c:pt idx="42">
                  <c:v>0.66591</c:v>
                </c:pt>
                <c:pt idx="43">
                  <c:v>0.6585</c:v>
                </c:pt>
                <c:pt idx="44">
                  <c:v>0.69714</c:v>
                </c:pt>
                <c:pt idx="45">
                  <c:v>0.65859</c:v>
                </c:pt>
                <c:pt idx="46">
                  <c:v>0.65793</c:v>
                </c:pt>
                <c:pt idx="47">
                  <c:v>0.59077</c:v>
                </c:pt>
                <c:pt idx="48">
                  <c:v>0.55702</c:v>
                </c:pt>
                <c:pt idx="49">
                  <c:v>0.51017</c:v>
                </c:pt>
              </c:numCache>
            </c:numRef>
          </c:val>
          <c:smooth val="0"/>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tickLblSkip val="7"/>
      </c:catAx>
      <c:valAx>
        <c:axId val="2094734552"/>
        <c:scaling>
          <c:orientation val="minMax"/>
          <c:max val="1.2"/>
          <c:min val="0.4"/>
        </c:scaling>
        <c:delete val="0"/>
        <c:axPos val="l"/>
        <c:majorGridlines>
          <c:spPr>
            <a:ln w="9525" cap="flat">
              <a:solidFill>
                <a:srgbClr val="E1E7E7"/>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566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KESTREL_EM daily close, bars 1–900</a:t>
            </a:r>
          </a:p>
        </c:rich>
      </c:tx>
      <c:layout/>
      <c:overlay val="0"/>
    </c:title>
    <c:autoTitleDeleted val="0"/>
    <c:plotArea>
      <c:layout/>
      <c:lineChart>
        <c:varyColors val="0"/>
        <c:ser>
          <c:idx val="0"/>
          <c:order val="0"/>
          <c:tx>
            <c:strRef>
              <c:f>Sheet1!$B$1</c:f>
              <c:strCache>
                <c:ptCount val="1"/>
                <c:pt idx="0">
                  <c:v>Close</c:v>
                </c:pt>
              </c:strCache>
            </c:strRef>
          </c:tx>
          <c:spPr>
            <a:solidFill>
              <a:srgbClr val="1F6F6B"/>
            </a:solidFill>
            <a:ln w="19050" cap="flat">
              <a:solidFill>
                <a:srgbClr val="1F6F6B"/>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1F6F6B"/>
              </a:solidFill>
              <a:ln w="9525" cap="flat">
                <a:solidFill>
                  <a:srgbClr val="1F6F6B"/>
                </a:solidFill>
                <a:prstDash val="solid"/>
                <a:round/>
              </a:ln>
              <a:effectLst/>
            </c:spPr>
          </c:marker>
          <c:cat>
            <c:multiLvlStrRef>
              <c:f>Sheet1!$A$2:$A$901</c:f>
              <c:multiLvlStrCache>
                <c:ptCount val="9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lvl>
              </c:multiLvlStrCache>
            </c:multiLvlStrRef>
          </c:cat>
          <c:val>
            <c:numRef>
              <c:f>Sheet1!$B$2:$B$901</c:f>
              <c:numCache>
                <c:formatCode>General</c:formatCode>
                <c:ptCount val="900"/>
                <c:pt idx="0">
                  <c:v>238.56</c:v>
                </c:pt>
                <c:pt idx="1">
                  <c:v>240.8</c:v>
                </c:pt>
                <c:pt idx="2">
                  <c:v>240.14</c:v>
                </c:pt>
                <c:pt idx="3">
                  <c:v>240.96</c:v>
                </c:pt>
                <c:pt idx="4">
                  <c:v>237.02</c:v>
                </c:pt>
                <c:pt idx="5">
                  <c:v>246.16</c:v>
                </c:pt>
                <c:pt idx="6">
                  <c:v>249.3</c:v>
                </c:pt>
                <c:pt idx="7">
                  <c:v>242.14</c:v>
                </c:pt>
                <c:pt idx="8">
                  <c:v>238.22</c:v>
                </c:pt>
                <c:pt idx="9">
                  <c:v>239.89</c:v>
                </c:pt>
                <c:pt idx="10">
                  <c:v>242.27</c:v>
                </c:pt>
                <c:pt idx="11">
                  <c:v>242.77</c:v>
                </c:pt>
                <c:pt idx="12">
                  <c:v>243.78</c:v>
                </c:pt>
                <c:pt idx="13">
                  <c:v>242.6</c:v>
                </c:pt>
                <c:pt idx="14">
                  <c:v>246.97</c:v>
                </c:pt>
                <c:pt idx="15">
                  <c:v>247.99</c:v>
                </c:pt>
                <c:pt idx="16">
                  <c:v>249.65</c:v>
                </c:pt>
                <c:pt idx="17">
                  <c:v>246.4</c:v>
                </c:pt>
                <c:pt idx="18">
                  <c:v>248</c:v>
                </c:pt>
                <c:pt idx="19">
                  <c:v>249.32</c:v>
                </c:pt>
                <c:pt idx="20">
                  <c:v>250.8</c:v>
                </c:pt>
                <c:pt idx="21">
                  <c:v>250.34</c:v>
                </c:pt>
                <c:pt idx="22">
                  <c:v>248.26</c:v>
                </c:pt>
                <c:pt idx="23">
                  <c:v>252.73</c:v>
                </c:pt>
                <c:pt idx="24">
                  <c:v>257.72</c:v>
                </c:pt>
                <c:pt idx="25">
                  <c:v>260.52</c:v>
                </c:pt>
                <c:pt idx="26">
                  <c:v>260.97</c:v>
                </c:pt>
                <c:pt idx="27">
                  <c:v>261.45</c:v>
                </c:pt>
                <c:pt idx="28">
                  <c:v>261.56</c:v>
                </c:pt>
                <c:pt idx="29">
                  <c:v>263.25</c:v>
                </c:pt>
                <c:pt idx="30">
                  <c:v>265.55</c:v>
                </c:pt>
                <c:pt idx="31">
                  <c:v>266.91</c:v>
                </c:pt>
                <c:pt idx="32">
                  <c:v>274.33</c:v>
                </c:pt>
                <c:pt idx="33">
                  <c:v>278.91</c:v>
                </c:pt>
                <c:pt idx="34">
                  <c:v>276.3</c:v>
                </c:pt>
                <c:pt idx="35">
                  <c:v>276.88</c:v>
                </c:pt>
                <c:pt idx="36">
                  <c:v>281.32</c:v>
                </c:pt>
                <c:pt idx="37">
                  <c:v>282.02</c:v>
                </c:pt>
                <c:pt idx="38">
                  <c:v>276.13</c:v>
                </c:pt>
                <c:pt idx="39">
                  <c:v>280.05</c:v>
                </c:pt>
                <c:pt idx="40">
                  <c:v>282.1</c:v>
                </c:pt>
                <c:pt idx="41">
                  <c:v>281.33</c:v>
                </c:pt>
                <c:pt idx="42">
                  <c:v>278.84</c:v>
                </c:pt>
                <c:pt idx="43">
                  <c:v>279.27</c:v>
                </c:pt>
                <c:pt idx="44">
                  <c:v>281.67</c:v>
                </c:pt>
                <c:pt idx="45">
                  <c:v>284.39</c:v>
                </c:pt>
                <c:pt idx="46">
                  <c:v>284.89</c:v>
                </c:pt>
                <c:pt idx="47">
                  <c:v>275.3</c:v>
                </c:pt>
                <c:pt idx="48">
                  <c:v>273.15</c:v>
                </c:pt>
                <c:pt idx="49">
                  <c:v>270.15</c:v>
                </c:pt>
                <c:pt idx="50">
                  <c:v>272.39</c:v>
                </c:pt>
                <c:pt idx="51">
                  <c:v>276.69</c:v>
                </c:pt>
                <c:pt idx="52">
                  <c:v>277.06</c:v>
                </c:pt>
                <c:pt idx="53">
                  <c:v>274.26</c:v>
                </c:pt>
                <c:pt idx="54">
                  <c:v>270.22</c:v>
                </c:pt>
                <c:pt idx="55">
                  <c:v>266.86</c:v>
                </c:pt>
                <c:pt idx="56">
                  <c:v>268.64</c:v>
                </c:pt>
                <c:pt idx="57">
                  <c:v>269.79</c:v>
                </c:pt>
                <c:pt idx="58">
                  <c:v>272.17</c:v>
                </c:pt>
                <c:pt idx="59">
                  <c:v>272.99</c:v>
                </c:pt>
                <c:pt idx="60">
                  <c:v>277.88</c:v>
                </c:pt>
                <c:pt idx="61">
                  <c:v>279.15</c:v>
                </c:pt>
                <c:pt idx="62">
                  <c:v>281.87</c:v>
                </c:pt>
                <c:pt idx="63">
                  <c:v>273.69</c:v>
                </c:pt>
                <c:pt idx="64">
                  <c:v>273.7</c:v>
                </c:pt>
                <c:pt idx="65">
                  <c:v>276.76</c:v>
                </c:pt>
                <c:pt idx="66">
                  <c:v>280.59</c:v>
                </c:pt>
                <c:pt idx="67">
                  <c:v>278.15</c:v>
                </c:pt>
                <c:pt idx="68">
                  <c:v>276.88</c:v>
                </c:pt>
                <c:pt idx="69">
                  <c:v>271.92</c:v>
                </c:pt>
                <c:pt idx="70">
                  <c:v>274.63</c:v>
                </c:pt>
                <c:pt idx="71">
                  <c:v>273.1</c:v>
                </c:pt>
                <c:pt idx="72">
                  <c:v>274.03</c:v>
                </c:pt>
                <c:pt idx="73">
                  <c:v>274.16</c:v>
                </c:pt>
                <c:pt idx="74">
                  <c:v>273.5</c:v>
                </c:pt>
                <c:pt idx="75">
                  <c:v>273.6</c:v>
                </c:pt>
                <c:pt idx="76">
                  <c:v>276.41</c:v>
                </c:pt>
                <c:pt idx="77">
                  <c:v>278.57</c:v>
                </c:pt>
                <c:pt idx="78">
                  <c:v>281.36</c:v>
                </c:pt>
                <c:pt idx="79">
                  <c:v>279.68</c:v>
                </c:pt>
                <c:pt idx="80">
                  <c:v>284.24</c:v>
                </c:pt>
                <c:pt idx="81">
                  <c:v>284.23</c:v>
                </c:pt>
                <c:pt idx="82">
                  <c:v>283.36</c:v>
                </c:pt>
                <c:pt idx="83">
                  <c:v>281.83</c:v>
                </c:pt>
                <c:pt idx="84">
                  <c:v>282.13</c:v>
                </c:pt>
                <c:pt idx="85">
                  <c:v>282.34</c:v>
                </c:pt>
                <c:pt idx="86">
                  <c:v>273.52</c:v>
                </c:pt>
                <c:pt idx="87">
                  <c:v>271.65</c:v>
                </c:pt>
                <c:pt idx="88">
                  <c:v>269.06</c:v>
                </c:pt>
                <c:pt idx="89">
                  <c:v>267.54</c:v>
                </c:pt>
                <c:pt idx="90">
                  <c:v>266.55</c:v>
                </c:pt>
                <c:pt idx="91">
                  <c:v>264.81</c:v>
                </c:pt>
                <c:pt idx="92">
                  <c:v>259.47</c:v>
                </c:pt>
                <c:pt idx="93">
                  <c:v>263.69</c:v>
                </c:pt>
                <c:pt idx="94">
                  <c:v>264</c:v>
                </c:pt>
                <c:pt idx="95">
                  <c:v>266.07</c:v>
                </c:pt>
                <c:pt idx="96">
                  <c:v>269.66</c:v>
                </c:pt>
                <c:pt idx="97">
                  <c:v>267.95</c:v>
                </c:pt>
                <c:pt idx="98">
                  <c:v>271.63</c:v>
                </c:pt>
                <c:pt idx="99">
                  <c:v>269.41</c:v>
                </c:pt>
                <c:pt idx="100">
                  <c:v>257.87</c:v>
                </c:pt>
                <c:pt idx="101">
                  <c:v>257.78</c:v>
                </c:pt>
                <c:pt idx="102">
                  <c:v>259.82</c:v>
                </c:pt>
                <c:pt idx="103">
                  <c:v>254.64</c:v>
                </c:pt>
                <c:pt idx="104">
                  <c:v>252.25</c:v>
                </c:pt>
                <c:pt idx="105">
                  <c:v>250.04</c:v>
                </c:pt>
                <c:pt idx="106">
                  <c:v>257.85</c:v>
                </c:pt>
                <c:pt idx="107">
                  <c:v>262.51</c:v>
                </c:pt>
                <c:pt idx="108">
                  <c:v>263.65</c:v>
                </c:pt>
                <c:pt idx="109">
                  <c:v>263.87</c:v>
                </c:pt>
                <c:pt idx="110">
                  <c:v>269.36</c:v>
                </c:pt>
                <c:pt idx="111">
                  <c:v>266.97</c:v>
                </c:pt>
                <c:pt idx="112">
                  <c:v>264.86</c:v>
                </c:pt>
                <c:pt idx="113">
                  <c:v>266.46</c:v>
                </c:pt>
                <c:pt idx="114">
                  <c:v>266.67</c:v>
                </c:pt>
                <c:pt idx="115">
                  <c:v>264.08</c:v>
                </c:pt>
                <c:pt idx="116">
                  <c:v>261.46</c:v>
                </c:pt>
                <c:pt idx="117">
                  <c:v>260.7</c:v>
                </c:pt>
                <c:pt idx="118">
                  <c:v>258.58</c:v>
                </c:pt>
                <c:pt idx="119">
                  <c:v>261.46</c:v>
                </c:pt>
                <c:pt idx="120">
                  <c:v>260.24</c:v>
                </c:pt>
                <c:pt idx="121">
                  <c:v>263.09</c:v>
                </c:pt>
                <c:pt idx="122">
                  <c:v>262.52</c:v>
                </c:pt>
                <c:pt idx="123">
                  <c:v>262.9</c:v>
                </c:pt>
                <c:pt idx="124">
                  <c:v>261.94</c:v>
                </c:pt>
                <c:pt idx="125">
                  <c:v>260.18</c:v>
                </c:pt>
                <c:pt idx="126">
                  <c:v>266.61</c:v>
                </c:pt>
                <c:pt idx="127">
                  <c:v>269.25</c:v>
                </c:pt>
                <c:pt idx="128">
                  <c:v>265.41</c:v>
                </c:pt>
                <c:pt idx="129">
                  <c:v>262.31</c:v>
                </c:pt>
                <c:pt idx="130">
                  <c:v>255.78</c:v>
                </c:pt>
                <c:pt idx="131">
                  <c:v>254.62</c:v>
                </c:pt>
                <c:pt idx="132">
                  <c:v>250.03</c:v>
                </c:pt>
                <c:pt idx="133">
                  <c:v>249.52</c:v>
                </c:pt>
                <c:pt idx="134">
                  <c:v>248.9</c:v>
                </c:pt>
                <c:pt idx="135">
                  <c:v>254.78</c:v>
                </c:pt>
                <c:pt idx="136">
                  <c:v>252.32</c:v>
                </c:pt>
                <c:pt idx="137">
                  <c:v>250.32</c:v>
                </c:pt>
                <c:pt idx="138">
                  <c:v>246.77</c:v>
                </c:pt>
                <c:pt idx="139">
                  <c:v>246.89</c:v>
                </c:pt>
                <c:pt idx="140">
                  <c:v>254.26</c:v>
                </c:pt>
                <c:pt idx="141">
                  <c:v>253.97</c:v>
                </c:pt>
                <c:pt idx="142">
                  <c:v>253.3</c:v>
                </c:pt>
                <c:pt idx="143">
                  <c:v>251.49</c:v>
                </c:pt>
                <c:pt idx="144">
                  <c:v>253.35</c:v>
                </c:pt>
                <c:pt idx="145">
                  <c:v>256.54</c:v>
                </c:pt>
                <c:pt idx="146">
                  <c:v>258.93</c:v>
                </c:pt>
                <c:pt idx="147">
                  <c:v>260.02</c:v>
                </c:pt>
                <c:pt idx="148">
                  <c:v>263.08</c:v>
                </c:pt>
                <c:pt idx="149">
                  <c:v>264.41</c:v>
                </c:pt>
                <c:pt idx="150">
                  <c:v>265.02</c:v>
                </c:pt>
                <c:pt idx="151">
                  <c:v>264.95</c:v>
                </c:pt>
                <c:pt idx="152">
                  <c:v>267.54</c:v>
                </c:pt>
                <c:pt idx="153">
                  <c:v>267.94</c:v>
                </c:pt>
                <c:pt idx="154">
                  <c:v>269.5</c:v>
                </c:pt>
                <c:pt idx="155">
                  <c:v>268.73</c:v>
                </c:pt>
                <c:pt idx="156">
                  <c:v>270.92</c:v>
                </c:pt>
                <c:pt idx="157">
                  <c:v>281.75</c:v>
                </c:pt>
                <c:pt idx="158">
                  <c:v>284.29</c:v>
                </c:pt>
                <c:pt idx="159">
                  <c:v>283.37</c:v>
                </c:pt>
                <c:pt idx="160">
                  <c:v>286.3</c:v>
                </c:pt>
                <c:pt idx="161">
                  <c:v>282.35</c:v>
                </c:pt>
                <c:pt idx="162">
                  <c:v>282.16</c:v>
                </c:pt>
                <c:pt idx="163">
                  <c:v>283.04</c:v>
                </c:pt>
                <c:pt idx="164">
                  <c:v>282.66</c:v>
                </c:pt>
                <c:pt idx="165">
                  <c:v>282.37</c:v>
                </c:pt>
                <c:pt idx="166">
                  <c:v>285.66</c:v>
                </c:pt>
                <c:pt idx="167">
                  <c:v>287.36</c:v>
                </c:pt>
                <c:pt idx="168">
                  <c:v>286.82</c:v>
                </c:pt>
                <c:pt idx="169">
                  <c:v>287.28</c:v>
                </c:pt>
                <c:pt idx="170">
                  <c:v>282.52</c:v>
                </c:pt>
                <c:pt idx="171">
                  <c:v>280.21</c:v>
                </c:pt>
                <c:pt idx="172">
                  <c:v>274.66</c:v>
                </c:pt>
                <c:pt idx="173">
                  <c:v>274.07</c:v>
                </c:pt>
                <c:pt idx="174">
                  <c:v>279.73</c:v>
                </c:pt>
                <c:pt idx="175">
                  <c:v>280.11</c:v>
                </c:pt>
                <c:pt idx="176">
                  <c:v>280.19</c:v>
                </c:pt>
                <c:pt idx="177">
                  <c:v>280.77</c:v>
                </c:pt>
                <c:pt idx="178">
                  <c:v>276.6</c:v>
                </c:pt>
                <c:pt idx="179">
                  <c:v>276.03</c:v>
                </c:pt>
                <c:pt idx="180">
                  <c:v>273.86</c:v>
                </c:pt>
                <c:pt idx="181">
                  <c:v>272.1</c:v>
                </c:pt>
                <c:pt idx="182">
                  <c:v>267.98</c:v>
                </c:pt>
                <c:pt idx="183">
                  <c:v>272.11</c:v>
                </c:pt>
                <c:pt idx="184">
                  <c:v>272.45</c:v>
                </c:pt>
                <c:pt idx="185">
                  <c:v>274.46</c:v>
                </c:pt>
                <c:pt idx="186">
                  <c:v>276.75</c:v>
                </c:pt>
                <c:pt idx="187">
                  <c:v>269.13</c:v>
                </c:pt>
                <c:pt idx="188">
                  <c:v>267.41</c:v>
                </c:pt>
                <c:pt idx="189">
                  <c:v>267.39</c:v>
                </c:pt>
                <c:pt idx="190">
                  <c:v>270.46</c:v>
                </c:pt>
                <c:pt idx="191">
                  <c:v>272.86</c:v>
                </c:pt>
                <c:pt idx="192">
                  <c:v>269.93</c:v>
                </c:pt>
                <c:pt idx="193">
                  <c:v>268.94</c:v>
                </c:pt>
                <c:pt idx="194">
                  <c:v>271.84</c:v>
                </c:pt>
                <c:pt idx="195">
                  <c:v>274.05</c:v>
                </c:pt>
                <c:pt idx="196">
                  <c:v>275.58</c:v>
                </c:pt>
                <c:pt idx="197">
                  <c:v>278.11</c:v>
                </c:pt>
                <c:pt idx="198">
                  <c:v>281.43</c:v>
                </c:pt>
                <c:pt idx="199">
                  <c:v>280.3</c:v>
                </c:pt>
                <c:pt idx="200">
                  <c:v>282.17</c:v>
                </c:pt>
                <c:pt idx="201">
                  <c:v>281.3</c:v>
                </c:pt>
                <c:pt idx="202">
                  <c:v>281.08</c:v>
                </c:pt>
                <c:pt idx="203">
                  <c:v>281.6</c:v>
                </c:pt>
                <c:pt idx="204">
                  <c:v>283.14</c:v>
                </c:pt>
                <c:pt idx="205">
                  <c:v>282.73</c:v>
                </c:pt>
                <c:pt idx="206">
                  <c:v>286.5</c:v>
                </c:pt>
                <c:pt idx="207">
                  <c:v>278.99</c:v>
                </c:pt>
                <c:pt idx="208">
                  <c:v>277.52</c:v>
                </c:pt>
                <c:pt idx="209">
                  <c:v>284.92</c:v>
                </c:pt>
                <c:pt idx="210">
                  <c:v>287.2</c:v>
                </c:pt>
                <c:pt idx="211">
                  <c:v>287.71</c:v>
                </c:pt>
                <c:pt idx="212">
                  <c:v>291.24</c:v>
                </c:pt>
                <c:pt idx="213">
                  <c:v>298.17</c:v>
                </c:pt>
                <c:pt idx="214">
                  <c:v>300.46</c:v>
                </c:pt>
                <c:pt idx="215">
                  <c:v>299.04</c:v>
                </c:pt>
                <c:pt idx="216">
                  <c:v>291.34</c:v>
                </c:pt>
                <c:pt idx="217">
                  <c:v>291.43</c:v>
                </c:pt>
                <c:pt idx="218">
                  <c:v>288.85</c:v>
                </c:pt>
                <c:pt idx="219">
                  <c:v>283.38</c:v>
                </c:pt>
                <c:pt idx="220">
                  <c:v>283.32</c:v>
                </c:pt>
                <c:pt idx="221">
                  <c:v>282.22</c:v>
                </c:pt>
                <c:pt idx="222">
                  <c:v>284.93</c:v>
                </c:pt>
                <c:pt idx="223">
                  <c:v>281.03</c:v>
                </c:pt>
                <c:pt idx="224">
                  <c:v>285.33</c:v>
                </c:pt>
                <c:pt idx="225">
                  <c:v>283.78</c:v>
                </c:pt>
                <c:pt idx="226">
                  <c:v>283.75</c:v>
                </c:pt>
                <c:pt idx="227">
                  <c:v>284.21</c:v>
                </c:pt>
                <c:pt idx="228">
                  <c:v>283.44</c:v>
                </c:pt>
                <c:pt idx="229">
                  <c:v>278.92</c:v>
                </c:pt>
                <c:pt idx="230">
                  <c:v>276.67</c:v>
                </c:pt>
                <c:pt idx="231">
                  <c:v>275.52</c:v>
                </c:pt>
                <c:pt idx="232">
                  <c:v>274.74</c:v>
                </c:pt>
                <c:pt idx="233">
                  <c:v>272.34</c:v>
                </c:pt>
                <c:pt idx="234">
                  <c:v>267.01</c:v>
                </c:pt>
                <c:pt idx="235">
                  <c:v>265.72</c:v>
                </c:pt>
                <c:pt idx="236">
                  <c:v>264.72</c:v>
                </c:pt>
                <c:pt idx="237">
                  <c:v>264.34</c:v>
                </c:pt>
                <c:pt idx="238">
                  <c:v>269.21</c:v>
                </c:pt>
                <c:pt idx="239">
                  <c:v>270.38</c:v>
                </c:pt>
                <c:pt idx="240">
                  <c:v>269.84</c:v>
                </c:pt>
                <c:pt idx="241">
                  <c:v>268.01</c:v>
                </c:pt>
                <c:pt idx="242">
                  <c:v>271.12</c:v>
                </c:pt>
                <c:pt idx="243">
                  <c:v>273.14</c:v>
                </c:pt>
                <c:pt idx="244">
                  <c:v>271.99</c:v>
                </c:pt>
                <c:pt idx="245">
                  <c:v>273.54</c:v>
                </c:pt>
                <c:pt idx="246">
                  <c:v>270.99</c:v>
                </c:pt>
                <c:pt idx="247">
                  <c:v>271.04</c:v>
                </c:pt>
                <c:pt idx="248">
                  <c:v>275.19</c:v>
                </c:pt>
                <c:pt idx="249">
                  <c:v>277.01</c:v>
                </c:pt>
                <c:pt idx="250">
                  <c:v>278.99</c:v>
                </c:pt>
                <c:pt idx="251">
                  <c:v>278.41</c:v>
                </c:pt>
                <c:pt idx="252">
                  <c:v>284.96</c:v>
                </c:pt>
                <c:pt idx="253">
                  <c:v>287.96</c:v>
                </c:pt>
                <c:pt idx="254">
                  <c:v>302.09</c:v>
                </c:pt>
                <c:pt idx="255">
                  <c:v>300.21</c:v>
                </c:pt>
                <c:pt idx="256">
                  <c:v>297.99</c:v>
                </c:pt>
                <c:pt idx="257">
                  <c:v>299.52</c:v>
                </c:pt>
                <c:pt idx="258">
                  <c:v>298.8</c:v>
                </c:pt>
                <c:pt idx="259">
                  <c:v>297.07</c:v>
                </c:pt>
                <c:pt idx="260">
                  <c:v>292.11</c:v>
                </c:pt>
                <c:pt idx="261">
                  <c:v>296.32</c:v>
                </c:pt>
                <c:pt idx="262">
                  <c:v>301.45</c:v>
                </c:pt>
                <c:pt idx="263">
                  <c:v>319.29</c:v>
                </c:pt>
                <c:pt idx="264">
                  <c:v>312.04</c:v>
                </c:pt>
                <c:pt idx="265">
                  <c:v>317.45</c:v>
                </c:pt>
                <c:pt idx="266">
                  <c:v>316.14</c:v>
                </c:pt>
                <c:pt idx="267">
                  <c:v>315.72</c:v>
                </c:pt>
                <c:pt idx="268">
                  <c:v>319.48</c:v>
                </c:pt>
                <c:pt idx="269">
                  <c:v>318.2</c:v>
                </c:pt>
                <c:pt idx="270">
                  <c:v>316.13</c:v>
                </c:pt>
                <c:pt idx="271">
                  <c:v>312.93</c:v>
                </c:pt>
                <c:pt idx="272">
                  <c:v>311.44</c:v>
                </c:pt>
                <c:pt idx="273">
                  <c:v>308.84</c:v>
                </c:pt>
                <c:pt idx="274">
                  <c:v>309.01</c:v>
                </c:pt>
                <c:pt idx="275">
                  <c:v>310.35</c:v>
                </c:pt>
                <c:pt idx="276">
                  <c:v>311.79</c:v>
                </c:pt>
                <c:pt idx="277">
                  <c:v>312.99</c:v>
                </c:pt>
                <c:pt idx="278">
                  <c:v>311.11</c:v>
                </c:pt>
                <c:pt idx="279">
                  <c:v>311.71</c:v>
                </c:pt>
                <c:pt idx="280">
                  <c:v>308.56</c:v>
                </c:pt>
                <c:pt idx="281">
                  <c:v>304.25</c:v>
                </c:pt>
                <c:pt idx="282">
                  <c:v>301.94</c:v>
                </c:pt>
                <c:pt idx="283">
                  <c:v>298.9</c:v>
                </c:pt>
                <c:pt idx="284">
                  <c:v>298.22</c:v>
                </c:pt>
                <c:pt idx="285">
                  <c:v>297.82</c:v>
                </c:pt>
                <c:pt idx="286">
                  <c:v>294.54</c:v>
                </c:pt>
                <c:pt idx="287">
                  <c:v>295.46</c:v>
                </c:pt>
                <c:pt idx="288">
                  <c:v>296.14</c:v>
                </c:pt>
                <c:pt idx="289">
                  <c:v>301.37</c:v>
                </c:pt>
                <c:pt idx="290">
                  <c:v>305.75</c:v>
                </c:pt>
                <c:pt idx="291">
                  <c:v>304.05</c:v>
                </c:pt>
                <c:pt idx="292">
                  <c:v>307.29</c:v>
                </c:pt>
                <c:pt idx="293">
                  <c:v>307.87</c:v>
                </c:pt>
                <c:pt idx="294">
                  <c:v>307.76</c:v>
                </c:pt>
                <c:pt idx="295">
                  <c:v>310.37</c:v>
                </c:pt>
                <c:pt idx="296">
                  <c:v>305.04</c:v>
                </c:pt>
                <c:pt idx="297">
                  <c:v>290.19</c:v>
                </c:pt>
                <c:pt idx="298">
                  <c:v>290.68</c:v>
                </c:pt>
                <c:pt idx="299">
                  <c:v>291.64</c:v>
                </c:pt>
                <c:pt idx="300">
                  <c:v>293.71</c:v>
                </c:pt>
                <c:pt idx="301">
                  <c:v>295.6</c:v>
                </c:pt>
                <c:pt idx="302">
                  <c:v>298.29</c:v>
                </c:pt>
                <c:pt idx="303">
                  <c:v>300.3</c:v>
                </c:pt>
                <c:pt idx="304">
                  <c:v>300.04</c:v>
                </c:pt>
                <c:pt idx="305">
                  <c:v>300.05</c:v>
                </c:pt>
                <c:pt idx="306">
                  <c:v>303.19</c:v>
                </c:pt>
                <c:pt idx="307">
                  <c:v>301.19</c:v>
                </c:pt>
                <c:pt idx="308">
                  <c:v>300.78</c:v>
                </c:pt>
                <c:pt idx="309">
                  <c:v>302.04</c:v>
                </c:pt>
                <c:pt idx="310">
                  <c:v>294.27</c:v>
                </c:pt>
                <c:pt idx="311">
                  <c:v>295.3</c:v>
                </c:pt>
                <c:pt idx="312">
                  <c:v>299.19</c:v>
                </c:pt>
                <c:pt idx="313">
                  <c:v>289.81</c:v>
                </c:pt>
                <c:pt idx="314">
                  <c:v>278.4</c:v>
                </c:pt>
                <c:pt idx="315">
                  <c:v>280.82</c:v>
                </c:pt>
                <c:pt idx="316">
                  <c:v>282</c:v>
                </c:pt>
                <c:pt idx="317">
                  <c:v>281.92</c:v>
                </c:pt>
                <c:pt idx="318">
                  <c:v>285.42</c:v>
                </c:pt>
                <c:pt idx="319">
                  <c:v>280.67</c:v>
                </c:pt>
                <c:pt idx="320">
                  <c:v>284.5</c:v>
                </c:pt>
                <c:pt idx="321">
                  <c:v>286.7</c:v>
                </c:pt>
                <c:pt idx="322">
                  <c:v>287.25</c:v>
                </c:pt>
                <c:pt idx="323">
                  <c:v>290.15</c:v>
                </c:pt>
                <c:pt idx="324">
                  <c:v>292.12</c:v>
                </c:pt>
                <c:pt idx="325">
                  <c:v>290.83</c:v>
                </c:pt>
                <c:pt idx="326">
                  <c:v>284.6</c:v>
                </c:pt>
                <c:pt idx="327">
                  <c:v>285.83</c:v>
                </c:pt>
                <c:pt idx="328">
                  <c:v>280.82</c:v>
                </c:pt>
                <c:pt idx="329">
                  <c:v>284.21</c:v>
                </c:pt>
                <c:pt idx="330">
                  <c:v>283.29</c:v>
                </c:pt>
                <c:pt idx="331">
                  <c:v>286.01</c:v>
                </c:pt>
                <c:pt idx="332">
                  <c:v>291.69</c:v>
                </c:pt>
                <c:pt idx="333">
                  <c:v>287.09</c:v>
                </c:pt>
                <c:pt idx="334">
                  <c:v>281.08</c:v>
                </c:pt>
                <c:pt idx="335">
                  <c:v>287.76</c:v>
                </c:pt>
                <c:pt idx="336">
                  <c:v>288.68</c:v>
                </c:pt>
                <c:pt idx="337">
                  <c:v>294.28</c:v>
                </c:pt>
                <c:pt idx="338">
                  <c:v>294.3</c:v>
                </c:pt>
                <c:pt idx="339">
                  <c:v>291.68</c:v>
                </c:pt>
                <c:pt idx="340">
                  <c:v>291.84</c:v>
                </c:pt>
                <c:pt idx="341">
                  <c:v>292.86</c:v>
                </c:pt>
                <c:pt idx="342">
                  <c:v>289.69</c:v>
                </c:pt>
                <c:pt idx="343">
                  <c:v>289.38</c:v>
                </c:pt>
                <c:pt idx="344">
                  <c:v>294.11</c:v>
                </c:pt>
                <c:pt idx="345">
                  <c:v>289.21</c:v>
                </c:pt>
                <c:pt idx="346">
                  <c:v>285.96</c:v>
                </c:pt>
                <c:pt idx="347">
                  <c:v>286.43</c:v>
                </c:pt>
                <c:pt idx="348">
                  <c:v>285.5</c:v>
                </c:pt>
                <c:pt idx="349">
                  <c:v>285.76</c:v>
                </c:pt>
                <c:pt idx="350">
                  <c:v>283.52</c:v>
                </c:pt>
                <c:pt idx="351">
                  <c:v>284.6</c:v>
                </c:pt>
                <c:pt idx="352">
                  <c:v>280.21</c:v>
                </c:pt>
                <c:pt idx="353">
                  <c:v>272.46</c:v>
                </c:pt>
                <c:pt idx="354">
                  <c:v>273.73</c:v>
                </c:pt>
                <c:pt idx="355">
                  <c:v>278.21</c:v>
                </c:pt>
                <c:pt idx="356">
                  <c:v>280.27</c:v>
                </c:pt>
                <c:pt idx="357">
                  <c:v>276.28</c:v>
                </c:pt>
                <c:pt idx="358">
                  <c:v>276.11</c:v>
                </c:pt>
                <c:pt idx="359">
                  <c:v>271.88</c:v>
                </c:pt>
                <c:pt idx="360">
                  <c:v>269.84</c:v>
                </c:pt>
                <c:pt idx="361">
                  <c:v>266.49</c:v>
                </c:pt>
                <c:pt idx="362">
                  <c:v>269.64</c:v>
                </c:pt>
                <c:pt idx="363">
                  <c:v>270.14</c:v>
                </c:pt>
                <c:pt idx="364">
                  <c:v>272.22</c:v>
                </c:pt>
                <c:pt idx="365">
                  <c:v>267.56</c:v>
                </c:pt>
                <c:pt idx="366">
                  <c:v>260.95</c:v>
                </c:pt>
                <c:pt idx="367">
                  <c:v>258.53</c:v>
                </c:pt>
                <c:pt idx="368">
                  <c:v>259.63</c:v>
                </c:pt>
                <c:pt idx="369">
                  <c:v>262.57</c:v>
                </c:pt>
                <c:pt idx="370">
                  <c:v>259.38</c:v>
                </c:pt>
                <c:pt idx="371">
                  <c:v>263.59</c:v>
                </c:pt>
                <c:pt idx="372">
                  <c:v>263.74</c:v>
                </c:pt>
                <c:pt idx="373">
                  <c:v>269.7</c:v>
                </c:pt>
                <c:pt idx="374">
                  <c:v>273.53</c:v>
                </c:pt>
                <c:pt idx="375">
                  <c:v>278.52</c:v>
                </c:pt>
                <c:pt idx="376">
                  <c:v>278.04</c:v>
                </c:pt>
                <c:pt idx="377">
                  <c:v>276.8</c:v>
                </c:pt>
                <c:pt idx="378">
                  <c:v>270.58</c:v>
                </c:pt>
                <c:pt idx="379">
                  <c:v>265.93</c:v>
                </c:pt>
                <c:pt idx="380">
                  <c:v>269.53</c:v>
                </c:pt>
                <c:pt idx="381">
                  <c:v>268.89</c:v>
                </c:pt>
                <c:pt idx="382">
                  <c:v>269.08</c:v>
                </c:pt>
                <c:pt idx="383">
                  <c:v>274.08</c:v>
                </c:pt>
                <c:pt idx="384">
                  <c:v>273.84</c:v>
                </c:pt>
                <c:pt idx="385">
                  <c:v>273.62</c:v>
                </c:pt>
                <c:pt idx="386">
                  <c:v>275.08</c:v>
                </c:pt>
                <c:pt idx="387">
                  <c:v>272.76</c:v>
                </c:pt>
                <c:pt idx="388">
                  <c:v>271.56</c:v>
                </c:pt>
                <c:pt idx="389">
                  <c:v>268.94</c:v>
                </c:pt>
                <c:pt idx="390">
                  <c:v>275.87</c:v>
                </c:pt>
                <c:pt idx="391">
                  <c:v>275.65</c:v>
                </c:pt>
                <c:pt idx="392">
                  <c:v>276.72</c:v>
                </c:pt>
                <c:pt idx="393">
                  <c:v>281.22</c:v>
                </c:pt>
                <c:pt idx="394">
                  <c:v>287</c:v>
                </c:pt>
                <c:pt idx="395">
                  <c:v>283.4</c:v>
                </c:pt>
                <c:pt idx="396">
                  <c:v>282.94</c:v>
                </c:pt>
                <c:pt idx="397">
                  <c:v>284.95</c:v>
                </c:pt>
                <c:pt idx="398">
                  <c:v>290.71</c:v>
                </c:pt>
                <c:pt idx="399">
                  <c:v>290.1</c:v>
                </c:pt>
                <c:pt idx="400">
                  <c:v>288.14</c:v>
                </c:pt>
                <c:pt idx="401">
                  <c:v>285.92</c:v>
                </c:pt>
                <c:pt idx="402">
                  <c:v>284.99</c:v>
                </c:pt>
                <c:pt idx="403">
                  <c:v>283.94</c:v>
                </c:pt>
                <c:pt idx="404">
                  <c:v>276.89</c:v>
                </c:pt>
                <c:pt idx="405">
                  <c:v>278.29</c:v>
                </c:pt>
                <c:pt idx="406">
                  <c:v>279.86</c:v>
                </c:pt>
                <c:pt idx="407">
                  <c:v>282.09</c:v>
                </c:pt>
                <c:pt idx="408">
                  <c:v>290.05</c:v>
                </c:pt>
                <c:pt idx="409">
                  <c:v>290.96</c:v>
                </c:pt>
                <c:pt idx="410">
                  <c:v>293.89</c:v>
                </c:pt>
                <c:pt idx="411">
                  <c:v>293.09</c:v>
                </c:pt>
                <c:pt idx="412">
                  <c:v>291.11</c:v>
                </c:pt>
                <c:pt idx="413">
                  <c:v>292.36</c:v>
                </c:pt>
                <c:pt idx="414">
                  <c:v>297.29</c:v>
                </c:pt>
                <c:pt idx="415">
                  <c:v>295.6</c:v>
                </c:pt>
                <c:pt idx="416">
                  <c:v>295.16</c:v>
                </c:pt>
                <c:pt idx="417">
                  <c:v>292.51</c:v>
                </c:pt>
                <c:pt idx="418">
                  <c:v>294.43</c:v>
                </c:pt>
                <c:pt idx="419">
                  <c:v>300.84</c:v>
                </c:pt>
                <c:pt idx="420">
                  <c:v>294.04</c:v>
                </c:pt>
                <c:pt idx="421">
                  <c:v>292.98</c:v>
                </c:pt>
                <c:pt idx="422">
                  <c:v>294.6</c:v>
                </c:pt>
                <c:pt idx="423">
                  <c:v>294.98</c:v>
                </c:pt>
                <c:pt idx="424">
                  <c:v>296.3</c:v>
                </c:pt>
                <c:pt idx="425">
                  <c:v>291.95</c:v>
                </c:pt>
                <c:pt idx="426">
                  <c:v>290.61</c:v>
                </c:pt>
                <c:pt idx="427">
                  <c:v>291.73</c:v>
                </c:pt>
                <c:pt idx="428">
                  <c:v>289.21</c:v>
                </c:pt>
                <c:pt idx="429">
                  <c:v>290.39</c:v>
                </c:pt>
                <c:pt idx="430">
                  <c:v>298.12</c:v>
                </c:pt>
                <c:pt idx="431">
                  <c:v>300.51</c:v>
                </c:pt>
                <c:pt idx="432">
                  <c:v>299.15</c:v>
                </c:pt>
                <c:pt idx="433">
                  <c:v>301.54</c:v>
                </c:pt>
                <c:pt idx="434">
                  <c:v>293.32</c:v>
                </c:pt>
                <c:pt idx="435">
                  <c:v>294.85</c:v>
                </c:pt>
                <c:pt idx="436">
                  <c:v>289.7</c:v>
                </c:pt>
                <c:pt idx="437">
                  <c:v>298.1</c:v>
                </c:pt>
                <c:pt idx="438">
                  <c:v>301.99</c:v>
                </c:pt>
                <c:pt idx="439">
                  <c:v>297.72</c:v>
                </c:pt>
                <c:pt idx="440">
                  <c:v>297.99</c:v>
                </c:pt>
                <c:pt idx="441">
                  <c:v>297.99</c:v>
                </c:pt>
                <c:pt idx="442">
                  <c:v>301.38</c:v>
                </c:pt>
                <c:pt idx="443">
                  <c:v>301.05</c:v>
                </c:pt>
                <c:pt idx="444">
                  <c:v>301.06</c:v>
                </c:pt>
                <c:pt idx="445">
                  <c:v>296.49</c:v>
                </c:pt>
                <c:pt idx="446">
                  <c:v>295.75</c:v>
                </c:pt>
                <c:pt idx="447">
                  <c:v>293.44</c:v>
                </c:pt>
                <c:pt idx="448">
                  <c:v>290.15</c:v>
                </c:pt>
                <c:pt idx="449">
                  <c:v>292.83</c:v>
                </c:pt>
                <c:pt idx="450">
                  <c:v>300.89</c:v>
                </c:pt>
                <c:pt idx="451">
                  <c:v>299.33</c:v>
                </c:pt>
                <c:pt idx="452">
                  <c:v>299.12</c:v>
                </c:pt>
                <c:pt idx="453">
                  <c:v>300.1</c:v>
                </c:pt>
                <c:pt idx="454">
                  <c:v>298.34</c:v>
                </c:pt>
                <c:pt idx="455">
                  <c:v>297.6</c:v>
                </c:pt>
                <c:pt idx="456">
                  <c:v>297.39</c:v>
                </c:pt>
                <c:pt idx="457">
                  <c:v>291.57</c:v>
                </c:pt>
                <c:pt idx="458">
                  <c:v>289.01</c:v>
                </c:pt>
                <c:pt idx="459">
                  <c:v>294.92</c:v>
                </c:pt>
                <c:pt idx="460">
                  <c:v>300.38</c:v>
                </c:pt>
                <c:pt idx="461">
                  <c:v>305.61</c:v>
                </c:pt>
                <c:pt idx="462">
                  <c:v>308.16</c:v>
                </c:pt>
                <c:pt idx="463">
                  <c:v>313.22</c:v>
                </c:pt>
                <c:pt idx="464">
                  <c:v>313.41</c:v>
                </c:pt>
                <c:pt idx="465">
                  <c:v>313.12</c:v>
                </c:pt>
                <c:pt idx="466">
                  <c:v>308.11</c:v>
                </c:pt>
                <c:pt idx="467">
                  <c:v>305.04</c:v>
                </c:pt>
                <c:pt idx="468">
                  <c:v>306.78</c:v>
                </c:pt>
                <c:pt idx="469">
                  <c:v>307.16</c:v>
                </c:pt>
                <c:pt idx="470">
                  <c:v>306.26</c:v>
                </c:pt>
                <c:pt idx="471">
                  <c:v>303.68</c:v>
                </c:pt>
                <c:pt idx="472">
                  <c:v>302.24</c:v>
                </c:pt>
                <c:pt idx="473">
                  <c:v>311.03</c:v>
                </c:pt>
                <c:pt idx="474">
                  <c:v>313.5</c:v>
                </c:pt>
                <c:pt idx="475">
                  <c:v>317.81</c:v>
                </c:pt>
                <c:pt idx="476">
                  <c:v>320.21</c:v>
                </c:pt>
                <c:pt idx="477">
                  <c:v>317.18</c:v>
                </c:pt>
                <c:pt idx="478">
                  <c:v>316.33</c:v>
                </c:pt>
                <c:pt idx="479">
                  <c:v>312</c:v>
                </c:pt>
                <c:pt idx="480">
                  <c:v>311.55</c:v>
                </c:pt>
                <c:pt idx="481">
                  <c:v>311.28</c:v>
                </c:pt>
                <c:pt idx="482">
                  <c:v>310.66</c:v>
                </c:pt>
                <c:pt idx="483">
                  <c:v>305.25</c:v>
                </c:pt>
                <c:pt idx="484">
                  <c:v>305.77</c:v>
                </c:pt>
                <c:pt idx="485">
                  <c:v>307.5</c:v>
                </c:pt>
                <c:pt idx="486">
                  <c:v>306.5</c:v>
                </c:pt>
                <c:pt idx="487">
                  <c:v>304.43</c:v>
                </c:pt>
                <c:pt idx="488">
                  <c:v>307.77</c:v>
                </c:pt>
                <c:pt idx="489">
                  <c:v>305.69</c:v>
                </c:pt>
                <c:pt idx="490">
                  <c:v>307.78</c:v>
                </c:pt>
                <c:pt idx="491">
                  <c:v>305.55</c:v>
                </c:pt>
                <c:pt idx="492">
                  <c:v>305.84</c:v>
                </c:pt>
                <c:pt idx="493">
                  <c:v>309.62</c:v>
                </c:pt>
                <c:pt idx="494">
                  <c:v>307.81</c:v>
                </c:pt>
                <c:pt idx="495">
                  <c:v>309.41</c:v>
                </c:pt>
                <c:pt idx="496">
                  <c:v>311.88</c:v>
                </c:pt>
                <c:pt idx="497">
                  <c:v>312.99</c:v>
                </c:pt>
                <c:pt idx="498">
                  <c:v>315.83</c:v>
                </c:pt>
                <c:pt idx="499">
                  <c:v>315.62</c:v>
                </c:pt>
                <c:pt idx="500">
                  <c:v>313.44</c:v>
                </c:pt>
                <c:pt idx="501">
                  <c:v>310.68</c:v>
                </c:pt>
                <c:pt idx="502">
                  <c:v>307.5</c:v>
                </c:pt>
                <c:pt idx="503">
                  <c:v>309.07</c:v>
                </c:pt>
                <c:pt idx="504">
                  <c:v>307.42</c:v>
                </c:pt>
                <c:pt idx="505">
                  <c:v>307.67</c:v>
                </c:pt>
                <c:pt idx="506">
                  <c:v>306.35</c:v>
                </c:pt>
                <c:pt idx="507">
                  <c:v>312.47</c:v>
                </c:pt>
                <c:pt idx="508">
                  <c:v>316.51</c:v>
                </c:pt>
                <c:pt idx="509">
                  <c:v>316.12</c:v>
                </c:pt>
                <c:pt idx="510">
                  <c:v>321.29</c:v>
                </c:pt>
                <c:pt idx="511">
                  <c:v>322.11</c:v>
                </c:pt>
                <c:pt idx="512">
                  <c:v>323.26</c:v>
                </c:pt>
                <c:pt idx="513">
                  <c:v>331.24</c:v>
                </c:pt>
                <c:pt idx="514">
                  <c:v>335.51</c:v>
                </c:pt>
                <c:pt idx="515">
                  <c:v>331.28</c:v>
                </c:pt>
                <c:pt idx="516">
                  <c:v>331.09</c:v>
                </c:pt>
                <c:pt idx="517">
                  <c:v>329.33</c:v>
                </c:pt>
                <c:pt idx="518">
                  <c:v>329.03</c:v>
                </c:pt>
                <c:pt idx="519">
                  <c:v>330.28</c:v>
                </c:pt>
                <c:pt idx="520">
                  <c:v>330.48</c:v>
                </c:pt>
                <c:pt idx="521">
                  <c:v>331.18</c:v>
                </c:pt>
                <c:pt idx="522">
                  <c:v>331.69</c:v>
                </c:pt>
                <c:pt idx="523">
                  <c:v>329.95</c:v>
                </c:pt>
                <c:pt idx="524">
                  <c:v>329.07</c:v>
                </c:pt>
                <c:pt idx="525">
                  <c:v>325.84</c:v>
                </c:pt>
                <c:pt idx="526">
                  <c:v>330.25</c:v>
                </c:pt>
                <c:pt idx="527">
                  <c:v>331.46</c:v>
                </c:pt>
                <c:pt idx="528">
                  <c:v>335.2</c:v>
                </c:pt>
                <c:pt idx="529">
                  <c:v>335.33</c:v>
                </c:pt>
                <c:pt idx="530">
                  <c:v>338.49</c:v>
                </c:pt>
                <c:pt idx="531">
                  <c:v>336.93</c:v>
                </c:pt>
                <c:pt idx="532">
                  <c:v>335.51</c:v>
                </c:pt>
                <c:pt idx="533">
                  <c:v>338.86</c:v>
                </c:pt>
                <c:pt idx="534">
                  <c:v>338.29</c:v>
                </c:pt>
                <c:pt idx="535">
                  <c:v>339.57</c:v>
                </c:pt>
                <c:pt idx="536">
                  <c:v>339.36</c:v>
                </c:pt>
                <c:pt idx="537">
                  <c:v>339.33</c:v>
                </c:pt>
                <c:pt idx="538">
                  <c:v>332.76</c:v>
                </c:pt>
                <c:pt idx="539">
                  <c:v>343.97</c:v>
                </c:pt>
                <c:pt idx="540">
                  <c:v>349.95</c:v>
                </c:pt>
                <c:pt idx="541">
                  <c:v>349.39</c:v>
                </c:pt>
                <c:pt idx="542">
                  <c:v>349.47</c:v>
                </c:pt>
                <c:pt idx="543">
                  <c:v>349.68</c:v>
                </c:pt>
                <c:pt idx="544">
                  <c:v>344.38</c:v>
                </c:pt>
                <c:pt idx="545">
                  <c:v>344.55</c:v>
                </c:pt>
                <c:pt idx="546">
                  <c:v>343</c:v>
                </c:pt>
                <c:pt idx="547">
                  <c:v>344.24</c:v>
                </c:pt>
                <c:pt idx="548">
                  <c:v>342.01</c:v>
                </c:pt>
                <c:pt idx="549">
                  <c:v>337.05</c:v>
                </c:pt>
                <c:pt idx="550">
                  <c:v>335.57</c:v>
                </c:pt>
                <c:pt idx="551">
                  <c:v>337.43</c:v>
                </c:pt>
                <c:pt idx="552">
                  <c:v>340.44</c:v>
                </c:pt>
                <c:pt idx="553">
                  <c:v>346.47</c:v>
                </c:pt>
                <c:pt idx="554">
                  <c:v>348.07</c:v>
                </c:pt>
                <c:pt idx="555">
                  <c:v>345.55</c:v>
                </c:pt>
                <c:pt idx="556">
                  <c:v>350.82</c:v>
                </c:pt>
                <c:pt idx="557">
                  <c:v>350.92</c:v>
                </c:pt>
                <c:pt idx="558">
                  <c:v>350.97</c:v>
                </c:pt>
                <c:pt idx="559">
                  <c:v>342.44</c:v>
                </c:pt>
                <c:pt idx="560">
                  <c:v>337.25</c:v>
                </c:pt>
                <c:pt idx="561">
                  <c:v>334.77</c:v>
                </c:pt>
                <c:pt idx="562">
                  <c:v>339.5</c:v>
                </c:pt>
                <c:pt idx="563">
                  <c:v>343.78</c:v>
                </c:pt>
                <c:pt idx="564">
                  <c:v>341.39</c:v>
                </c:pt>
                <c:pt idx="565">
                  <c:v>349.93</c:v>
                </c:pt>
                <c:pt idx="566">
                  <c:v>351.49</c:v>
                </c:pt>
                <c:pt idx="567">
                  <c:v>348.89</c:v>
                </c:pt>
                <c:pt idx="568">
                  <c:v>349.16</c:v>
                </c:pt>
                <c:pt idx="569">
                  <c:v>351.25</c:v>
                </c:pt>
                <c:pt idx="570">
                  <c:v>352.11</c:v>
                </c:pt>
                <c:pt idx="571">
                  <c:v>344.77</c:v>
                </c:pt>
                <c:pt idx="572">
                  <c:v>349.98</c:v>
                </c:pt>
                <c:pt idx="573">
                  <c:v>349.54</c:v>
                </c:pt>
                <c:pt idx="574">
                  <c:v>343.88</c:v>
                </c:pt>
                <c:pt idx="575">
                  <c:v>343.9</c:v>
                </c:pt>
                <c:pt idx="576">
                  <c:v>346.47</c:v>
                </c:pt>
                <c:pt idx="577">
                  <c:v>346.2</c:v>
                </c:pt>
                <c:pt idx="578">
                  <c:v>342.81</c:v>
                </c:pt>
                <c:pt idx="579">
                  <c:v>332.34</c:v>
                </c:pt>
                <c:pt idx="580">
                  <c:v>328.28</c:v>
                </c:pt>
                <c:pt idx="581">
                  <c:v>323.7</c:v>
                </c:pt>
                <c:pt idx="582">
                  <c:v>320.38</c:v>
                </c:pt>
                <c:pt idx="583">
                  <c:v>320.76</c:v>
                </c:pt>
                <c:pt idx="584">
                  <c:v>320.46</c:v>
                </c:pt>
                <c:pt idx="585">
                  <c:v>322.95</c:v>
                </c:pt>
                <c:pt idx="586">
                  <c:v>321.42</c:v>
                </c:pt>
                <c:pt idx="587">
                  <c:v>323.7</c:v>
                </c:pt>
                <c:pt idx="588">
                  <c:v>325.57</c:v>
                </c:pt>
                <c:pt idx="589">
                  <c:v>329.24</c:v>
                </c:pt>
                <c:pt idx="590">
                  <c:v>326.49</c:v>
                </c:pt>
                <c:pt idx="591">
                  <c:v>326.8</c:v>
                </c:pt>
                <c:pt idx="592">
                  <c:v>319.93</c:v>
                </c:pt>
                <c:pt idx="593">
                  <c:v>318.12</c:v>
                </c:pt>
                <c:pt idx="594">
                  <c:v>317.05</c:v>
                </c:pt>
                <c:pt idx="595">
                  <c:v>317.91</c:v>
                </c:pt>
                <c:pt idx="596">
                  <c:v>318.53</c:v>
                </c:pt>
                <c:pt idx="597">
                  <c:v>312.91</c:v>
                </c:pt>
                <c:pt idx="598">
                  <c:v>315.15</c:v>
                </c:pt>
                <c:pt idx="599">
                  <c:v>311.98</c:v>
                </c:pt>
                <c:pt idx="600">
                  <c:v>312.31</c:v>
                </c:pt>
                <c:pt idx="601">
                  <c:v>310.14</c:v>
                </c:pt>
                <c:pt idx="602">
                  <c:v>314.84</c:v>
                </c:pt>
                <c:pt idx="603">
                  <c:v>317.23</c:v>
                </c:pt>
                <c:pt idx="604">
                  <c:v>312.55</c:v>
                </c:pt>
                <c:pt idx="605">
                  <c:v>315.83</c:v>
                </c:pt>
                <c:pt idx="606">
                  <c:v>303.98</c:v>
                </c:pt>
                <c:pt idx="607">
                  <c:v>290.08</c:v>
                </c:pt>
                <c:pt idx="608">
                  <c:v>291.92</c:v>
                </c:pt>
                <c:pt idx="609">
                  <c:v>294.7</c:v>
                </c:pt>
                <c:pt idx="610">
                  <c:v>296.49</c:v>
                </c:pt>
                <c:pt idx="611">
                  <c:v>299.67</c:v>
                </c:pt>
                <c:pt idx="612">
                  <c:v>294.12</c:v>
                </c:pt>
                <c:pt idx="613">
                  <c:v>293.52</c:v>
                </c:pt>
                <c:pt idx="614">
                  <c:v>297.11</c:v>
                </c:pt>
                <c:pt idx="615">
                  <c:v>294.22</c:v>
                </c:pt>
                <c:pt idx="616">
                  <c:v>292.59</c:v>
                </c:pt>
                <c:pt idx="617">
                  <c:v>294.71</c:v>
                </c:pt>
                <c:pt idx="618">
                  <c:v>294.82</c:v>
                </c:pt>
                <c:pt idx="619">
                  <c:v>291.22</c:v>
                </c:pt>
                <c:pt idx="620">
                  <c:v>290.27</c:v>
                </c:pt>
                <c:pt idx="621">
                  <c:v>291.48</c:v>
                </c:pt>
                <c:pt idx="622">
                  <c:v>291.93</c:v>
                </c:pt>
                <c:pt idx="623">
                  <c:v>291.87</c:v>
                </c:pt>
                <c:pt idx="624">
                  <c:v>295.79</c:v>
                </c:pt>
                <c:pt idx="625">
                  <c:v>295.27</c:v>
                </c:pt>
                <c:pt idx="626">
                  <c:v>287.69</c:v>
                </c:pt>
                <c:pt idx="627">
                  <c:v>287.05</c:v>
                </c:pt>
                <c:pt idx="628">
                  <c:v>282.56</c:v>
                </c:pt>
                <c:pt idx="629">
                  <c:v>283.22</c:v>
                </c:pt>
                <c:pt idx="630">
                  <c:v>285.48</c:v>
                </c:pt>
                <c:pt idx="631">
                  <c:v>286.38</c:v>
                </c:pt>
                <c:pt idx="632">
                  <c:v>285.12</c:v>
                </c:pt>
                <c:pt idx="633">
                  <c:v>285.42</c:v>
                </c:pt>
                <c:pt idx="634">
                  <c:v>288.18</c:v>
                </c:pt>
                <c:pt idx="635">
                  <c:v>285.16</c:v>
                </c:pt>
                <c:pt idx="636">
                  <c:v>280.68</c:v>
                </c:pt>
                <c:pt idx="637">
                  <c:v>280.55</c:v>
                </c:pt>
                <c:pt idx="638">
                  <c:v>278.18</c:v>
                </c:pt>
                <c:pt idx="639">
                  <c:v>276.51</c:v>
                </c:pt>
                <c:pt idx="640">
                  <c:v>274.4</c:v>
                </c:pt>
                <c:pt idx="641">
                  <c:v>282.15</c:v>
                </c:pt>
                <c:pt idx="642">
                  <c:v>280.41</c:v>
                </c:pt>
                <c:pt idx="643">
                  <c:v>280.62</c:v>
                </c:pt>
                <c:pt idx="644">
                  <c:v>277.17</c:v>
                </c:pt>
                <c:pt idx="645">
                  <c:v>278.61</c:v>
                </c:pt>
                <c:pt idx="646">
                  <c:v>279.74</c:v>
                </c:pt>
                <c:pt idx="647">
                  <c:v>274.81</c:v>
                </c:pt>
                <c:pt idx="648">
                  <c:v>273.97</c:v>
                </c:pt>
                <c:pt idx="649">
                  <c:v>272.37</c:v>
                </c:pt>
                <c:pt idx="650">
                  <c:v>272.23</c:v>
                </c:pt>
                <c:pt idx="651">
                  <c:v>270.01</c:v>
                </c:pt>
                <c:pt idx="652">
                  <c:v>270.35</c:v>
                </c:pt>
                <c:pt idx="653">
                  <c:v>268.57</c:v>
                </c:pt>
                <c:pt idx="654">
                  <c:v>264.28</c:v>
                </c:pt>
                <c:pt idx="655">
                  <c:v>263.45</c:v>
                </c:pt>
                <c:pt idx="656">
                  <c:v>265.39</c:v>
                </c:pt>
                <c:pt idx="657">
                  <c:v>269.02</c:v>
                </c:pt>
                <c:pt idx="658">
                  <c:v>272.59</c:v>
                </c:pt>
                <c:pt idx="659">
                  <c:v>271.47</c:v>
                </c:pt>
                <c:pt idx="660">
                  <c:v>272.79</c:v>
                </c:pt>
                <c:pt idx="661">
                  <c:v>270.82</c:v>
                </c:pt>
                <c:pt idx="662">
                  <c:v>271.89</c:v>
                </c:pt>
                <c:pt idx="663">
                  <c:v>270.04</c:v>
                </c:pt>
                <c:pt idx="664">
                  <c:v>269.92</c:v>
                </c:pt>
                <c:pt idx="665">
                  <c:v>270.92</c:v>
                </c:pt>
                <c:pt idx="666">
                  <c:v>269.23</c:v>
                </c:pt>
                <c:pt idx="667">
                  <c:v>254.18</c:v>
                </c:pt>
                <c:pt idx="668">
                  <c:v>252.57</c:v>
                </c:pt>
                <c:pt idx="669">
                  <c:v>250.28</c:v>
                </c:pt>
                <c:pt idx="670">
                  <c:v>247.86</c:v>
                </c:pt>
                <c:pt idx="671">
                  <c:v>250.31</c:v>
                </c:pt>
                <c:pt idx="672">
                  <c:v>251.95</c:v>
                </c:pt>
                <c:pt idx="673">
                  <c:v>253.76</c:v>
                </c:pt>
                <c:pt idx="674">
                  <c:v>255.14</c:v>
                </c:pt>
                <c:pt idx="675">
                  <c:v>258.98</c:v>
                </c:pt>
                <c:pt idx="676">
                  <c:v>257.1</c:v>
                </c:pt>
                <c:pt idx="677">
                  <c:v>254.06</c:v>
                </c:pt>
                <c:pt idx="678">
                  <c:v>253.13</c:v>
                </c:pt>
                <c:pt idx="679">
                  <c:v>257.78</c:v>
                </c:pt>
                <c:pt idx="680">
                  <c:v>259.43</c:v>
                </c:pt>
                <c:pt idx="681">
                  <c:v>263.7</c:v>
                </c:pt>
                <c:pt idx="682">
                  <c:v>261.45</c:v>
                </c:pt>
                <c:pt idx="683">
                  <c:v>259.15</c:v>
                </c:pt>
                <c:pt idx="684">
                  <c:v>259.79</c:v>
                </c:pt>
                <c:pt idx="685">
                  <c:v>267.57</c:v>
                </c:pt>
                <c:pt idx="686">
                  <c:v>270.95</c:v>
                </c:pt>
                <c:pt idx="687">
                  <c:v>269.76</c:v>
                </c:pt>
                <c:pt idx="688">
                  <c:v>263.39</c:v>
                </c:pt>
                <c:pt idx="689">
                  <c:v>265.31</c:v>
                </c:pt>
                <c:pt idx="690">
                  <c:v>266.51</c:v>
                </c:pt>
                <c:pt idx="691">
                  <c:v>269.07</c:v>
                </c:pt>
                <c:pt idx="692">
                  <c:v>268.19</c:v>
                </c:pt>
                <c:pt idx="693">
                  <c:v>274.12</c:v>
                </c:pt>
                <c:pt idx="694">
                  <c:v>278.43</c:v>
                </c:pt>
                <c:pt idx="695">
                  <c:v>274.7</c:v>
                </c:pt>
                <c:pt idx="696">
                  <c:v>273.29</c:v>
                </c:pt>
                <c:pt idx="697">
                  <c:v>277.59</c:v>
                </c:pt>
                <c:pt idx="698">
                  <c:v>281.12</c:v>
                </c:pt>
                <c:pt idx="699">
                  <c:v>280.89</c:v>
                </c:pt>
                <c:pt idx="700">
                  <c:v>281.78</c:v>
                </c:pt>
                <c:pt idx="701">
                  <c:v>283.3</c:v>
                </c:pt>
                <c:pt idx="702">
                  <c:v>282.72</c:v>
                </c:pt>
                <c:pt idx="703">
                  <c:v>283.7</c:v>
                </c:pt>
                <c:pt idx="704">
                  <c:v>277.49</c:v>
                </c:pt>
                <c:pt idx="705">
                  <c:v>277.07</c:v>
                </c:pt>
                <c:pt idx="706">
                  <c:v>279.9</c:v>
                </c:pt>
                <c:pt idx="707">
                  <c:v>279.93</c:v>
                </c:pt>
                <c:pt idx="708">
                  <c:v>283.46</c:v>
                </c:pt>
                <c:pt idx="709">
                  <c:v>287.58</c:v>
                </c:pt>
                <c:pt idx="710">
                  <c:v>294.27</c:v>
                </c:pt>
                <c:pt idx="711">
                  <c:v>295.41</c:v>
                </c:pt>
                <c:pt idx="712">
                  <c:v>303.8</c:v>
                </c:pt>
                <c:pt idx="713">
                  <c:v>309.29</c:v>
                </c:pt>
                <c:pt idx="714">
                  <c:v>311.57</c:v>
                </c:pt>
                <c:pt idx="715">
                  <c:v>310.57</c:v>
                </c:pt>
                <c:pt idx="716">
                  <c:v>312.74</c:v>
                </c:pt>
                <c:pt idx="717">
                  <c:v>314.26</c:v>
                </c:pt>
                <c:pt idx="718">
                  <c:v>313.97</c:v>
                </c:pt>
                <c:pt idx="719">
                  <c:v>317.71</c:v>
                </c:pt>
                <c:pt idx="720">
                  <c:v>320.44</c:v>
                </c:pt>
                <c:pt idx="721">
                  <c:v>319.34</c:v>
                </c:pt>
                <c:pt idx="722">
                  <c:v>321.48</c:v>
                </c:pt>
                <c:pt idx="723">
                  <c:v>323.92</c:v>
                </c:pt>
                <c:pt idx="724">
                  <c:v>325.78</c:v>
                </c:pt>
                <c:pt idx="725">
                  <c:v>326.16</c:v>
                </c:pt>
                <c:pt idx="726">
                  <c:v>328.02</c:v>
                </c:pt>
                <c:pt idx="727">
                  <c:v>332.81</c:v>
                </c:pt>
                <c:pt idx="728">
                  <c:v>343.56</c:v>
                </c:pt>
                <c:pt idx="729">
                  <c:v>344.67</c:v>
                </c:pt>
                <c:pt idx="730">
                  <c:v>348.82</c:v>
                </c:pt>
                <c:pt idx="731">
                  <c:v>352.59</c:v>
                </c:pt>
                <c:pt idx="732">
                  <c:v>353.61</c:v>
                </c:pt>
                <c:pt idx="733">
                  <c:v>353.79</c:v>
                </c:pt>
                <c:pt idx="734">
                  <c:v>353.1</c:v>
                </c:pt>
                <c:pt idx="735">
                  <c:v>346.37</c:v>
                </c:pt>
                <c:pt idx="736">
                  <c:v>351.09</c:v>
                </c:pt>
                <c:pt idx="737">
                  <c:v>355.01</c:v>
                </c:pt>
                <c:pt idx="738">
                  <c:v>352.76</c:v>
                </c:pt>
                <c:pt idx="739">
                  <c:v>346.89</c:v>
                </c:pt>
                <c:pt idx="740">
                  <c:v>344.59</c:v>
                </c:pt>
                <c:pt idx="741">
                  <c:v>343.81</c:v>
                </c:pt>
                <c:pt idx="742">
                  <c:v>345.28</c:v>
                </c:pt>
                <c:pt idx="743">
                  <c:v>344.05</c:v>
                </c:pt>
                <c:pt idx="744">
                  <c:v>347.03</c:v>
                </c:pt>
                <c:pt idx="745">
                  <c:v>349.38</c:v>
                </c:pt>
                <c:pt idx="746">
                  <c:v>354.73</c:v>
                </c:pt>
                <c:pt idx="747">
                  <c:v>356.02</c:v>
                </c:pt>
                <c:pt idx="748">
                  <c:v>357.53</c:v>
                </c:pt>
                <c:pt idx="749">
                  <c:v>357.53</c:v>
                </c:pt>
                <c:pt idx="750">
                  <c:v>352.03</c:v>
                </c:pt>
                <c:pt idx="751">
                  <c:v>348.4</c:v>
                </c:pt>
                <c:pt idx="752">
                  <c:v>349.78</c:v>
                </c:pt>
                <c:pt idx="753">
                  <c:v>352.18</c:v>
                </c:pt>
                <c:pt idx="754">
                  <c:v>345.88</c:v>
                </c:pt>
                <c:pt idx="755">
                  <c:v>345.07</c:v>
                </c:pt>
                <c:pt idx="756">
                  <c:v>342.43</c:v>
                </c:pt>
                <c:pt idx="757">
                  <c:v>345.4</c:v>
                </c:pt>
                <c:pt idx="758">
                  <c:v>351.11</c:v>
                </c:pt>
                <c:pt idx="759">
                  <c:v>349.13</c:v>
                </c:pt>
                <c:pt idx="760">
                  <c:v>351.56</c:v>
                </c:pt>
                <c:pt idx="761">
                  <c:v>350.88</c:v>
                </c:pt>
                <c:pt idx="762">
                  <c:v>350.66</c:v>
                </c:pt>
                <c:pt idx="763">
                  <c:v>345.63</c:v>
                </c:pt>
                <c:pt idx="764">
                  <c:v>341.88</c:v>
                </c:pt>
                <c:pt idx="765">
                  <c:v>343.26</c:v>
                </c:pt>
                <c:pt idx="766">
                  <c:v>347.52</c:v>
                </c:pt>
                <c:pt idx="767">
                  <c:v>347.05</c:v>
                </c:pt>
                <c:pt idx="768">
                  <c:v>343.78</c:v>
                </c:pt>
                <c:pt idx="769">
                  <c:v>340.6</c:v>
                </c:pt>
                <c:pt idx="770">
                  <c:v>340</c:v>
                </c:pt>
                <c:pt idx="771">
                  <c:v>338.16</c:v>
                </c:pt>
                <c:pt idx="772">
                  <c:v>333.47</c:v>
                </c:pt>
                <c:pt idx="773">
                  <c:v>346.33</c:v>
                </c:pt>
                <c:pt idx="774">
                  <c:v>352.76</c:v>
                </c:pt>
                <c:pt idx="775">
                  <c:v>348.55</c:v>
                </c:pt>
                <c:pt idx="776">
                  <c:v>350.42</c:v>
                </c:pt>
                <c:pt idx="777">
                  <c:v>352.55</c:v>
                </c:pt>
                <c:pt idx="778">
                  <c:v>355.88</c:v>
                </c:pt>
                <c:pt idx="779">
                  <c:v>353.66</c:v>
                </c:pt>
                <c:pt idx="780">
                  <c:v>350.68</c:v>
                </c:pt>
                <c:pt idx="781">
                  <c:v>350.07</c:v>
                </c:pt>
                <c:pt idx="782">
                  <c:v>348.93</c:v>
                </c:pt>
                <c:pt idx="783">
                  <c:v>351.58</c:v>
                </c:pt>
                <c:pt idx="784">
                  <c:v>355.01</c:v>
                </c:pt>
                <c:pt idx="785">
                  <c:v>355.3</c:v>
                </c:pt>
                <c:pt idx="786">
                  <c:v>351.56</c:v>
                </c:pt>
                <c:pt idx="787">
                  <c:v>353.87</c:v>
                </c:pt>
                <c:pt idx="788">
                  <c:v>351.85</c:v>
                </c:pt>
                <c:pt idx="789">
                  <c:v>352.41</c:v>
                </c:pt>
                <c:pt idx="790">
                  <c:v>353.92</c:v>
                </c:pt>
                <c:pt idx="791">
                  <c:v>350.76</c:v>
                </c:pt>
                <c:pt idx="792">
                  <c:v>353.14</c:v>
                </c:pt>
                <c:pt idx="793">
                  <c:v>360.55</c:v>
                </c:pt>
                <c:pt idx="794">
                  <c:v>353.88</c:v>
                </c:pt>
                <c:pt idx="795">
                  <c:v>349.89</c:v>
                </c:pt>
                <c:pt idx="796">
                  <c:v>347.53</c:v>
                </c:pt>
                <c:pt idx="797">
                  <c:v>344.55</c:v>
                </c:pt>
                <c:pt idx="798">
                  <c:v>348.41</c:v>
                </c:pt>
                <c:pt idx="799">
                  <c:v>353.06</c:v>
                </c:pt>
                <c:pt idx="800">
                  <c:v>343.41</c:v>
                </c:pt>
                <c:pt idx="801">
                  <c:v>350.36</c:v>
                </c:pt>
                <c:pt idx="802">
                  <c:v>346.69</c:v>
                </c:pt>
                <c:pt idx="803">
                  <c:v>346.35</c:v>
                </c:pt>
                <c:pt idx="804">
                  <c:v>351.63</c:v>
                </c:pt>
                <c:pt idx="805">
                  <c:v>352.92</c:v>
                </c:pt>
                <c:pt idx="806">
                  <c:v>358.69</c:v>
                </c:pt>
                <c:pt idx="807">
                  <c:v>359.57</c:v>
                </c:pt>
                <c:pt idx="808">
                  <c:v>354.03</c:v>
                </c:pt>
                <c:pt idx="809">
                  <c:v>352.58</c:v>
                </c:pt>
                <c:pt idx="810">
                  <c:v>348.61</c:v>
                </c:pt>
                <c:pt idx="811">
                  <c:v>350.24</c:v>
                </c:pt>
                <c:pt idx="812">
                  <c:v>352.2</c:v>
                </c:pt>
                <c:pt idx="813">
                  <c:v>349.91</c:v>
                </c:pt>
                <c:pt idx="814">
                  <c:v>355.88</c:v>
                </c:pt>
                <c:pt idx="815">
                  <c:v>356.66</c:v>
                </c:pt>
                <c:pt idx="816">
                  <c:v>365.54</c:v>
                </c:pt>
                <c:pt idx="817">
                  <c:v>364.15</c:v>
                </c:pt>
                <c:pt idx="818">
                  <c:v>357.78</c:v>
                </c:pt>
                <c:pt idx="819">
                  <c:v>358.31</c:v>
                </c:pt>
                <c:pt idx="820">
                  <c:v>362.68</c:v>
                </c:pt>
                <c:pt idx="821">
                  <c:v>365.89</c:v>
                </c:pt>
                <c:pt idx="822">
                  <c:v>367.2</c:v>
                </c:pt>
                <c:pt idx="823">
                  <c:v>363.21</c:v>
                </c:pt>
                <c:pt idx="824">
                  <c:v>365.42</c:v>
                </c:pt>
                <c:pt idx="825">
                  <c:v>363.38</c:v>
                </c:pt>
                <c:pt idx="826">
                  <c:v>359.97</c:v>
                </c:pt>
                <c:pt idx="827">
                  <c:v>365.26</c:v>
                </c:pt>
                <c:pt idx="828">
                  <c:v>370.93</c:v>
                </c:pt>
                <c:pt idx="829">
                  <c:v>368.14</c:v>
                </c:pt>
                <c:pt idx="830">
                  <c:v>368.58</c:v>
                </c:pt>
                <c:pt idx="831">
                  <c:v>370.44</c:v>
                </c:pt>
                <c:pt idx="832">
                  <c:v>385.94</c:v>
                </c:pt>
                <c:pt idx="833">
                  <c:v>389.64</c:v>
                </c:pt>
                <c:pt idx="834">
                  <c:v>392.53</c:v>
                </c:pt>
                <c:pt idx="835">
                  <c:v>388.64</c:v>
                </c:pt>
                <c:pt idx="836">
                  <c:v>386.79</c:v>
                </c:pt>
                <c:pt idx="837">
                  <c:v>382.79</c:v>
                </c:pt>
                <c:pt idx="838">
                  <c:v>388.13</c:v>
                </c:pt>
                <c:pt idx="839">
                  <c:v>393.98</c:v>
                </c:pt>
                <c:pt idx="840">
                  <c:v>392.31</c:v>
                </c:pt>
                <c:pt idx="841">
                  <c:v>399.49</c:v>
                </c:pt>
                <c:pt idx="842">
                  <c:v>407.9</c:v>
                </c:pt>
                <c:pt idx="843">
                  <c:v>404.88</c:v>
                </c:pt>
                <c:pt idx="844">
                  <c:v>407.64</c:v>
                </c:pt>
                <c:pt idx="845">
                  <c:v>415.31</c:v>
                </c:pt>
                <c:pt idx="846">
                  <c:v>413.05</c:v>
                </c:pt>
                <c:pt idx="847">
                  <c:v>404.85</c:v>
                </c:pt>
                <c:pt idx="848">
                  <c:v>398.06</c:v>
                </c:pt>
                <c:pt idx="849">
                  <c:v>397.16</c:v>
                </c:pt>
                <c:pt idx="850">
                  <c:v>378.82</c:v>
                </c:pt>
                <c:pt idx="851">
                  <c:v>416.97</c:v>
                </c:pt>
                <c:pt idx="852">
                  <c:v>351.98</c:v>
                </c:pt>
                <c:pt idx="853">
                  <c:v>316.03</c:v>
                </c:pt>
                <c:pt idx="854">
                  <c:v>316.23</c:v>
                </c:pt>
                <c:pt idx="855">
                  <c:v>290.06</c:v>
                </c:pt>
                <c:pt idx="856">
                  <c:v>293.02</c:v>
                </c:pt>
                <c:pt idx="857">
                  <c:v>278.37</c:v>
                </c:pt>
                <c:pt idx="858">
                  <c:v>265.21</c:v>
                </c:pt>
                <c:pt idx="859">
                  <c:v>257.54</c:v>
                </c:pt>
                <c:pt idx="860">
                  <c:v>248.49</c:v>
                </c:pt>
                <c:pt idx="861">
                  <c:v>268.26</c:v>
                </c:pt>
                <c:pt idx="862">
                  <c:v>278.6</c:v>
                </c:pt>
                <c:pt idx="863">
                  <c:v>286.06</c:v>
                </c:pt>
                <c:pt idx="864">
                  <c:v>274.65</c:v>
                </c:pt>
                <c:pt idx="865">
                  <c:v>288.52</c:v>
                </c:pt>
                <c:pt idx="866">
                  <c:v>294.48</c:v>
                </c:pt>
                <c:pt idx="867">
                  <c:v>288.05</c:v>
                </c:pt>
                <c:pt idx="868">
                  <c:v>281.72</c:v>
                </c:pt>
                <c:pt idx="869">
                  <c:v>255.52</c:v>
                </c:pt>
                <c:pt idx="870">
                  <c:v>253.44</c:v>
                </c:pt>
                <c:pt idx="871">
                  <c:v>272.02</c:v>
                </c:pt>
                <c:pt idx="872">
                  <c:v>264.41</c:v>
                </c:pt>
                <c:pt idx="873">
                  <c:v>242.78</c:v>
                </c:pt>
                <c:pt idx="874">
                  <c:v>232.17</c:v>
                </c:pt>
                <c:pt idx="875">
                  <c:v>263.51</c:v>
                </c:pt>
                <c:pt idx="876">
                  <c:v>263.63</c:v>
                </c:pt>
                <c:pt idx="877">
                  <c:v>228.12</c:v>
                </c:pt>
                <c:pt idx="878">
                  <c:v>263.24</c:v>
                </c:pt>
                <c:pt idx="879">
                  <c:v>258.42</c:v>
                </c:pt>
                <c:pt idx="880">
                  <c:v>261.8</c:v>
                </c:pt>
                <c:pt idx="881">
                  <c:v>238.56</c:v>
                </c:pt>
                <c:pt idx="882">
                  <c:v>227.8</c:v>
                </c:pt>
                <c:pt idx="883">
                  <c:v>219.02</c:v>
                </c:pt>
                <c:pt idx="884">
                  <c:v>212.77</c:v>
                </c:pt>
                <c:pt idx="885">
                  <c:v>225.93</c:v>
                </c:pt>
                <c:pt idx="886">
                  <c:v>219.71</c:v>
                </c:pt>
                <c:pt idx="887">
                  <c:v>228.52</c:v>
                </c:pt>
                <c:pt idx="888">
                  <c:v>235.11</c:v>
                </c:pt>
                <c:pt idx="889">
                  <c:v>223.26</c:v>
                </c:pt>
                <c:pt idx="890">
                  <c:v>235.66</c:v>
                </c:pt>
                <c:pt idx="891">
                  <c:v>256.51</c:v>
                </c:pt>
                <c:pt idx="892">
                  <c:v>264.47</c:v>
                </c:pt>
                <c:pt idx="893">
                  <c:v>261.53</c:v>
                </c:pt>
                <c:pt idx="894">
                  <c:v>276.88</c:v>
                </c:pt>
                <c:pt idx="895">
                  <c:v>261.56</c:v>
                </c:pt>
                <c:pt idx="896">
                  <c:v>261.3</c:v>
                </c:pt>
                <c:pt idx="897">
                  <c:v>234.63</c:v>
                </c:pt>
                <c:pt idx="898">
                  <c:v>221.23</c:v>
                </c:pt>
                <c:pt idx="899">
                  <c:v>202.62</c:v>
                </c:pt>
              </c:numCache>
            </c:numRef>
          </c:val>
          <c:smooth val="0"/>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tickLblSkip val="100"/>
      </c:catAx>
      <c:valAx>
        <c:axId val="2094734552"/>
        <c:scaling>
          <c:orientation val="minMax"/>
          <c:min val="150"/>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2B"/>
                </a:solidFill>
                <a:latin typeface="+mn-lt"/>
              </a:defRPr>
            </a:pPr>
            <a:r>
              <a:rPr sz="1200" b="0" i="0" u="none" strike="noStrike">
                <a:solidFill>
                  <a:srgbClr val="13232B"/>
                </a:solidFill>
                <a:latin typeface="+mn-lt"/>
              </a:rPr>
              <a:t>Confidence per call, rows 801–850</a:t>
            </a:r>
          </a:p>
        </c:rich>
      </c:tx>
      <c:layout/>
      <c:overlay val="0"/>
    </c:title>
    <c:autoTitleDeleted val="0"/>
    <c:plotArea>
      <c:layout/>
      <c:barChart>
        <c:barDir val="col"/>
        <c:grouping val="stacked"/>
        <c:varyColors val="0"/>
        <c:ser>
          <c:idx val="0"/>
          <c:order val="0"/>
          <c:tx>
            <c:strRef>
              <c:f>Sheet1!$B$1</c:f>
              <c:strCache>
                <c:ptCount val="1"/>
                <c:pt idx="0">
                  <c:v>UP (1)</c:v>
                </c:pt>
              </c:strCache>
            </c:strRef>
          </c:tx>
          <c:spPr>
            <a:solidFill>
              <a:srgbClr val="1F6F6B"/>
            </a:solidFill>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cat>
            <c:multiLvlStrRef>
              <c:f>Sheet1!$A$2:$A$51</c:f>
              <c:multiLvlStrCache>
                <c:ptCount val="50"/>
                <c:lvl>
                  <c:pt idx="0">
                    <c:v>801</c:v>
                  </c:pt>
                  <c:pt idx="1">
                    <c:v>802</c:v>
                  </c:pt>
                  <c:pt idx="2">
                    <c:v>803</c:v>
                  </c:pt>
                  <c:pt idx="3">
                    <c:v>804</c:v>
                  </c:pt>
                  <c:pt idx="4">
                    <c:v>805</c:v>
                  </c:pt>
                  <c:pt idx="5">
                    <c:v>806</c:v>
                  </c:pt>
                  <c:pt idx="6">
                    <c:v>807</c:v>
                  </c:pt>
                  <c:pt idx="7">
                    <c:v>808</c:v>
                  </c:pt>
                  <c:pt idx="8">
                    <c:v>809</c:v>
                  </c:pt>
                  <c:pt idx="9">
                    <c:v>810</c:v>
                  </c:pt>
                  <c:pt idx="10">
                    <c:v>811</c:v>
                  </c:pt>
                  <c:pt idx="11">
                    <c:v>812</c:v>
                  </c:pt>
                  <c:pt idx="12">
                    <c:v>813</c:v>
                  </c:pt>
                  <c:pt idx="13">
                    <c:v>814</c:v>
                  </c:pt>
                  <c:pt idx="14">
                    <c:v>815</c:v>
                  </c:pt>
                  <c:pt idx="15">
                    <c:v>816</c:v>
                  </c:pt>
                  <c:pt idx="16">
                    <c:v>817</c:v>
                  </c:pt>
                  <c:pt idx="17">
                    <c:v>818</c:v>
                  </c:pt>
                  <c:pt idx="18">
                    <c:v>819</c:v>
                  </c:pt>
                  <c:pt idx="19">
                    <c:v>820</c:v>
                  </c:pt>
                  <c:pt idx="20">
                    <c:v>821</c:v>
                  </c:pt>
                  <c:pt idx="21">
                    <c:v>822</c:v>
                  </c:pt>
                  <c:pt idx="22">
                    <c:v>823</c:v>
                  </c:pt>
                  <c:pt idx="23">
                    <c:v>824</c:v>
                  </c:pt>
                  <c:pt idx="24">
                    <c:v>825</c:v>
                  </c:pt>
                  <c:pt idx="25">
                    <c:v>826</c:v>
                  </c:pt>
                  <c:pt idx="26">
                    <c:v>827</c:v>
                  </c:pt>
                  <c:pt idx="27">
                    <c:v>828</c:v>
                  </c:pt>
                  <c:pt idx="28">
                    <c:v>829</c:v>
                  </c:pt>
                  <c:pt idx="29">
                    <c:v>830</c:v>
                  </c:pt>
                  <c:pt idx="30">
                    <c:v>831</c:v>
                  </c:pt>
                  <c:pt idx="31">
                    <c:v>832</c:v>
                  </c:pt>
                  <c:pt idx="32">
                    <c:v>833</c:v>
                  </c:pt>
                  <c:pt idx="33">
                    <c:v>834</c:v>
                  </c:pt>
                  <c:pt idx="34">
                    <c:v>835</c:v>
                  </c:pt>
                  <c:pt idx="35">
                    <c:v>836</c:v>
                  </c:pt>
                  <c:pt idx="36">
                    <c:v>837</c:v>
                  </c:pt>
                  <c:pt idx="37">
                    <c:v>838</c:v>
                  </c:pt>
                  <c:pt idx="38">
                    <c:v>839</c:v>
                  </c:pt>
                  <c:pt idx="39">
                    <c:v>840</c:v>
                  </c:pt>
                  <c:pt idx="40">
                    <c:v>841</c:v>
                  </c:pt>
                  <c:pt idx="41">
                    <c:v>842</c:v>
                  </c:pt>
                  <c:pt idx="42">
                    <c:v>843</c:v>
                  </c:pt>
                  <c:pt idx="43">
                    <c:v>844</c:v>
                  </c:pt>
                  <c:pt idx="44">
                    <c:v>845</c:v>
                  </c:pt>
                  <c:pt idx="45">
                    <c:v>846</c:v>
                  </c:pt>
                  <c:pt idx="46">
                    <c:v>847</c:v>
                  </c:pt>
                  <c:pt idx="47">
                    <c:v>848</c:v>
                  </c:pt>
                  <c:pt idx="48">
                    <c:v>849</c:v>
                  </c:pt>
                  <c:pt idx="49">
                    <c:v>850</c:v>
                  </c:pt>
                </c:lvl>
              </c:multiLvlStrCache>
            </c:multiLvlStrRef>
          </c:cat>
          <c:val>
            <c:numRef>
              <c:f>Sheet1!$B$2:$B$51</c:f>
              <c:numCache>
                <c:formatCode>General</c:formatCode>
                <c:ptCount val="50"/>
                <c:pt idx="0">
                  <c:v>0</c:v>
                </c:pt>
                <c:pt idx="1">
                  <c:v>0.657</c:v>
                </c:pt>
                <c:pt idx="2">
                  <c:v>0</c:v>
                </c:pt>
                <c:pt idx="3">
                  <c:v>0</c:v>
                </c:pt>
                <c:pt idx="4">
                  <c:v>0.6279</c:v>
                </c:pt>
                <c:pt idx="5">
                  <c:v>0.6217</c:v>
                </c:pt>
                <c:pt idx="6">
                  <c:v>0</c:v>
                </c:pt>
                <c:pt idx="7">
                  <c:v>0.5302</c:v>
                </c:pt>
                <c:pt idx="8">
                  <c:v>0</c:v>
                </c:pt>
                <c:pt idx="9">
                  <c:v>0</c:v>
                </c:pt>
                <c:pt idx="10">
                  <c:v>0.6338</c:v>
                </c:pt>
                <c:pt idx="11">
                  <c:v>0.6187</c:v>
                </c:pt>
                <c:pt idx="12">
                  <c:v>0.5515</c:v>
                </c:pt>
                <c:pt idx="13">
                  <c:v>0</c:v>
                </c:pt>
                <c:pt idx="14">
                  <c:v>0.5691</c:v>
                </c:pt>
                <c:pt idx="15">
                  <c:v>0</c:v>
                </c:pt>
                <c:pt idx="16">
                  <c:v>0</c:v>
                </c:pt>
                <c:pt idx="17">
                  <c:v>0</c:v>
                </c:pt>
                <c:pt idx="18">
                  <c:v>0</c:v>
                </c:pt>
                <c:pt idx="19">
                  <c:v>0.5435</c:v>
                </c:pt>
                <c:pt idx="20">
                  <c:v>0.5877</c:v>
                </c:pt>
                <c:pt idx="21">
                  <c:v>0</c:v>
                </c:pt>
                <c:pt idx="22">
                  <c:v>0</c:v>
                </c:pt>
                <c:pt idx="23">
                  <c:v>0</c:v>
                </c:pt>
                <c:pt idx="24">
                  <c:v>0</c:v>
                </c:pt>
                <c:pt idx="25">
                  <c:v>0</c:v>
                </c:pt>
                <c:pt idx="26">
                  <c:v>0</c:v>
                </c:pt>
                <c:pt idx="27">
                  <c:v>0.5201</c:v>
                </c:pt>
                <c:pt idx="28">
                  <c:v>0.5614</c:v>
                </c:pt>
                <c:pt idx="29">
                  <c:v>0</c:v>
                </c:pt>
                <c:pt idx="30">
                  <c:v>0</c:v>
                </c:pt>
                <c:pt idx="31">
                  <c:v>0.6034</c:v>
                </c:pt>
                <c:pt idx="32">
                  <c:v>0.6409</c:v>
                </c:pt>
                <c:pt idx="33">
                  <c:v>0</c:v>
                </c:pt>
                <c:pt idx="34">
                  <c:v>0</c:v>
                </c:pt>
                <c:pt idx="35">
                  <c:v>0</c:v>
                </c:pt>
                <c:pt idx="36">
                  <c:v>0</c:v>
                </c:pt>
                <c:pt idx="37">
                  <c:v>0.5328</c:v>
                </c:pt>
                <c:pt idx="38">
                  <c:v>0.5851</c:v>
                </c:pt>
                <c:pt idx="39">
                  <c:v>0.5133</c:v>
                </c:pt>
                <c:pt idx="40">
                  <c:v>0</c:v>
                </c:pt>
                <c:pt idx="41">
                  <c:v>0.5082</c:v>
                </c:pt>
                <c:pt idx="42">
                  <c:v>0</c:v>
                </c:pt>
                <c:pt idx="43">
                  <c:v>0</c:v>
                </c:pt>
                <c:pt idx="44">
                  <c:v>0</c:v>
                </c:pt>
                <c:pt idx="45">
                  <c:v>0.5696</c:v>
                </c:pt>
                <c:pt idx="46">
                  <c:v>0</c:v>
                </c:pt>
                <c:pt idx="47">
                  <c:v>0</c:v>
                </c:pt>
                <c:pt idx="48">
                  <c:v>0</c:v>
                </c:pt>
                <c:pt idx="49">
                  <c:v>0.6105</c:v>
                </c:pt>
              </c:numCache>
            </c:numRef>
          </c:val>
        </c:ser>
        <c:ser>
          <c:idx val="1"/>
          <c:order val="1"/>
          <c:tx>
            <c:strRef>
              <c:f>Sheet1!$C$1</c:f>
              <c:strCache>
                <c:ptCount val="1"/>
                <c:pt idx="0">
                  <c:v>DOWN (0)</c:v>
                </c:pt>
              </c:strCache>
            </c:strRef>
          </c:tx>
          <c:spPr>
            <a:solidFill>
              <a:srgbClr val="D9962B"/>
            </a:solidFill>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cat>
            <c:multiLvlStrRef>
              <c:f>Sheet1!$A$2:$A$51</c:f>
              <c:multiLvlStrCache>
                <c:ptCount val="50"/>
                <c:lvl>
                  <c:pt idx="0">
                    <c:v>801</c:v>
                  </c:pt>
                  <c:pt idx="1">
                    <c:v>802</c:v>
                  </c:pt>
                  <c:pt idx="2">
                    <c:v>803</c:v>
                  </c:pt>
                  <c:pt idx="3">
                    <c:v>804</c:v>
                  </c:pt>
                  <c:pt idx="4">
                    <c:v>805</c:v>
                  </c:pt>
                  <c:pt idx="5">
                    <c:v>806</c:v>
                  </c:pt>
                  <c:pt idx="6">
                    <c:v>807</c:v>
                  </c:pt>
                  <c:pt idx="7">
                    <c:v>808</c:v>
                  </c:pt>
                  <c:pt idx="8">
                    <c:v>809</c:v>
                  </c:pt>
                  <c:pt idx="9">
                    <c:v>810</c:v>
                  </c:pt>
                  <c:pt idx="10">
                    <c:v>811</c:v>
                  </c:pt>
                  <c:pt idx="11">
                    <c:v>812</c:v>
                  </c:pt>
                  <c:pt idx="12">
                    <c:v>813</c:v>
                  </c:pt>
                  <c:pt idx="13">
                    <c:v>814</c:v>
                  </c:pt>
                  <c:pt idx="14">
                    <c:v>815</c:v>
                  </c:pt>
                  <c:pt idx="15">
                    <c:v>816</c:v>
                  </c:pt>
                  <c:pt idx="16">
                    <c:v>817</c:v>
                  </c:pt>
                  <c:pt idx="17">
                    <c:v>818</c:v>
                  </c:pt>
                  <c:pt idx="18">
                    <c:v>819</c:v>
                  </c:pt>
                  <c:pt idx="19">
                    <c:v>820</c:v>
                  </c:pt>
                  <c:pt idx="20">
                    <c:v>821</c:v>
                  </c:pt>
                  <c:pt idx="21">
                    <c:v>822</c:v>
                  </c:pt>
                  <c:pt idx="22">
                    <c:v>823</c:v>
                  </c:pt>
                  <c:pt idx="23">
                    <c:v>824</c:v>
                  </c:pt>
                  <c:pt idx="24">
                    <c:v>825</c:v>
                  </c:pt>
                  <c:pt idx="25">
                    <c:v>826</c:v>
                  </c:pt>
                  <c:pt idx="26">
                    <c:v>827</c:v>
                  </c:pt>
                  <c:pt idx="27">
                    <c:v>828</c:v>
                  </c:pt>
                  <c:pt idx="28">
                    <c:v>829</c:v>
                  </c:pt>
                  <c:pt idx="29">
                    <c:v>830</c:v>
                  </c:pt>
                  <c:pt idx="30">
                    <c:v>831</c:v>
                  </c:pt>
                  <c:pt idx="31">
                    <c:v>832</c:v>
                  </c:pt>
                  <c:pt idx="32">
                    <c:v>833</c:v>
                  </c:pt>
                  <c:pt idx="33">
                    <c:v>834</c:v>
                  </c:pt>
                  <c:pt idx="34">
                    <c:v>835</c:v>
                  </c:pt>
                  <c:pt idx="35">
                    <c:v>836</c:v>
                  </c:pt>
                  <c:pt idx="36">
                    <c:v>837</c:v>
                  </c:pt>
                  <c:pt idx="37">
                    <c:v>838</c:v>
                  </c:pt>
                  <c:pt idx="38">
                    <c:v>839</c:v>
                  </c:pt>
                  <c:pt idx="39">
                    <c:v>840</c:v>
                  </c:pt>
                  <c:pt idx="40">
                    <c:v>841</c:v>
                  </c:pt>
                  <c:pt idx="41">
                    <c:v>842</c:v>
                  </c:pt>
                  <c:pt idx="42">
                    <c:v>843</c:v>
                  </c:pt>
                  <c:pt idx="43">
                    <c:v>844</c:v>
                  </c:pt>
                  <c:pt idx="44">
                    <c:v>845</c:v>
                  </c:pt>
                  <c:pt idx="45">
                    <c:v>846</c:v>
                  </c:pt>
                  <c:pt idx="46">
                    <c:v>847</c:v>
                  </c:pt>
                  <c:pt idx="47">
                    <c:v>848</c:v>
                  </c:pt>
                  <c:pt idx="48">
                    <c:v>849</c:v>
                  </c:pt>
                  <c:pt idx="49">
                    <c:v>850</c:v>
                  </c:pt>
                </c:lvl>
              </c:multiLvlStrCache>
            </c:multiLvlStrRef>
          </c:cat>
          <c:val>
            <c:numRef>
              <c:f>Sheet1!$C$2:$C$51</c:f>
              <c:numCache>
                <c:formatCode>General</c:formatCode>
                <c:ptCount val="50"/>
                <c:pt idx="0">
                  <c:v>0.5215</c:v>
                </c:pt>
                <c:pt idx="1">
                  <c:v>0</c:v>
                </c:pt>
                <c:pt idx="2">
                  <c:v>0.5227</c:v>
                </c:pt>
                <c:pt idx="3">
                  <c:v>0.5149</c:v>
                </c:pt>
                <c:pt idx="4">
                  <c:v>0</c:v>
                </c:pt>
                <c:pt idx="5">
                  <c:v>0</c:v>
                </c:pt>
                <c:pt idx="6">
                  <c:v>0.5529</c:v>
                </c:pt>
                <c:pt idx="7">
                  <c:v>0</c:v>
                </c:pt>
                <c:pt idx="8">
                  <c:v>0.6283</c:v>
                </c:pt>
                <c:pt idx="9">
                  <c:v>0.5698</c:v>
                </c:pt>
                <c:pt idx="10">
                  <c:v>0</c:v>
                </c:pt>
                <c:pt idx="11">
                  <c:v>0</c:v>
                </c:pt>
                <c:pt idx="12">
                  <c:v>0</c:v>
                </c:pt>
                <c:pt idx="13">
                  <c:v>0.5882</c:v>
                </c:pt>
                <c:pt idx="14">
                  <c:v>0</c:v>
                </c:pt>
                <c:pt idx="15">
                  <c:v>0.5167</c:v>
                </c:pt>
                <c:pt idx="16">
                  <c:v>0.5801</c:v>
                </c:pt>
                <c:pt idx="17">
                  <c:v>0.5062</c:v>
                </c:pt>
                <c:pt idx="18">
                  <c:v>0.619</c:v>
                </c:pt>
                <c:pt idx="19">
                  <c:v>0</c:v>
                </c:pt>
                <c:pt idx="20">
                  <c:v>0</c:v>
                </c:pt>
                <c:pt idx="21">
                  <c:v>0.544</c:v>
                </c:pt>
                <c:pt idx="22">
                  <c:v>0.6358</c:v>
                </c:pt>
                <c:pt idx="23">
                  <c:v>0.5652</c:v>
                </c:pt>
                <c:pt idx="24">
                  <c:v>0.5216</c:v>
                </c:pt>
                <c:pt idx="25">
                  <c:v>0.557</c:v>
                </c:pt>
                <c:pt idx="26">
                  <c:v>0.5972</c:v>
                </c:pt>
                <c:pt idx="27">
                  <c:v>0</c:v>
                </c:pt>
                <c:pt idx="28">
                  <c:v>0</c:v>
                </c:pt>
                <c:pt idx="29">
                  <c:v>0.747</c:v>
                </c:pt>
                <c:pt idx="30">
                  <c:v>0.5058</c:v>
                </c:pt>
                <c:pt idx="31">
                  <c:v>0</c:v>
                </c:pt>
                <c:pt idx="32">
                  <c:v>0</c:v>
                </c:pt>
                <c:pt idx="33">
                  <c:v>0.6215</c:v>
                </c:pt>
                <c:pt idx="34">
                  <c:v>0.5767</c:v>
                </c:pt>
                <c:pt idx="35">
                  <c:v>0.6248</c:v>
                </c:pt>
                <c:pt idx="36">
                  <c:v>0.6224</c:v>
                </c:pt>
                <c:pt idx="37">
                  <c:v>0</c:v>
                </c:pt>
                <c:pt idx="38">
                  <c:v>0</c:v>
                </c:pt>
                <c:pt idx="39">
                  <c:v>0</c:v>
                </c:pt>
                <c:pt idx="40">
                  <c:v>0.5704</c:v>
                </c:pt>
                <c:pt idx="41">
                  <c:v>0</c:v>
                </c:pt>
                <c:pt idx="42">
                  <c:v>0.513</c:v>
                </c:pt>
                <c:pt idx="43">
                  <c:v>0.5735</c:v>
                </c:pt>
                <c:pt idx="44">
                  <c:v>0.543</c:v>
                </c:pt>
                <c:pt idx="45">
                  <c:v>0</c:v>
                </c:pt>
                <c:pt idx="46">
                  <c:v>0.5662</c:v>
                </c:pt>
                <c:pt idx="47">
                  <c:v>0.7203</c:v>
                </c:pt>
                <c:pt idx="48">
                  <c:v>0.5632</c:v>
                </c:pt>
                <c:pt idx="49">
                  <c:v>0</c:v>
                </c:pt>
              </c:numCache>
            </c:numRef>
          </c:val>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tickLblSkip val="5"/>
      </c:catAx>
      <c:valAx>
        <c:axId val="2094734552"/>
        <c:scaling>
          <c:orientation val="minMax"/>
          <c:max val="0.8"/>
          <c:min val="0.5"/>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566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Close given</c:v>
                </c:pt>
              </c:strCache>
            </c:strRef>
          </c:tx>
          <c:spPr>
            <a:solidFill>
              <a:srgbClr val="1F6F6B"/>
            </a:solidFill>
            <a:ln w="25400" cap="flat">
              <a:solidFill>
                <a:srgbClr val="1F6F6B"/>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1F6F6B"/>
              </a:solidFill>
              <a:ln w="9525" cap="flat">
                <a:solidFill>
                  <a:srgbClr val="1F6F6B"/>
                </a:solidFill>
                <a:prstDash val="solid"/>
                <a:round/>
              </a:ln>
              <a:effectLst/>
            </c:spPr>
          </c:marker>
          <c:cat>
            <c:multiLvlStrRef>
              <c:f>Sheet1!$A$2:$A$142</c:f>
              <c:multiLvlStrCache>
                <c:ptCount val="141"/>
                <c:lvl>
                  <c:pt idx="0">
                    <c:v>760</c:v>
                  </c:pt>
                  <c:pt idx="1">
                    <c:v>761</c:v>
                  </c:pt>
                  <c:pt idx="2">
                    <c:v>762</c:v>
                  </c:pt>
                  <c:pt idx="3">
                    <c:v>763</c:v>
                  </c:pt>
                  <c:pt idx="4">
                    <c:v>764</c:v>
                  </c:pt>
                  <c:pt idx="5">
                    <c:v>765</c:v>
                  </c:pt>
                  <c:pt idx="6">
                    <c:v>766</c:v>
                  </c:pt>
                  <c:pt idx="7">
                    <c:v>767</c:v>
                  </c:pt>
                  <c:pt idx="8">
                    <c:v>768</c:v>
                  </c:pt>
                  <c:pt idx="9">
                    <c:v>769</c:v>
                  </c:pt>
                  <c:pt idx="10">
                    <c:v>770</c:v>
                  </c:pt>
                  <c:pt idx="11">
                    <c:v>771</c:v>
                  </c:pt>
                  <c:pt idx="12">
                    <c:v>772</c:v>
                  </c:pt>
                  <c:pt idx="13">
                    <c:v>773</c:v>
                  </c:pt>
                  <c:pt idx="14">
                    <c:v>774</c:v>
                  </c:pt>
                  <c:pt idx="15">
                    <c:v>775</c:v>
                  </c:pt>
                  <c:pt idx="16">
                    <c:v>776</c:v>
                  </c:pt>
                  <c:pt idx="17">
                    <c:v>777</c:v>
                  </c:pt>
                  <c:pt idx="18">
                    <c:v>778</c:v>
                  </c:pt>
                  <c:pt idx="19">
                    <c:v>779</c:v>
                  </c:pt>
                  <c:pt idx="20">
                    <c:v>780</c:v>
                  </c:pt>
                  <c:pt idx="21">
                    <c:v>781</c:v>
                  </c:pt>
                  <c:pt idx="22">
                    <c:v>782</c:v>
                  </c:pt>
                  <c:pt idx="23">
                    <c:v>783</c:v>
                  </c:pt>
                  <c:pt idx="24">
                    <c:v>784</c:v>
                  </c:pt>
                  <c:pt idx="25">
                    <c:v>785</c:v>
                  </c:pt>
                  <c:pt idx="26">
                    <c:v>786</c:v>
                  </c:pt>
                  <c:pt idx="27">
                    <c:v>787</c:v>
                  </c:pt>
                  <c:pt idx="28">
                    <c:v>788</c:v>
                  </c:pt>
                  <c:pt idx="29">
                    <c:v>789</c:v>
                  </c:pt>
                  <c:pt idx="30">
                    <c:v>790</c:v>
                  </c:pt>
                  <c:pt idx="31">
                    <c:v>791</c:v>
                  </c:pt>
                  <c:pt idx="32">
                    <c:v>792</c:v>
                  </c:pt>
                  <c:pt idx="33">
                    <c:v>793</c:v>
                  </c:pt>
                  <c:pt idx="34">
                    <c:v>794</c:v>
                  </c:pt>
                  <c:pt idx="35">
                    <c:v>795</c:v>
                  </c:pt>
                  <c:pt idx="36">
                    <c:v>796</c:v>
                  </c:pt>
                  <c:pt idx="37">
                    <c:v>797</c:v>
                  </c:pt>
                  <c:pt idx="38">
                    <c:v>798</c:v>
                  </c:pt>
                  <c:pt idx="39">
                    <c:v>799</c:v>
                  </c:pt>
                  <c:pt idx="40">
                    <c:v>800</c:v>
                  </c:pt>
                  <c:pt idx="41">
                    <c:v>801</c:v>
                  </c:pt>
                  <c:pt idx="42">
                    <c:v>802</c:v>
                  </c:pt>
                  <c:pt idx="43">
                    <c:v>803</c:v>
                  </c:pt>
                  <c:pt idx="44">
                    <c:v>804</c:v>
                  </c:pt>
                  <c:pt idx="45">
                    <c:v>805</c:v>
                  </c:pt>
                  <c:pt idx="46">
                    <c:v>806</c:v>
                  </c:pt>
                  <c:pt idx="47">
                    <c:v>807</c:v>
                  </c:pt>
                  <c:pt idx="48">
                    <c:v>808</c:v>
                  </c:pt>
                  <c:pt idx="49">
                    <c:v>809</c:v>
                  </c:pt>
                  <c:pt idx="50">
                    <c:v>810</c:v>
                  </c:pt>
                  <c:pt idx="51">
                    <c:v>811</c:v>
                  </c:pt>
                  <c:pt idx="52">
                    <c:v>812</c:v>
                  </c:pt>
                  <c:pt idx="53">
                    <c:v>813</c:v>
                  </c:pt>
                  <c:pt idx="54">
                    <c:v>814</c:v>
                  </c:pt>
                  <c:pt idx="55">
                    <c:v>815</c:v>
                  </c:pt>
                  <c:pt idx="56">
                    <c:v>816</c:v>
                  </c:pt>
                  <c:pt idx="57">
                    <c:v>817</c:v>
                  </c:pt>
                  <c:pt idx="58">
                    <c:v>818</c:v>
                  </c:pt>
                  <c:pt idx="59">
                    <c:v>819</c:v>
                  </c:pt>
                  <c:pt idx="60">
                    <c:v>820</c:v>
                  </c:pt>
                  <c:pt idx="61">
                    <c:v>821</c:v>
                  </c:pt>
                  <c:pt idx="62">
                    <c:v>822</c:v>
                  </c:pt>
                  <c:pt idx="63">
                    <c:v>823</c:v>
                  </c:pt>
                  <c:pt idx="64">
                    <c:v>824</c:v>
                  </c:pt>
                  <c:pt idx="65">
                    <c:v>825</c:v>
                  </c:pt>
                  <c:pt idx="66">
                    <c:v>826</c:v>
                  </c:pt>
                  <c:pt idx="67">
                    <c:v>827</c:v>
                  </c:pt>
                  <c:pt idx="68">
                    <c:v>828</c:v>
                  </c:pt>
                  <c:pt idx="69">
                    <c:v>829</c:v>
                  </c:pt>
                  <c:pt idx="70">
                    <c:v>830</c:v>
                  </c:pt>
                  <c:pt idx="71">
                    <c:v>831</c:v>
                  </c:pt>
                  <c:pt idx="72">
                    <c:v>832</c:v>
                  </c:pt>
                  <c:pt idx="73">
                    <c:v>833</c:v>
                  </c:pt>
                  <c:pt idx="74">
                    <c:v>834</c:v>
                  </c:pt>
                  <c:pt idx="75">
                    <c:v>835</c:v>
                  </c:pt>
                  <c:pt idx="76">
                    <c:v>836</c:v>
                  </c:pt>
                  <c:pt idx="77">
                    <c:v>837</c:v>
                  </c:pt>
                  <c:pt idx="78">
                    <c:v>838</c:v>
                  </c:pt>
                  <c:pt idx="79">
                    <c:v>839</c:v>
                  </c:pt>
                  <c:pt idx="80">
                    <c:v>840</c:v>
                  </c:pt>
                  <c:pt idx="81">
                    <c:v>841</c:v>
                  </c:pt>
                  <c:pt idx="82">
                    <c:v>842</c:v>
                  </c:pt>
                  <c:pt idx="83">
                    <c:v>843</c:v>
                  </c:pt>
                  <c:pt idx="84">
                    <c:v>844</c:v>
                  </c:pt>
                  <c:pt idx="85">
                    <c:v>845</c:v>
                  </c:pt>
                  <c:pt idx="86">
                    <c:v>846</c:v>
                  </c:pt>
                  <c:pt idx="87">
                    <c:v>847</c:v>
                  </c:pt>
                  <c:pt idx="88">
                    <c:v>848</c:v>
                  </c:pt>
                  <c:pt idx="89">
                    <c:v>849</c:v>
                  </c:pt>
                  <c:pt idx="90">
                    <c:v>850</c:v>
                  </c:pt>
                  <c:pt idx="91">
                    <c:v>851</c:v>
                  </c:pt>
                  <c:pt idx="92">
                    <c:v>852</c:v>
                  </c:pt>
                  <c:pt idx="93">
                    <c:v>853</c:v>
                  </c:pt>
                  <c:pt idx="94">
                    <c:v>854</c:v>
                  </c:pt>
                  <c:pt idx="95">
                    <c:v>855</c:v>
                  </c:pt>
                  <c:pt idx="96">
                    <c:v>856</c:v>
                  </c:pt>
                  <c:pt idx="97">
                    <c:v>857</c:v>
                  </c:pt>
                  <c:pt idx="98">
                    <c:v>858</c:v>
                  </c:pt>
                  <c:pt idx="99">
                    <c:v>859</c:v>
                  </c:pt>
                  <c:pt idx="100">
                    <c:v>860</c:v>
                  </c:pt>
                  <c:pt idx="101">
                    <c:v>861</c:v>
                  </c:pt>
                  <c:pt idx="102">
                    <c:v>862</c:v>
                  </c:pt>
                  <c:pt idx="103">
                    <c:v>863</c:v>
                  </c:pt>
                  <c:pt idx="104">
                    <c:v>864</c:v>
                  </c:pt>
                  <c:pt idx="105">
                    <c:v>865</c:v>
                  </c:pt>
                  <c:pt idx="106">
                    <c:v>866</c:v>
                  </c:pt>
                  <c:pt idx="107">
                    <c:v>867</c:v>
                  </c:pt>
                  <c:pt idx="108">
                    <c:v>868</c:v>
                  </c:pt>
                  <c:pt idx="109">
                    <c:v>869</c:v>
                  </c:pt>
                  <c:pt idx="110">
                    <c:v>870</c:v>
                  </c:pt>
                  <c:pt idx="111">
                    <c:v>871</c:v>
                  </c:pt>
                  <c:pt idx="112">
                    <c:v>872</c:v>
                  </c:pt>
                  <c:pt idx="113">
                    <c:v>873</c:v>
                  </c:pt>
                  <c:pt idx="114">
                    <c:v>874</c:v>
                  </c:pt>
                  <c:pt idx="115">
                    <c:v>875</c:v>
                  </c:pt>
                  <c:pt idx="116">
                    <c:v>876</c:v>
                  </c:pt>
                  <c:pt idx="117">
                    <c:v>877</c:v>
                  </c:pt>
                  <c:pt idx="118">
                    <c:v>878</c:v>
                  </c:pt>
                  <c:pt idx="119">
                    <c:v>879</c:v>
                  </c:pt>
                  <c:pt idx="120">
                    <c:v>880</c:v>
                  </c:pt>
                  <c:pt idx="121">
                    <c:v>881</c:v>
                  </c:pt>
                  <c:pt idx="122">
                    <c:v>882</c:v>
                  </c:pt>
                  <c:pt idx="123">
                    <c:v>883</c:v>
                  </c:pt>
                  <c:pt idx="124">
                    <c:v>884</c:v>
                  </c:pt>
                  <c:pt idx="125">
                    <c:v>885</c:v>
                  </c:pt>
                  <c:pt idx="126">
                    <c:v>886</c:v>
                  </c:pt>
                  <c:pt idx="127">
                    <c:v>887</c:v>
                  </c:pt>
                  <c:pt idx="128">
                    <c:v>888</c:v>
                  </c:pt>
                  <c:pt idx="129">
                    <c:v>889</c:v>
                  </c:pt>
                  <c:pt idx="130">
                    <c:v>890</c:v>
                  </c:pt>
                  <c:pt idx="131">
                    <c:v>891</c:v>
                  </c:pt>
                  <c:pt idx="132">
                    <c:v>892</c:v>
                  </c:pt>
                  <c:pt idx="133">
                    <c:v>893</c:v>
                  </c:pt>
                  <c:pt idx="134">
                    <c:v>894</c:v>
                  </c:pt>
                  <c:pt idx="135">
                    <c:v>895</c:v>
                  </c:pt>
                  <c:pt idx="136">
                    <c:v>896</c:v>
                  </c:pt>
                  <c:pt idx="137">
                    <c:v>897</c:v>
                  </c:pt>
                  <c:pt idx="138">
                    <c:v>898</c:v>
                  </c:pt>
                  <c:pt idx="139">
                    <c:v>899</c:v>
                  </c:pt>
                  <c:pt idx="140">
                    <c:v>900</c:v>
                  </c:pt>
                </c:lvl>
              </c:multiLvlStrCache>
            </c:multiLvlStrRef>
          </c:cat>
          <c:val>
            <c:numRef>
              <c:f>Sheet1!$B$2:$B$142</c:f>
              <c:numCache>
                <c:formatCode>General</c:formatCode>
                <c:ptCount val="141"/>
                <c:pt idx="0">
                  <c:v>349.13</c:v>
                </c:pt>
                <c:pt idx="1">
                  <c:v>351.56</c:v>
                </c:pt>
                <c:pt idx="2">
                  <c:v>350.88</c:v>
                </c:pt>
                <c:pt idx="3">
                  <c:v>350.66</c:v>
                </c:pt>
                <c:pt idx="4">
                  <c:v>345.63</c:v>
                </c:pt>
                <c:pt idx="5">
                  <c:v>341.88</c:v>
                </c:pt>
                <c:pt idx="6">
                  <c:v>343.26</c:v>
                </c:pt>
                <c:pt idx="7">
                  <c:v>347.52</c:v>
                </c:pt>
                <c:pt idx="8">
                  <c:v>347.05</c:v>
                </c:pt>
                <c:pt idx="9">
                  <c:v>343.78</c:v>
                </c:pt>
                <c:pt idx="10">
                  <c:v>340.6</c:v>
                </c:pt>
                <c:pt idx="11">
                  <c:v>340</c:v>
                </c:pt>
                <c:pt idx="12">
                  <c:v>338.16</c:v>
                </c:pt>
                <c:pt idx="13">
                  <c:v>333.47</c:v>
                </c:pt>
                <c:pt idx="14">
                  <c:v>346.33</c:v>
                </c:pt>
                <c:pt idx="15">
                  <c:v>352.76</c:v>
                </c:pt>
                <c:pt idx="16">
                  <c:v>348.55</c:v>
                </c:pt>
                <c:pt idx="17">
                  <c:v>350.42</c:v>
                </c:pt>
                <c:pt idx="18">
                  <c:v>352.55</c:v>
                </c:pt>
                <c:pt idx="19">
                  <c:v>355.88</c:v>
                </c:pt>
                <c:pt idx="20">
                  <c:v>353.66</c:v>
                </c:pt>
                <c:pt idx="21">
                  <c:v>350.68</c:v>
                </c:pt>
                <c:pt idx="22">
                  <c:v>350.07</c:v>
                </c:pt>
                <c:pt idx="23">
                  <c:v>348.93</c:v>
                </c:pt>
                <c:pt idx="24">
                  <c:v>351.58</c:v>
                </c:pt>
                <c:pt idx="25">
                  <c:v>355.01</c:v>
                </c:pt>
                <c:pt idx="26">
                  <c:v>355.3</c:v>
                </c:pt>
                <c:pt idx="27">
                  <c:v>351.56</c:v>
                </c:pt>
                <c:pt idx="28">
                  <c:v>353.87</c:v>
                </c:pt>
                <c:pt idx="29">
                  <c:v>351.85</c:v>
                </c:pt>
                <c:pt idx="30">
                  <c:v>352.41</c:v>
                </c:pt>
                <c:pt idx="31">
                  <c:v>353.92</c:v>
                </c:pt>
                <c:pt idx="32">
                  <c:v>350.76</c:v>
                </c:pt>
                <c:pt idx="33">
                  <c:v>353.14</c:v>
                </c:pt>
                <c:pt idx="34">
                  <c:v>360.55</c:v>
                </c:pt>
                <c:pt idx="35">
                  <c:v>353.88</c:v>
                </c:pt>
                <c:pt idx="36">
                  <c:v>349.89</c:v>
                </c:pt>
                <c:pt idx="37">
                  <c:v>347.53</c:v>
                </c:pt>
                <c:pt idx="38">
                  <c:v>344.55</c:v>
                </c:pt>
                <c:pt idx="39">
                  <c:v>348.41</c:v>
                </c:pt>
                <c:pt idx="40">
                  <c:v>353.06</c:v>
                </c:pt>
                <c:pt idx="41">
                  <c:v>343.41</c:v>
                </c:pt>
                <c:pt idx="42">
                  <c:v>350.36</c:v>
                </c:pt>
                <c:pt idx="43">
                  <c:v>346.69</c:v>
                </c:pt>
                <c:pt idx="44">
                  <c:v>346.35</c:v>
                </c:pt>
                <c:pt idx="45">
                  <c:v>351.63</c:v>
                </c:pt>
                <c:pt idx="46">
                  <c:v>352.92</c:v>
                </c:pt>
                <c:pt idx="47">
                  <c:v>358.69</c:v>
                </c:pt>
                <c:pt idx="48">
                  <c:v>359.57</c:v>
                </c:pt>
                <c:pt idx="49">
                  <c:v>354.03</c:v>
                </c:pt>
                <c:pt idx="50">
                  <c:v>352.58</c:v>
                </c:pt>
                <c:pt idx="51">
                  <c:v>348.61</c:v>
                </c:pt>
                <c:pt idx="52">
                  <c:v>350.24</c:v>
                </c:pt>
                <c:pt idx="53">
                  <c:v>352.2</c:v>
                </c:pt>
                <c:pt idx="54">
                  <c:v>349.91</c:v>
                </c:pt>
                <c:pt idx="55">
                  <c:v>355.88</c:v>
                </c:pt>
                <c:pt idx="56">
                  <c:v>356.66</c:v>
                </c:pt>
                <c:pt idx="57">
                  <c:v>365.54</c:v>
                </c:pt>
                <c:pt idx="58">
                  <c:v>364.15</c:v>
                </c:pt>
                <c:pt idx="59">
                  <c:v>357.78</c:v>
                </c:pt>
                <c:pt idx="60">
                  <c:v>358.31</c:v>
                </c:pt>
                <c:pt idx="61">
                  <c:v>362.68</c:v>
                </c:pt>
                <c:pt idx="62">
                  <c:v>365.89</c:v>
                </c:pt>
                <c:pt idx="63">
                  <c:v>367.2</c:v>
                </c:pt>
                <c:pt idx="64">
                  <c:v>363.21</c:v>
                </c:pt>
                <c:pt idx="65">
                  <c:v>365.42</c:v>
                </c:pt>
                <c:pt idx="66">
                  <c:v>363.38</c:v>
                </c:pt>
                <c:pt idx="67">
                  <c:v>359.97</c:v>
                </c:pt>
                <c:pt idx="68">
                  <c:v>365.26</c:v>
                </c:pt>
                <c:pt idx="69">
                  <c:v>370.93</c:v>
                </c:pt>
                <c:pt idx="70">
                  <c:v>368.14</c:v>
                </c:pt>
                <c:pt idx="71">
                  <c:v>368.58</c:v>
                </c:pt>
                <c:pt idx="72">
                  <c:v>370.44</c:v>
                </c:pt>
                <c:pt idx="73">
                  <c:v>385.94</c:v>
                </c:pt>
                <c:pt idx="74">
                  <c:v>389.64</c:v>
                </c:pt>
                <c:pt idx="75">
                  <c:v>392.53</c:v>
                </c:pt>
                <c:pt idx="76">
                  <c:v>388.64</c:v>
                </c:pt>
                <c:pt idx="77">
                  <c:v>386.79</c:v>
                </c:pt>
                <c:pt idx="78">
                  <c:v>382.79</c:v>
                </c:pt>
                <c:pt idx="79">
                  <c:v>388.13</c:v>
                </c:pt>
                <c:pt idx="80">
                  <c:v>393.98</c:v>
                </c:pt>
                <c:pt idx="81">
                  <c:v>392.31</c:v>
                </c:pt>
                <c:pt idx="82">
                  <c:v>399.49</c:v>
                </c:pt>
                <c:pt idx="83">
                  <c:v>407.9</c:v>
                </c:pt>
                <c:pt idx="84">
                  <c:v>404.88</c:v>
                </c:pt>
                <c:pt idx="85">
                  <c:v>407.64</c:v>
                </c:pt>
                <c:pt idx="86">
                  <c:v>415.31</c:v>
                </c:pt>
                <c:pt idx="87">
                  <c:v>413.05</c:v>
                </c:pt>
                <c:pt idx="88">
                  <c:v>404.85</c:v>
                </c:pt>
                <c:pt idx="89">
                  <c:v>398.06</c:v>
                </c:pt>
                <c:pt idx="90">
                  <c:v>397.16</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numCache>
            </c:numRef>
          </c:val>
          <c:smooth val="0"/>
        </c:ser>
        <c:ser>
          <c:idx val="1"/>
          <c:order val="1"/>
          <c:tx>
            <c:strRef>
              <c:f>Sheet1!$C$1</c:f>
              <c:strCache>
                <c:ptCount val="1"/>
                <c:pt idx="0">
                  <c:v>Close we rebuilt</c:v>
                </c:pt>
              </c:strCache>
            </c:strRef>
          </c:tx>
          <c:spPr>
            <a:solidFill>
              <a:srgbClr val="C0452F"/>
            </a:solidFill>
            <a:ln w="25400" cap="flat">
              <a:solidFill>
                <a:srgbClr val="C0452F"/>
              </a:solidFill>
              <a:prstDash val="solid"/>
              <a:round/>
            </a:ln>
            <a:effectLst/>
          </c:spPr>
          <c:invertIfNegative val="0"/>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c:symbol val="none"/>
            <c:size val="6"/>
            <c:spPr>
              <a:solidFill>
                <a:srgbClr val="C0452F"/>
              </a:solidFill>
              <a:ln w="9525" cap="flat">
                <a:solidFill>
                  <a:srgbClr val="C0452F"/>
                </a:solidFill>
                <a:prstDash val="solid"/>
                <a:round/>
              </a:ln>
              <a:effectLst/>
            </c:spPr>
          </c:marker>
          <c:cat>
            <c:multiLvlStrRef>
              <c:f>Sheet1!$A$2:$A$142</c:f>
              <c:multiLvlStrCache>
                <c:ptCount val="141"/>
                <c:lvl>
                  <c:pt idx="0">
                    <c:v>760</c:v>
                  </c:pt>
                  <c:pt idx="1">
                    <c:v>761</c:v>
                  </c:pt>
                  <c:pt idx="2">
                    <c:v>762</c:v>
                  </c:pt>
                  <c:pt idx="3">
                    <c:v>763</c:v>
                  </c:pt>
                  <c:pt idx="4">
                    <c:v>764</c:v>
                  </c:pt>
                  <c:pt idx="5">
                    <c:v>765</c:v>
                  </c:pt>
                  <c:pt idx="6">
                    <c:v>766</c:v>
                  </c:pt>
                  <c:pt idx="7">
                    <c:v>767</c:v>
                  </c:pt>
                  <c:pt idx="8">
                    <c:v>768</c:v>
                  </c:pt>
                  <c:pt idx="9">
                    <c:v>769</c:v>
                  </c:pt>
                  <c:pt idx="10">
                    <c:v>770</c:v>
                  </c:pt>
                  <c:pt idx="11">
                    <c:v>771</c:v>
                  </c:pt>
                  <c:pt idx="12">
                    <c:v>772</c:v>
                  </c:pt>
                  <c:pt idx="13">
                    <c:v>773</c:v>
                  </c:pt>
                  <c:pt idx="14">
                    <c:v>774</c:v>
                  </c:pt>
                  <c:pt idx="15">
                    <c:v>775</c:v>
                  </c:pt>
                  <c:pt idx="16">
                    <c:v>776</c:v>
                  </c:pt>
                  <c:pt idx="17">
                    <c:v>777</c:v>
                  </c:pt>
                  <c:pt idx="18">
                    <c:v>778</c:v>
                  </c:pt>
                  <c:pt idx="19">
                    <c:v>779</c:v>
                  </c:pt>
                  <c:pt idx="20">
                    <c:v>780</c:v>
                  </c:pt>
                  <c:pt idx="21">
                    <c:v>781</c:v>
                  </c:pt>
                  <c:pt idx="22">
                    <c:v>782</c:v>
                  </c:pt>
                  <c:pt idx="23">
                    <c:v>783</c:v>
                  </c:pt>
                  <c:pt idx="24">
                    <c:v>784</c:v>
                  </c:pt>
                  <c:pt idx="25">
                    <c:v>785</c:v>
                  </c:pt>
                  <c:pt idx="26">
                    <c:v>786</c:v>
                  </c:pt>
                  <c:pt idx="27">
                    <c:v>787</c:v>
                  </c:pt>
                  <c:pt idx="28">
                    <c:v>788</c:v>
                  </c:pt>
                  <c:pt idx="29">
                    <c:v>789</c:v>
                  </c:pt>
                  <c:pt idx="30">
                    <c:v>790</c:v>
                  </c:pt>
                  <c:pt idx="31">
                    <c:v>791</c:v>
                  </c:pt>
                  <c:pt idx="32">
                    <c:v>792</c:v>
                  </c:pt>
                  <c:pt idx="33">
                    <c:v>793</c:v>
                  </c:pt>
                  <c:pt idx="34">
                    <c:v>794</c:v>
                  </c:pt>
                  <c:pt idx="35">
                    <c:v>795</c:v>
                  </c:pt>
                  <c:pt idx="36">
                    <c:v>796</c:v>
                  </c:pt>
                  <c:pt idx="37">
                    <c:v>797</c:v>
                  </c:pt>
                  <c:pt idx="38">
                    <c:v>798</c:v>
                  </c:pt>
                  <c:pt idx="39">
                    <c:v>799</c:v>
                  </c:pt>
                  <c:pt idx="40">
                    <c:v>800</c:v>
                  </c:pt>
                  <c:pt idx="41">
                    <c:v>801</c:v>
                  </c:pt>
                  <c:pt idx="42">
                    <c:v>802</c:v>
                  </c:pt>
                  <c:pt idx="43">
                    <c:v>803</c:v>
                  </c:pt>
                  <c:pt idx="44">
                    <c:v>804</c:v>
                  </c:pt>
                  <c:pt idx="45">
                    <c:v>805</c:v>
                  </c:pt>
                  <c:pt idx="46">
                    <c:v>806</c:v>
                  </c:pt>
                  <c:pt idx="47">
                    <c:v>807</c:v>
                  </c:pt>
                  <c:pt idx="48">
                    <c:v>808</c:v>
                  </c:pt>
                  <c:pt idx="49">
                    <c:v>809</c:v>
                  </c:pt>
                  <c:pt idx="50">
                    <c:v>810</c:v>
                  </c:pt>
                  <c:pt idx="51">
                    <c:v>811</c:v>
                  </c:pt>
                  <c:pt idx="52">
                    <c:v>812</c:v>
                  </c:pt>
                  <c:pt idx="53">
                    <c:v>813</c:v>
                  </c:pt>
                  <c:pt idx="54">
                    <c:v>814</c:v>
                  </c:pt>
                  <c:pt idx="55">
                    <c:v>815</c:v>
                  </c:pt>
                  <c:pt idx="56">
                    <c:v>816</c:v>
                  </c:pt>
                  <c:pt idx="57">
                    <c:v>817</c:v>
                  </c:pt>
                  <c:pt idx="58">
                    <c:v>818</c:v>
                  </c:pt>
                  <c:pt idx="59">
                    <c:v>819</c:v>
                  </c:pt>
                  <c:pt idx="60">
                    <c:v>820</c:v>
                  </c:pt>
                  <c:pt idx="61">
                    <c:v>821</c:v>
                  </c:pt>
                  <c:pt idx="62">
                    <c:v>822</c:v>
                  </c:pt>
                  <c:pt idx="63">
                    <c:v>823</c:v>
                  </c:pt>
                  <c:pt idx="64">
                    <c:v>824</c:v>
                  </c:pt>
                  <c:pt idx="65">
                    <c:v>825</c:v>
                  </c:pt>
                  <c:pt idx="66">
                    <c:v>826</c:v>
                  </c:pt>
                  <c:pt idx="67">
                    <c:v>827</c:v>
                  </c:pt>
                  <c:pt idx="68">
                    <c:v>828</c:v>
                  </c:pt>
                  <c:pt idx="69">
                    <c:v>829</c:v>
                  </c:pt>
                  <c:pt idx="70">
                    <c:v>830</c:v>
                  </c:pt>
                  <c:pt idx="71">
                    <c:v>831</c:v>
                  </c:pt>
                  <c:pt idx="72">
                    <c:v>832</c:v>
                  </c:pt>
                  <c:pt idx="73">
                    <c:v>833</c:v>
                  </c:pt>
                  <c:pt idx="74">
                    <c:v>834</c:v>
                  </c:pt>
                  <c:pt idx="75">
                    <c:v>835</c:v>
                  </c:pt>
                  <c:pt idx="76">
                    <c:v>836</c:v>
                  </c:pt>
                  <c:pt idx="77">
                    <c:v>837</c:v>
                  </c:pt>
                  <c:pt idx="78">
                    <c:v>838</c:v>
                  </c:pt>
                  <c:pt idx="79">
                    <c:v>839</c:v>
                  </c:pt>
                  <c:pt idx="80">
                    <c:v>840</c:v>
                  </c:pt>
                  <c:pt idx="81">
                    <c:v>841</c:v>
                  </c:pt>
                  <c:pt idx="82">
                    <c:v>842</c:v>
                  </c:pt>
                  <c:pt idx="83">
                    <c:v>843</c:v>
                  </c:pt>
                  <c:pt idx="84">
                    <c:v>844</c:v>
                  </c:pt>
                  <c:pt idx="85">
                    <c:v>845</c:v>
                  </c:pt>
                  <c:pt idx="86">
                    <c:v>846</c:v>
                  </c:pt>
                  <c:pt idx="87">
                    <c:v>847</c:v>
                  </c:pt>
                  <c:pt idx="88">
                    <c:v>848</c:v>
                  </c:pt>
                  <c:pt idx="89">
                    <c:v>849</c:v>
                  </c:pt>
                  <c:pt idx="90">
                    <c:v>850</c:v>
                  </c:pt>
                  <c:pt idx="91">
                    <c:v>851</c:v>
                  </c:pt>
                  <c:pt idx="92">
                    <c:v>852</c:v>
                  </c:pt>
                  <c:pt idx="93">
                    <c:v>853</c:v>
                  </c:pt>
                  <c:pt idx="94">
                    <c:v>854</c:v>
                  </c:pt>
                  <c:pt idx="95">
                    <c:v>855</c:v>
                  </c:pt>
                  <c:pt idx="96">
                    <c:v>856</c:v>
                  </c:pt>
                  <c:pt idx="97">
                    <c:v>857</c:v>
                  </c:pt>
                  <c:pt idx="98">
                    <c:v>858</c:v>
                  </c:pt>
                  <c:pt idx="99">
                    <c:v>859</c:v>
                  </c:pt>
                  <c:pt idx="100">
                    <c:v>860</c:v>
                  </c:pt>
                  <c:pt idx="101">
                    <c:v>861</c:v>
                  </c:pt>
                  <c:pt idx="102">
                    <c:v>862</c:v>
                  </c:pt>
                  <c:pt idx="103">
                    <c:v>863</c:v>
                  </c:pt>
                  <c:pt idx="104">
                    <c:v>864</c:v>
                  </c:pt>
                  <c:pt idx="105">
                    <c:v>865</c:v>
                  </c:pt>
                  <c:pt idx="106">
                    <c:v>866</c:v>
                  </c:pt>
                  <c:pt idx="107">
                    <c:v>867</c:v>
                  </c:pt>
                  <c:pt idx="108">
                    <c:v>868</c:v>
                  </c:pt>
                  <c:pt idx="109">
                    <c:v>869</c:v>
                  </c:pt>
                  <c:pt idx="110">
                    <c:v>870</c:v>
                  </c:pt>
                  <c:pt idx="111">
                    <c:v>871</c:v>
                  </c:pt>
                  <c:pt idx="112">
                    <c:v>872</c:v>
                  </c:pt>
                  <c:pt idx="113">
                    <c:v>873</c:v>
                  </c:pt>
                  <c:pt idx="114">
                    <c:v>874</c:v>
                  </c:pt>
                  <c:pt idx="115">
                    <c:v>875</c:v>
                  </c:pt>
                  <c:pt idx="116">
                    <c:v>876</c:v>
                  </c:pt>
                  <c:pt idx="117">
                    <c:v>877</c:v>
                  </c:pt>
                  <c:pt idx="118">
                    <c:v>878</c:v>
                  </c:pt>
                  <c:pt idx="119">
                    <c:v>879</c:v>
                  </c:pt>
                  <c:pt idx="120">
                    <c:v>880</c:v>
                  </c:pt>
                  <c:pt idx="121">
                    <c:v>881</c:v>
                  </c:pt>
                  <c:pt idx="122">
                    <c:v>882</c:v>
                  </c:pt>
                  <c:pt idx="123">
                    <c:v>883</c:v>
                  </c:pt>
                  <c:pt idx="124">
                    <c:v>884</c:v>
                  </c:pt>
                  <c:pt idx="125">
                    <c:v>885</c:v>
                  </c:pt>
                  <c:pt idx="126">
                    <c:v>886</c:v>
                  </c:pt>
                  <c:pt idx="127">
                    <c:v>887</c:v>
                  </c:pt>
                  <c:pt idx="128">
                    <c:v>888</c:v>
                  </c:pt>
                  <c:pt idx="129">
                    <c:v>889</c:v>
                  </c:pt>
                  <c:pt idx="130">
                    <c:v>890</c:v>
                  </c:pt>
                  <c:pt idx="131">
                    <c:v>891</c:v>
                  </c:pt>
                  <c:pt idx="132">
                    <c:v>892</c:v>
                  </c:pt>
                  <c:pt idx="133">
                    <c:v>893</c:v>
                  </c:pt>
                  <c:pt idx="134">
                    <c:v>894</c:v>
                  </c:pt>
                  <c:pt idx="135">
                    <c:v>895</c:v>
                  </c:pt>
                  <c:pt idx="136">
                    <c:v>896</c:v>
                  </c:pt>
                  <c:pt idx="137">
                    <c:v>897</c:v>
                  </c:pt>
                  <c:pt idx="138">
                    <c:v>898</c:v>
                  </c:pt>
                  <c:pt idx="139">
                    <c:v>899</c:v>
                  </c:pt>
                  <c:pt idx="140">
                    <c:v>900</c:v>
                  </c:pt>
                </c:lvl>
              </c:multiLvlStrCache>
            </c:multiLvlStrRef>
          </c:cat>
          <c:val>
            <c:numRef>
              <c:f>Sheet1!$C$2:$C$142</c:f>
              <c:numCache>
                <c:formatCode>General</c:formatCode>
                <c:ptCount val="14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397.16</c:v>
                </c:pt>
                <c:pt idx="91">
                  <c:v>378.82</c:v>
                </c:pt>
                <c:pt idx="92">
                  <c:v>416.97</c:v>
                </c:pt>
                <c:pt idx="93">
                  <c:v>351.98</c:v>
                </c:pt>
                <c:pt idx="94">
                  <c:v>316.03</c:v>
                </c:pt>
                <c:pt idx="95">
                  <c:v>316.23</c:v>
                </c:pt>
                <c:pt idx="96">
                  <c:v>290.06</c:v>
                </c:pt>
                <c:pt idx="97">
                  <c:v>293.02</c:v>
                </c:pt>
                <c:pt idx="98">
                  <c:v>278.37</c:v>
                </c:pt>
                <c:pt idx="99">
                  <c:v>265.21</c:v>
                </c:pt>
                <c:pt idx="100">
                  <c:v>257.54</c:v>
                </c:pt>
                <c:pt idx="101">
                  <c:v>248.49</c:v>
                </c:pt>
                <c:pt idx="102">
                  <c:v>268.26</c:v>
                </c:pt>
                <c:pt idx="103">
                  <c:v>278.6</c:v>
                </c:pt>
                <c:pt idx="104">
                  <c:v>286.06</c:v>
                </c:pt>
                <c:pt idx="105">
                  <c:v>274.65</c:v>
                </c:pt>
                <c:pt idx="106">
                  <c:v>288.52</c:v>
                </c:pt>
                <c:pt idx="107">
                  <c:v>294.48</c:v>
                </c:pt>
                <c:pt idx="108">
                  <c:v>288.05</c:v>
                </c:pt>
                <c:pt idx="109">
                  <c:v>281.72</c:v>
                </c:pt>
                <c:pt idx="110">
                  <c:v>255.52</c:v>
                </c:pt>
                <c:pt idx="111">
                  <c:v>253.44</c:v>
                </c:pt>
                <c:pt idx="112">
                  <c:v>272.02</c:v>
                </c:pt>
                <c:pt idx="113">
                  <c:v>264.41</c:v>
                </c:pt>
                <c:pt idx="114">
                  <c:v>242.78</c:v>
                </c:pt>
                <c:pt idx="115">
                  <c:v>232.17</c:v>
                </c:pt>
                <c:pt idx="116">
                  <c:v>263.51</c:v>
                </c:pt>
                <c:pt idx="117">
                  <c:v>263.63</c:v>
                </c:pt>
                <c:pt idx="118">
                  <c:v>228.12</c:v>
                </c:pt>
                <c:pt idx="119">
                  <c:v>263.24</c:v>
                </c:pt>
                <c:pt idx="120">
                  <c:v>258.42</c:v>
                </c:pt>
                <c:pt idx="121">
                  <c:v>261.8</c:v>
                </c:pt>
                <c:pt idx="122">
                  <c:v>238.56</c:v>
                </c:pt>
                <c:pt idx="123">
                  <c:v>227.8</c:v>
                </c:pt>
                <c:pt idx="124">
                  <c:v>219.02</c:v>
                </c:pt>
                <c:pt idx="125">
                  <c:v>212.77</c:v>
                </c:pt>
                <c:pt idx="126">
                  <c:v>225.93</c:v>
                </c:pt>
                <c:pt idx="127">
                  <c:v>219.71</c:v>
                </c:pt>
                <c:pt idx="128">
                  <c:v>228.52</c:v>
                </c:pt>
                <c:pt idx="129">
                  <c:v>235.11</c:v>
                </c:pt>
                <c:pt idx="130">
                  <c:v>223.26</c:v>
                </c:pt>
                <c:pt idx="131">
                  <c:v>235.66</c:v>
                </c:pt>
                <c:pt idx="132">
                  <c:v>256.51</c:v>
                </c:pt>
                <c:pt idx="133">
                  <c:v>264.47</c:v>
                </c:pt>
                <c:pt idx="134">
                  <c:v>261.53</c:v>
                </c:pt>
                <c:pt idx="135">
                  <c:v>276.88</c:v>
                </c:pt>
                <c:pt idx="136">
                  <c:v>261.56</c:v>
                </c:pt>
                <c:pt idx="137">
                  <c:v>261.3</c:v>
                </c:pt>
                <c:pt idx="138">
                  <c:v>234.63</c:v>
                </c:pt>
                <c:pt idx="139">
                  <c:v>221.23</c:v>
                </c:pt>
                <c:pt idx="140">
                  <c:v>202.62</c:v>
                </c:pt>
              </c:numCache>
            </c:numRef>
          </c:val>
          <c:smooth val="0"/>
        </c:ser>
        <c:dLbls>
          <c:numFmt formatCode="#,##0" sourceLinked="0"/>
          <c:txPr>
            <a:bodyPr/>
            <a:lstStyle/>
            <a:p>
              <a:pPr>
                <a:defRPr b="0" i="0" strike="noStrike" sz="1000" u="none">
                  <a:solidFill>
                    <a:srgbClr val="13232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4"/>
            </a:solidFill>
            <a:prstDash val="solid"/>
            <a:round/>
          </a:ln>
        </c:spPr>
        <c:txPr>
          <a:bodyPr/>
          <a:lstStyle/>
          <a:p>
            <a:pPr>
              <a:defRPr sz="1000" b="0" i="0" u="none" strike="noStrike">
                <a:solidFill>
                  <a:srgbClr val="55666E"/>
                </a:solidFill>
                <a:latin typeface="+mn-lt"/>
              </a:defRPr>
            </a:pPr>
            <a:endParaRPr lang="en-US"/>
          </a:p>
        </c:txPr>
        <c:crossAx val="2094734552"/>
        <c:crosses val="autoZero"/>
        <c:auto val="1"/>
        <c:lblAlgn val="ctr"/>
        <c:noMultiLvlLbl val="1"/>
        <c:tickLblSkip val="35"/>
      </c:catAx>
      <c:valAx>
        <c:axId val="2094734552"/>
        <c:scaling>
          <c:orientation val="minMax"/>
          <c:min val="150"/>
        </c:scaling>
        <c:delete val="0"/>
        <c:axPos val="l"/>
        <c:majorGridlines>
          <c:spPr>
            <a:ln w="9525" cap="flat">
              <a:solidFill>
                <a:srgbClr val="E1E7E7"/>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566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5666E"/>
              </a:solidFill>
              <a:latin typeface="+mn-lt"/>
              <a:cs typeface="+mn-lt"/>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15 seconds)
Hi, we're Team Renaissance. We were given one stock, KESTREL_EM, and three rounds. When the market crashed, simply holding the stock lost 49%. Our Round 3 strategy finished up 3.7%. Here's how we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30 seconds)
We got three files with the stock's daily prices.
Round 1: predict if the price goes up or down for 50 days in a calm market.
Round 2: the same task, but the market crashes.
Round 3: instead of up or down, decide how much to buy or short each day.
The close price is hidden on the days we predict, so our one rule was: only use data you would really have on that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30 seconds)
We never feed the model raw prices, because a price of 240 and a price of 400 mean nothing on their own. Instead we give it changes and comparisons: how fast the price moved, whether volatility is rising, where the price sits against its average, RSI, and buying versus selling pressure. That's 34 inputs in total.
The chart shows which inputs mattered most. The top two are the change in volatility and the 10-day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30 seconds)
To test the model honestly, we always trained on the past and tested on the days that came after, never the other way round. We did that five times.
We tried three models and mixed them together. The mix scored 54.2%, against 50% for just guessing UP every day. That's a small edge, but a real one. Predicting tomorrow's direction is hard, so we didn't pretend to be very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Then the market crashed. Daily swings went from about 1% to about 7%, five times bigger. A model trained on the calm market stops working.
So we added a crash alarm. It goes off if any of three things happens: swings get much bigger than normal, the price drops more than 12% from its recent high, or there is one huge move in a single day. Once it goes off, we stay careful for 15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In Round 3 we choose a position every day, from minus one to plus one.
When the market is calm, we follow the trend and buy.
When the crash alarm is on, we take only a small short bet while the price is falling, or we stay out completely.
We also change positions slowly when adding risk but quickly when cutting it. That keeps trading costs low.
In the chart: the orange bars are our position. Long before the crash, small short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This is what 1 unit of money became over the 50 crash days, after trading costs.
The grey line is just holding the stock: it lost 49%, and at its worst it was down 51%.
The green line is us: up 3.7%, and never more than 4.4% down.
We also traded very little, which keeps costs low. This is our own calculation, not the official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40 seconds)
Everything is in our GitHub repo.
Round 1 script: builds the inputs, trains three models and mixes them. A second script tests it fairly.
Round 2 script: we found the hidden close price could be worked out from the order flow column.
Round 3 script: the crash alarm, the position sizing, and a check that proves we never used future data.
REGIME-X: our research app, with a dashboard, used to test ideas before using our 10 uploads.
One honest note: Round 2 used the next day's price, so we rebuilt Round 3 to use only past data.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1 to 800 are a calm uptrend; 801 to 850 the Round 1 test. At bar 852 the price peaked at 416.97 and fell 51.4% to 202.62 by bar 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on how the Round 1 file was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UP and 30 DOWN calls, mean confidence 0.58.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Per-fold balanced accuracy and MCC from TimeSeriesSplit with 5 expanding folds on rows 1–800. Produced by presentation/validate_round1.py, which rebuilds the exact Round 1 features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EXPLAIN IT (about 30 seconds)
The order_flow column turned out to be where the close sits inside the day's high-low range: +1 means it closed at the high, -1 at the low, 0 in the middle. It's a standard indicator called the Close Location Value.
On the crash days the organisers hid the close but still gave high, low and order_flow. One equation, one unknown, so we can solve for the close exactly. Row 1 checks out: (2 x 238.56 - 239.57 - 232.41) / 7.16 = 0.7179, the order_flow in the file.
We checked it on all 850 rows where the close is known (max error 0.0005, just rounding), and its 10-day average matches the sma_10 column the organisers still gave on the crash days.
We needed the close to measure returns, swings and drawdown for the crash alarm.
In Round 3 we only use yesterday's rebuilt close to set today's position, which is fair. Round 2 used tomorrow's close to label today, which is look-ahead, and that's why we rebuilt Round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on the Round 3 signal code. Step 7 is the proof: for each of the 50 test bars we delete every later row, rebuild the signal and require an exact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Regression Breakout Map, a Pine Script v6 indicator we ported line by line to Python inside REGIME-X. The Round 1 to 3 submission scripts do not call ARBM.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Yahoo Finance or NSE ticker, or a CSV, through the full stack: ARBM, four-regime detection on trailing windows, three calibrated classifiers chosen by validation MCC, a hybrid position blend capped by regime, and a cost-aware backtest. FastAPI backend, Next.js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97480"/>
            <a:ext cx="7680960" cy="1280160"/>
          </a:xfrm>
          <a:prstGeom prst="rect">
            <a:avLst/>
          </a:prstGeom>
          <a:noFill/>
          <a:ln/>
        </p:spPr>
        <p:txBody>
          <a:bodyPr wrap="square" rtlCol="0"/>
          <a:lstStyle>
            <a:lvl1pPr indent="0" marL="0">
              <a:buNone/>
              <a:defRPr lang="en-US" sz="1800" dirty="0">
                <a:solidFill>
                  <a:srgbClr val="C9D6D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8046720" cy="45720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645920"/>
            <a:ext cx="804672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743200"/>
            <a:ext cx="7680960" cy="1554480"/>
          </a:xfrm>
          <a:prstGeom prst="rect">
            <a:avLst/>
          </a:prstGeom>
          <a:noFill/>
          <a:ln/>
        </p:spPr>
        <p:txBody>
          <a:bodyPr wrap="square" rtlCol="0"/>
          <a:lstStyle>
            <a:lvl1pPr indent="0" marL="0">
              <a:buNone/>
              <a:defRPr lang="en-US" sz="1600" dirty="0">
                <a:solidFill>
                  <a:srgbClr val="C9D6D4"/>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C9D6D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900" dirty="0">
                <a:solidFill>
                  <a:srgbClr val="8A9A9C"/>
                </a:solidFill>
              </a:rPr>
              <a:t>KESTREL_EM · Team Renaissance · BigShort ML Trading Sprint</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C9D6D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lIns="0" tIns="0" rIns="0" bIns="0" rtlCol="0" anchor="b"/>
          <a:lstStyle/>
          <a:p>
            <a:pPr algn="l" indent="0" marL="0">
              <a:buNone/>
            </a:pPr>
            <a:r>
              <a:rPr lang="en-US" sz="4400" b="1" dirty="0">
                <a:solidFill>
                  <a:schemeClr val="bg1"/>
                </a:solidFill>
              </a:rPr>
              <a:t>KESTREL_EM Sprint Playbook</a:t>
            </a:r>
            <a:endParaRPr lang="en-US" sz="4400" dirty="0"/>
          </a:p>
        </p:txBody>
      </p:sp>
      <p:sp>
        <p:nvSpPr>
          <p:cNvPr id="3" name="Text 0"/>
          <p:cNvSpPr/>
          <p:nvPr>
            <p:ph idx="101" type="body" hasCustomPrompt="1"/>
          </p:nvPr>
        </p:nvSpPr>
        <p:spPr>
          <a:xfrm>
            <a:off x="548640" y="2697480"/>
            <a:ext cx="7680960" cy="1280160"/>
          </a:xfrm>
          <a:prstGeom prst="rect">
            <a:avLst/>
          </a:prstGeom>
          <a:noFill/>
          <a:ln/>
        </p:spPr>
        <p:txBody>
          <a:bodyPr wrap="square" lIns="0" tIns="0" rIns="0" bIns="0" rtlCol="0" anchor="t"/>
          <a:lstStyle/>
          <a:p>
            <a:pPr indent="0" marL="0">
              <a:buNone/>
            </a:pPr>
            <a:r>
              <a:rPr lang="en-US" sz="1800" dirty="0">
                <a:solidFill>
                  <a:srgbClr val="C9D6D4"/>
                </a:solidFill>
              </a:rPr>
              <a:t>Team Renaissance · BigShort ML Trading Sprint</a:t>
            </a:r>
            <a:endParaRPr lang="en-US" sz="1800" dirty="0"/>
          </a:p>
          <a:p>
            <a:pPr indent="0" marL="0">
              <a:buNone/>
            </a:pPr>
            <a:r>
              <a:rPr lang="en-US" sz="1600" dirty="0">
                <a:solidFill>
                  <a:srgbClr val="C9D6D4"/>
                </a:solidFill>
              </a:rPr>
              <a:t>When the market crashed, holding the stock lost 49.0%. Our Round 3 strategy made +3.7%.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The task: three rounds, one stock</a:t>
            </a:r>
            <a:endParaRPr lang="en-US" sz="2800" dirty="0"/>
          </a:p>
        </p:txBody>
      </p:sp>
      <p:sp>
        <p:nvSpPr>
          <p:cNvPr id="3" name="kicker-1"/>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WHAT WE WERE GIVEN · 3 CSV FILES</a:t>
            </a:r>
            <a:endParaRPr lang="en-US" sz="1000" dirty="0"/>
          </a:p>
        </p:txBody>
      </p:sp>
      <p:sp>
        <p:nvSpPr>
          <p:cNvPr id="5" name="card-2"/>
          <p:cNvSpPr/>
          <p:nvPr/>
        </p:nvSpPr>
        <p:spPr>
          <a:xfrm>
            <a:off x="457200" y="1097280"/>
            <a:ext cx="2606040" cy="2468880"/>
          </a:xfrm>
          <a:prstGeom prst="roundRect">
            <a:avLst>
              <a:gd name="adj" fmla="val 2963"/>
            </a:avLst>
          </a:prstGeom>
          <a:solidFill>
            <a:schemeClr val="bg2"/>
          </a:solidFill>
          <a:ln w="12700">
            <a:solidFill>
              <a:schemeClr val="bg2"/>
            </a:solidFill>
            <a:prstDash val="solid"/>
          </a:ln>
        </p:spPr>
      </p:sp>
      <p:sp>
        <p:nvSpPr>
          <p:cNvPr id="6" name="text-3"/>
          <p:cNvSpPr txBox="1"/>
          <p:nvPr/>
        </p:nvSpPr>
        <p:spPr>
          <a:xfrm>
            <a:off x="640080" y="1234440"/>
            <a:ext cx="2286000"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ROUND 1</a:t>
            </a:r>
            <a:endParaRPr lang="en-US" sz="1200" dirty="0"/>
          </a:p>
        </p:txBody>
      </p:sp>
      <p:sp>
        <p:nvSpPr>
          <p:cNvPr id="7" name="text-4"/>
          <p:cNvSpPr txBox="1"/>
          <p:nvPr/>
        </p:nvSpPr>
        <p:spPr>
          <a:xfrm>
            <a:off x="640080" y="1536192"/>
            <a:ext cx="22860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Calm market</a:t>
            </a:r>
            <a:endParaRPr lang="en-US" sz="2200" dirty="0"/>
          </a:p>
        </p:txBody>
      </p:sp>
      <p:sp>
        <p:nvSpPr>
          <p:cNvPr id="8" name="text-5"/>
          <p:cNvSpPr txBox="1"/>
          <p:nvPr/>
        </p:nvSpPr>
        <p:spPr>
          <a:xfrm>
            <a:off x="640080" y="2103120"/>
            <a:ext cx="2286000" cy="548640"/>
          </a:xfrm>
          <a:prstGeom prst="rect">
            <a:avLst/>
          </a:prstGeom>
          <a:noFill/>
          <a:ln/>
        </p:spPr>
        <p:txBody>
          <a:bodyPr wrap="square" lIns="0" tIns="0" rIns="0" bIns="0" rtlCol="0" anchor="t"/>
          <a:lstStyle/>
          <a:p>
            <a:pPr indent="0" marL="0">
              <a:buNone/>
            </a:pPr>
            <a:r>
              <a:rPr lang="en-US" sz="1500" dirty="0">
                <a:solidFill>
                  <a:schemeClr val="tx1"/>
                </a:solidFill>
              </a:rPr>
              <a:t>Will the price go up or down?</a:t>
            </a:r>
            <a:endParaRPr lang="en-US" sz="1500" dirty="0"/>
          </a:p>
        </p:txBody>
      </p:sp>
      <p:sp>
        <p:nvSpPr>
          <p:cNvPr id="9" name="text-6"/>
          <p:cNvSpPr txBox="1"/>
          <p:nvPr/>
        </p:nvSpPr>
        <p:spPr>
          <a:xfrm>
            <a:off x="640080" y="2743200"/>
            <a:ext cx="2286000" cy="685800"/>
          </a:xfrm>
          <a:prstGeom prst="rect">
            <a:avLst/>
          </a:prstGeom>
          <a:noFill/>
          <a:ln/>
        </p:spPr>
        <p:txBody>
          <a:bodyPr wrap="square" lIns="0" tIns="0" rIns="0" bIns="0" rtlCol="0" anchor="t"/>
          <a:lstStyle/>
          <a:p>
            <a:pPr indent="0" marL="0">
              <a:buNone/>
            </a:pPr>
            <a:r>
              <a:rPr lang="en-US" sz="1250" dirty="0">
                <a:solidFill>
                  <a:srgbClr val="55666E"/>
                </a:solidFill>
              </a:rPr>
              <a:t>Learn from days 1–800, predict days 801–850</a:t>
            </a:r>
            <a:endParaRPr lang="en-US" sz="1250" dirty="0"/>
          </a:p>
        </p:txBody>
      </p:sp>
      <p:sp>
        <p:nvSpPr>
          <p:cNvPr id="10" name="card-7"/>
          <p:cNvSpPr/>
          <p:nvPr/>
        </p:nvSpPr>
        <p:spPr>
          <a:xfrm>
            <a:off x="3291840" y="1097280"/>
            <a:ext cx="2606040" cy="2468880"/>
          </a:xfrm>
          <a:prstGeom prst="roundRect">
            <a:avLst>
              <a:gd name="adj" fmla="val 2963"/>
            </a:avLst>
          </a:prstGeom>
          <a:solidFill>
            <a:schemeClr val="bg2"/>
          </a:solidFill>
          <a:ln w="12700">
            <a:solidFill>
              <a:schemeClr val="bg2"/>
            </a:solidFill>
            <a:prstDash val="solid"/>
          </a:ln>
        </p:spPr>
      </p:sp>
      <p:sp>
        <p:nvSpPr>
          <p:cNvPr id="11" name="text-8"/>
          <p:cNvSpPr txBox="1"/>
          <p:nvPr/>
        </p:nvSpPr>
        <p:spPr>
          <a:xfrm>
            <a:off x="3474720" y="1234440"/>
            <a:ext cx="2286000" cy="256032"/>
          </a:xfrm>
          <a:prstGeom prst="rect">
            <a:avLst/>
          </a:prstGeom>
          <a:noFill/>
          <a:ln/>
        </p:spPr>
        <p:txBody>
          <a:bodyPr wrap="square" lIns="0" tIns="0" rIns="0" bIns="0" rtlCol="0" anchor="t"/>
          <a:lstStyle/>
          <a:p>
            <a:pPr indent="0" marL="0">
              <a:buNone/>
            </a:pPr>
            <a:r>
              <a:rPr lang="en-US" sz="1200" b="1" spc="100" kern="0" dirty="0">
                <a:solidFill>
                  <a:schemeClr val="accent3"/>
                </a:solidFill>
              </a:rPr>
              <a:t>ROUND 2</a:t>
            </a:r>
            <a:endParaRPr lang="en-US" sz="1200" dirty="0"/>
          </a:p>
        </p:txBody>
      </p:sp>
      <p:sp>
        <p:nvSpPr>
          <p:cNvPr id="12" name="text-9"/>
          <p:cNvSpPr txBox="1"/>
          <p:nvPr/>
        </p:nvSpPr>
        <p:spPr>
          <a:xfrm>
            <a:off x="3474720" y="1536192"/>
            <a:ext cx="22860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Flash crash</a:t>
            </a:r>
            <a:endParaRPr lang="en-US" sz="2200" dirty="0"/>
          </a:p>
        </p:txBody>
      </p:sp>
      <p:sp>
        <p:nvSpPr>
          <p:cNvPr id="13" name="text-10"/>
          <p:cNvSpPr txBox="1"/>
          <p:nvPr/>
        </p:nvSpPr>
        <p:spPr>
          <a:xfrm>
            <a:off x="3474720" y="2103120"/>
            <a:ext cx="2286000" cy="548640"/>
          </a:xfrm>
          <a:prstGeom prst="rect">
            <a:avLst/>
          </a:prstGeom>
          <a:noFill/>
          <a:ln/>
        </p:spPr>
        <p:txBody>
          <a:bodyPr wrap="square" lIns="0" tIns="0" rIns="0" bIns="0" rtlCol="0" anchor="t"/>
          <a:lstStyle/>
          <a:p>
            <a:pPr indent="0" marL="0">
              <a:buNone/>
            </a:pPr>
            <a:r>
              <a:rPr lang="en-US" sz="1500" dirty="0">
                <a:solidFill>
                  <a:schemeClr val="tx1"/>
                </a:solidFill>
              </a:rPr>
              <a:t>Same question, after a crash</a:t>
            </a:r>
            <a:endParaRPr lang="en-US" sz="1500" dirty="0"/>
          </a:p>
        </p:txBody>
      </p:sp>
      <p:sp>
        <p:nvSpPr>
          <p:cNvPr id="14" name="text-11"/>
          <p:cNvSpPr txBox="1"/>
          <p:nvPr/>
        </p:nvSpPr>
        <p:spPr>
          <a:xfrm>
            <a:off x="3474720" y="2743200"/>
            <a:ext cx="2286000" cy="685800"/>
          </a:xfrm>
          <a:prstGeom prst="rect">
            <a:avLst/>
          </a:prstGeom>
          <a:noFill/>
          <a:ln/>
        </p:spPr>
        <p:txBody>
          <a:bodyPr wrap="square" lIns="0" tIns="0" rIns="0" bIns="0" rtlCol="0" anchor="t"/>
          <a:lstStyle/>
          <a:p>
            <a:pPr indent="0" marL="0">
              <a:buNone/>
            </a:pPr>
            <a:r>
              <a:rPr lang="en-US" sz="1250" dirty="0">
                <a:solidFill>
                  <a:srgbClr val="55666E"/>
                </a:solidFill>
              </a:rPr>
              <a:t>Learn from days 1–850, predict days 851–900</a:t>
            </a:r>
            <a:endParaRPr lang="en-US" sz="1250" dirty="0"/>
          </a:p>
        </p:txBody>
      </p:sp>
      <p:sp>
        <p:nvSpPr>
          <p:cNvPr id="15" name="card-12"/>
          <p:cNvSpPr/>
          <p:nvPr/>
        </p:nvSpPr>
        <p:spPr>
          <a:xfrm>
            <a:off x="6126480" y="1097280"/>
            <a:ext cx="2606040" cy="2468880"/>
          </a:xfrm>
          <a:prstGeom prst="roundRect">
            <a:avLst>
              <a:gd name="adj" fmla="val 2963"/>
            </a:avLst>
          </a:prstGeom>
          <a:solidFill>
            <a:schemeClr val="bg2"/>
          </a:solidFill>
          <a:ln w="12700">
            <a:solidFill>
              <a:schemeClr val="bg2"/>
            </a:solidFill>
            <a:prstDash val="solid"/>
          </a:ln>
        </p:spPr>
      </p:sp>
      <p:sp>
        <p:nvSpPr>
          <p:cNvPr id="16" name="text-13"/>
          <p:cNvSpPr txBox="1"/>
          <p:nvPr/>
        </p:nvSpPr>
        <p:spPr>
          <a:xfrm>
            <a:off x="6309360" y="1234440"/>
            <a:ext cx="2286000" cy="256032"/>
          </a:xfrm>
          <a:prstGeom prst="rect">
            <a:avLst/>
          </a:prstGeom>
          <a:noFill/>
          <a:ln/>
        </p:spPr>
        <p:txBody>
          <a:bodyPr wrap="square" lIns="0" tIns="0" rIns="0" bIns="0" rtlCol="0" anchor="t"/>
          <a:lstStyle/>
          <a:p>
            <a:pPr indent="0" marL="0">
              <a:buNone/>
            </a:pPr>
            <a:r>
              <a:rPr lang="en-US" sz="1200" b="1" spc="100" kern="0" dirty="0">
                <a:solidFill>
                  <a:schemeClr val="accent3"/>
                </a:solidFill>
              </a:rPr>
              <a:t>ROUND 3</a:t>
            </a:r>
            <a:endParaRPr lang="en-US" sz="1200" dirty="0"/>
          </a:p>
        </p:txBody>
      </p:sp>
      <p:sp>
        <p:nvSpPr>
          <p:cNvPr id="17" name="text-14"/>
          <p:cNvSpPr txBox="1"/>
          <p:nvPr/>
        </p:nvSpPr>
        <p:spPr>
          <a:xfrm>
            <a:off x="6309360" y="1536192"/>
            <a:ext cx="228600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Flash crash</a:t>
            </a:r>
            <a:endParaRPr lang="en-US" sz="2200" dirty="0"/>
          </a:p>
        </p:txBody>
      </p:sp>
      <p:sp>
        <p:nvSpPr>
          <p:cNvPr id="18" name="text-15"/>
          <p:cNvSpPr txBox="1"/>
          <p:nvPr/>
        </p:nvSpPr>
        <p:spPr>
          <a:xfrm>
            <a:off x="6309360" y="2103120"/>
            <a:ext cx="2286000" cy="548640"/>
          </a:xfrm>
          <a:prstGeom prst="rect">
            <a:avLst/>
          </a:prstGeom>
          <a:noFill/>
          <a:ln/>
        </p:spPr>
        <p:txBody>
          <a:bodyPr wrap="square" lIns="0" tIns="0" rIns="0" bIns="0" rtlCol="0" anchor="t"/>
          <a:lstStyle/>
          <a:p>
            <a:pPr indent="0" marL="0">
              <a:buNone/>
            </a:pPr>
            <a:r>
              <a:rPr lang="en-US" sz="1500" dirty="0">
                <a:solidFill>
                  <a:schemeClr val="tx1"/>
                </a:solidFill>
              </a:rPr>
              <a:t>How much to buy or short?</a:t>
            </a:r>
            <a:endParaRPr lang="en-US" sz="1500" dirty="0"/>
          </a:p>
        </p:txBody>
      </p:sp>
      <p:sp>
        <p:nvSpPr>
          <p:cNvPr id="19" name="text-16"/>
          <p:cNvSpPr txBox="1"/>
          <p:nvPr/>
        </p:nvSpPr>
        <p:spPr>
          <a:xfrm>
            <a:off x="6309360" y="2743200"/>
            <a:ext cx="2286000" cy="685800"/>
          </a:xfrm>
          <a:prstGeom prst="rect">
            <a:avLst/>
          </a:prstGeom>
          <a:noFill/>
          <a:ln/>
        </p:spPr>
        <p:txBody>
          <a:bodyPr wrap="square" lIns="0" tIns="0" rIns="0" bIns="0" rtlCol="0" anchor="t"/>
          <a:lstStyle/>
          <a:p>
            <a:pPr indent="0" marL="0">
              <a:buNone/>
            </a:pPr>
            <a:r>
              <a:rPr lang="en-US" sz="1250" dirty="0">
                <a:solidFill>
                  <a:srgbClr val="55666E"/>
                </a:solidFill>
              </a:rPr>
              <a:t>Pick a position from −1 (short) to +1 (buy)</a:t>
            </a:r>
            <a:endParaRPr lang="en-US" sz="1250" dirty="0"/>
          </a:p>
        </p:txBody>
      </p:sp>
      <p:sp>
        <p:nvSpPr>
          <p:cNvPr id="20" name="card-17"/>
          <p:cNvSpPr/>
          <p:nvPr/>
        </p:nvSpPr>
        <p:spPr>
          <a:xfrm>
            <a:off x="457200" y="3794760"/>
            <a:ext cx="8229600" cy="822960"/>
          </a:xfrm>
          <a:prstGeom prst="roundRect">
            <a:avLst>
              <a:gd name="adj" fmla="val 8889"/>
            </a:avLst>
          </a:prstGeom>
          <a:solidFill>
            <a:srgbClr val="FFFFFF"/>
          </a:solidFill>
          <a:ln w="12700">
            <a:solidFill>
              <a:srgbClr val="FFFFFF"/>
            </a:solidFill>
            <a:prstDash val="solid"/>
          </a:ln>
        </p:spPr>
      </p:sp>
      <p:sp>
        <p:nvSpPr>
          <p:cNvPr id="21" name="text-18"/>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500" b="1" dirty="0">
                <a:solidFill>
                  <a:schemeClr val="tx1"/>
                </a:solidFill>
              </a:rPr>
              <a:t>Our one rule: </a:t>
            </a:r>
            <a:pPr indent="0" marL="0">
              <a:buNone/>
            </a:pPr>
            <a:r>
              <a:rPr lang="en-US" sz="1500" dirty="0">
                <a:solidFill>
                  <a:schemeClr val="tx1"/>
                </a:solidFill>
              </a:rPr>
              <a:t>only use data we would really have on that day. The close price is hidden on the days we predict.</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1: what the model looks at</a:t>
            </a:r>
            <a:endParaRPr lang="en-US" sz="2800" dirty="0"/>
          </a:p>
        </p:txBody>
      </p:sp>
      <p:sp>
        <p:nvSpPr>
          <p:cNvPr id="3" name="kicker-19"/>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1 · generate_round1_submission.py</a:t>
            </a:r>
            <a:endParaRPr lang="en-US" sz="1000" dirty="0"/>
          </a:p>
        </p:txBody>
      </p:sp>
      <p:sp>
        <p:nvSpPr>
          <p:cNvPr id="5" name="pt-20"/>
          <p:cNvSpPr/>
          <p:nvPr/>
        </p:nvSpPr>
        <p:spPr>
          <a:xfrm>
            <a:off x="457200" y="1161288"/>
            <a:ext cx="329184" cy="329184"/>
          </a:xfrm>
          <a:prstGeom prst="ellipse">
            <a:avLst/>
          </a:prstGeom>
          <a:solidFill>
            <a:schemeClr val="accent1"/>
          </a:solidFill>
          <a:ln w="12700">
            <a:solidFill>
              <a:schemeClr val="accent1"/>
            </a:solidFill>
            <a:prstDash val="solid"/>
          </a:ln>
        </p:spPr>
      </p:sp>
      <p:sp>
        <p:nvSpPr>
          <p:cNvPr id="6" name="text-21"/>
          <p:cNvSpPr txBox="1"/>
          <p:nvPr/>
        </p:nvSpPr>
        <p:spPr>
          <a:xfrm>
            <a:off x="457200" y="1161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22"/>
          <p:cNvSpPr txBox="1"/>
          <p:nvPr/>
        </p:nvSpPr>
        <p:spPr>
          <a:xfrm>
            <a:off x="914400" y="1124712"/>
            <a:ext cx="3566160" cy="292608"/>
          </a:xfrm>
          <a:prstGeom prst="rect">
            <a:avLst/>
          </a:prstGeom>
          <a:noFill/>
          <a:ln/>
        </p:spPr>
        <p:txBody>
          <a:bodyPr wrap="square" lIns="0" tIns="0" rIns="0" bIns="0" rtlCol="0" anchor="t"/>
          <a:lstStyle/>
          <a:p>
            <a:pPr indent="0" marL="0">
              <a:buNone/>
            </a:pPr>
            <a:r>
              <a:rPr lang="en-US" sz="1500" b="1" dirty="0">
                <a:solidFill>
                  <a:schemeClr val="tx1"/>
                </a:solidFill>
              </a:rPr>
              <a:t>Momentum</a:t>
            </a:r>
            <a:endParaRPr lang="en-US" sz="1500" dirty="0"/>
          </a:p>
        </p:txBody>
      </p:sp>
      <p:sp>
        <p:nvSpPr>
          <p:cNvPr id="8" name="text-23"/>
          <p:cNvSpPr txBox="1"/>
          <p:nvPr/>
        </p:nvSpPr>
        <p:spPr>
          <a:xfrm>
            <a:off x="914400" y="1417320"/>
            <a:ext cx="3566160" cy="411480"/>
          </a:xfrm>
          <a:prstGeom prst="rect">
            <a:avLst/>
          </a:prstGeom>
          <a:noFill/>
          <a:ln/>
        </p:spPr>
        <p:txBody>
          <a:bodyPr wrap="square" lIns="0" tIns="0" rIns="0" bIns="0" rtlCol="0" anchor="t"/>
          <a:lstStyle/>
          <a:p>
            <a:pPr indent="0" marL="0">
              <a:buNone/>
            </a:pPr>
            <a:r>
              <a:rPr lang="en-US" sz="1250" dirty="0">
                <a:solidFill>
                  <a:srgbClr val="55666E"/>
                </a:solidFill>
              </a:rPr>
              <a:t>How much the price moved over 1 to 10 days</a:t>
            </a:r>
            <a:endParaRPr lang="en-US" sz="1250" dirty="0"/>
          </a:p>
        </p:txBody>
      </p:sp>
      <p:sp>
        <p:nvSpPr>
          <p:cNvPr id="9" name="pt-24"/>
          <p:cNvSpPr/>
          <p:nvPr/>
        </p:nvSpPr>
        <p:spPr>
          <a:xfrm>
            <a:off x="457200" y="1938528"/>
            <a:ext cx="329184" cy="329184"/>
          </a:xfrm>
          <a:prstGeom prst="ellipse">
            <a:avLst/>
          </a:prstGeom>
          <a:solidFill>
            <a:schemeClr val="accent1"/>
          </a:solidFill>
          <a:ln w="12700">
            <a:solidFill>
              <a:schemeClr val="accent1"/>
            </a:solidFill>
            <a:prstDash val="solid"/>
          </a:ln>
        </p:spPr>
      </p:sp>
      <p:sp>
        <p:nvSpPr>
          <p:cNvPr id="10" name="text-25"/>
          <p:cNvSpPr txBox="1"/>
          <p:nvPr/>
        </p:nvSpPr>
        <p:spPr>
          <a:xfrm>
            <a:off x="457200" y="19385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26"/>
          <p:cNvSpPr txBox="1"/>
          <p:nvPr/>
        </p:nvSpPr>
        <p:spPr>
          <a:xfrm>
            <a:off x="914400" y="1901952"/>
            <a:ext cx="3566160" cy="292608"/>
          </a:xfrm>
          <a:prstGeom prst="rect">
            <a:avLst/>
          </a:prstGeom>
          <a:noFill/>
          <a:ln/>
        </p:spPr>
        <p:txBody>
          <a:bodyPr wrap="square" lIns="0" tIns="0" rIns="0" bIns="0" rtlCol="0" anchor="t"/>
          <a:lstStyle/>
          <a:p>
            <a:pPr indent="0" marL="0">
              <a:buNone/>
            </a:pPr>
            <a:r>
              <a:rPr lang="en-US" sz="1500" b="1" dirty="0">
                <a:solidFill>
                  <a:schemeClr val="tx1"/>
                </a:solidFill>
              </a:rPr>
              <a:t>Volatility</a:t>
            </a:r>
            <a:endParaRPr lang="en-US" sz="1500" dirty="0"/>
          </a:p>
        </p:txBody>
      </p:sp>
      <p:sp>
        <p:nvSpPr>
          <p:cNvPr id="12" name="text-27"/>
          <p:cNvSpPr txBox="1"/>
          <p:nvPr/>
        </p:nvSpPr>
        <p:spPr>
          <a:xfrm>
            <a:off x="914400" y="2194560"/>
            <a:ext cx="3566160" cy="411480"/>
          </a:xfrm>
          <a:prstGeom prst="rect">
            <a:avLst/>
          </a:prstGeom>
          <a:noFill/>
          <a:ln/>
        </p:spPr>
        <p:txBody>
          <a:bodyPr wrap="square" lIns="0" tIns="0" rIns="0" bIns="0" rtlCol="0" anchor="t"/>
          <a:lstStyle/>
          <a:p>
            <a:pPr indent="0" marL="0">
              <a:buNone/>
            </a:pPr>
            <a:r>
              <a:rPr lang="en-US" sz="1250" dirty="0">
                <a:solidFill>
                  <a:srgbClr val="55666E"/>
                </a:solidFill>
              </a:rPr>
              <a:t>Is the market getting calmer or wilder?</a:t>
            </a:r>
            <a:endParaRPr lang="en-US" sz="1250" dirty="0"/>
          </a:p>
        </p:txBody>
      </p:sp>
      <p:sp>
        <p:nvSpPr>
          <p:cNvPr id="13" name="pt-28"/>
          <p:cNvSpPr/>
          <p:nvPr/>
        </p:nvSpPr>
        <p:spPr>
          <a:xfrm>
            <a:off x="457200" y="2715768"/>
            <a:ext cx="329184" cy="329184"/>
          </a:xfrm>
          <a:prstGeom prst="ellipse">
            <a:avLst/>
          </a:prstGeom>
          <a:solidFill>
            <a:schemeClr val="accent1"/>
          </a:solidFill>
          <a:ln w="12700">
            <a:solidFill>
              <a:schemeClr val="accent1"/>
            </a:solidFill>
            <a:prstDash val="solid"/>
          </a:ln>
        </p:spPr>
      </p:sp>
      <p:sp>
        <p:nvSpPr>
          <p:cNvPr id="14" name="text-29"/>
          <p:cNvSpPr txBox="1"/>
          <p:nvPr/>
        </p:nvSpPr>
        <p:spPr>
          <a:xfrm>
            <a:off x="457200" y="2715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30"/>
          <p:cNvSpPr txBox="1"/>
          <p:nvPr/>
        </p:nvSpPr>
        <p:spPr>
          <a:xfrm>
            <a:off x="914400" y="2679192"/>
            <a:ext cx="3566160" cy="292608"/>
          </a:xfrm>
          <a:prstGeom prst="rect">
            <a:avLst/>
          </a:prstGeom>
          <a:noFill/>
          <a:ln/>
        </p:spPr>
        <p:txBody>
          <a:bodyPr wrap="square" lIns="0" tIns="0" rIns="0" bIns="0" rtlCol="0" anchor="t"/>
          <a:lstStyle/>
          <a:p>
            <a:pPr indent="0" marL="0">
              <a:buNone/>
            </a:pPr>
            <a:r>
              <a:rPr lang="en-US" sz="1500" b="1" dirty="0">
                <a:solidFill>
                  <a:schemeClr val="tx1"/>
                </a:solidFill>
              </a:rPr>
              <a:t>Trend</a:t>
            </a:r>
            <a:endParaRPr lang="en-US" sz="1500" dirty="0"/>
          </a:p>
        </p:txBody>
      </p:sp>
      <p:sp>
        <p:nvSpPr>
          <p:cNvPr id="16" name="text-31"/>
          <p:cNvSpPr txBox="1"/>
          <p:nvPr/>
        </p:nvSpPr>
        <p:spPr>
          <a:xfrm>
            <a:off x="914400" y="2971800"/>
            <a:ext cx="3566160" cy="411480"/>
          </a:xfrm>
          <a:prstGeom prst="rect">
            <a:avLst/>
          </a:prstGeom>
          <a:noFill/>
          <a:ln/>
        </p:spPr>
        <p:txBody>
          <a:bodyPr wrap="square" lIns="0" tIns="0" rIns="0" bIns="0" rtlCol="0" anchor="t"/>
          <a:lstStyle/>
          <a:p>
            <a:pPr indent="0" marL="0">
              <a:buNone/>
            </a:pPr>
            <a:r>
              <a:rPr lang="en-US" sz="1250" dirty="0">
                <a:solidFill>
                  <a:srgbClr val="55666E"/>
                </a:solidFill>
              </a:rPr>
              <a:t>Is the price above or below its average?</a:t>
            </a:r>
            <a:endParaRPr lang="en-US" sz="1250" dirty="0"/>
          </a:p>
        </p:txBody>
      </p:sp>
      <p:sp>
        <p:nvSpPr>
          <p:cNvPr id="17" name="pt-32"/>
          <p:cNvSpPr/>
          <p:nvPr/>
        </p:nvSpPr>
        <p:spPr>
          <a:xfrm>
            <a:off x="457200" y="3493008"/>
            <a:ext cx="329184" cy="329184"/>
          </a:xfrm>
          <a:prstGeom prst="ellipse">
            <a:avLst/>
          </a:prstGeom>
          <a:solidFill>
            <a:schemeClr val="accent1"/>
          </a:solidFill>
          <a:ln w="12700">
            <a:solidFill>
              <a:schemeClr val="accent1"/>
            </a:solidFill>
            <a:prstDash val="solid"/>
          </a:ln>
        </p:spPr>
      </p:sp>
      <p:sp>
        <p:nvSpPr>
          <p:cNvPr id="18" name="text-33"/>
          <p:cNvSpPr txBox="1"/>
          <p:nvPr/>
        </p:nvSpPr>
        <p:spPr>
          <a:xfrm>
            <a:off x="457200" y="34930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34"/>
          <p:cNvSpPr txBox="1"/>
          <p:nvPr/>
        </p:nvSpPr>
        <p:spPr>
          <a:xfrm>
            <a:off x="914400" y="3456432"/>
            <a:ext cx="3566160" cy="292608"/>
          </a:xfrm>
          <a:prstGeom prst="rect">
            <a:avLst/>
          </a:prstGeom>
          <a:noFill/>
          <a:ln/>
        </p:spPr>
        <p:txBody>
          <a:bodyPr wrap="square" lIns="0" tIns="0" rIns="0" bIns="0" rtlCol="0" anchor="t"/>
          <a:lstStyle/>
          <a:p>
            <a:pPr indent="0" marL="0">
              <a:buNone/>
            </a:pPr>
            <a:r>
              <a:rPr lang="en-US" sz="1500" b="1" dirty="0">
                <a:solidFill>
                  <a:schemeClr val="tx1"/>
                </a:solidFill>
              </a:rPr>
              <a:t>RSI and order flow</a:t>
            </a:r>
            <a:endParaRPr lang="en-US" sz="1500" dirty="0"/>
          </a:p>
        </p:txBody>
      </p:sp>
      <p:sp>
        <p:nvSpPr>
          <p:cNvPr id="20" name="text-35"/>
          <p:cNvSpPr txBox="1"/>
          <p:nvPr/>
        </p:nvSpPr>
        <p:spPr>
          <a:xfrm>
            <a:off x="914400" y="3749040"/>
            <a:ext cx="3566160" cy="411480"/>
          </a:xfrm>
          <a:prstGeom prst="rect">
            <a:avLst/>
          </a:prstGeom>
          <a:noFill/>
          <a:ln/>
        </p:spPr>
        <p:txBody>
          <a:bodyPr wrap="square" lIns="0" tIns="0" rIns="0" bIns="0" rtlCol="0" anchor="t"/>
          <a:lstStyle/>
          <a:p>
            <a:pPr indent="0" marL="0">
              <a:buNone/>
            </a:pPr>
            <a:r>
              <a:rPr lang="en-US" sz="1250" dirty="0">
                <a:solidFill>
                  <a:srgbClr val="55666E"/>
                </a:solidFill>
              </a:rPr>
              <a:t>Is it overbought? More buyers or sellers?</a:t>
            </a:r>
            <a:endParaRPr lang="en-US" sz="1250" dirty="0"/>
          </a:p>
        </p:txBody>
      </p:sp>
      <p:sp>
        <p:nvSpPr>
          <p:cNvPr id="21" name="text-36"/>
          <p:cNvSpPr txBox="1"/>
          <p:nvPr/>
        </p:nvSpPr>
        <p:spPr>
          <a:xfrm>
            <a:off x="457200" y="4297680"/>
            <a:ext cx="4023360" cy="320040"/>
          </a:xfrm>
          <a:prstGeom prst="rect">
            <a:avLst/>
          </a:prstGeom>
          <a:noFill/>
          <a:ln/>
        </p:spPr>
        <p:txBody>
          <a:bodyPr wrap="square" lIns="0" tIns="0" rIns="0" bIns="0" rtlCol="0" anchor="t"/>
          <a:lstStyle/>
          <a:p>
            <a:pPr indent="0" marL="0">
              <a:buNone/>
            </a:pPr>
            <a:r>
              <a:rPr lang="en-US" sz="1300" b="1" dirty="0">
                <a:solidFill>
                  <a:schemeClr val="accent1"/>
                </a:solidFill>
              </a:rPr>
              <a:t>34 inputs, all changes or ratios, never raw prices</a:t>
            </a:r>
            <a:endParaRPr lang="en-US" sz="1300" dirty="0"/>
          </a:p>
        </p:txBody>
      </p:sp>
      <p:graphicFrame>
        <p:nvGraphicFramePr>
          <p:cNvPr id="22" name="chart-importance" descr=""/>
          <p:cNvGraphicFramePr/>
          <p:nvPr/>
        </p:nvGraphicFramePr>
        <p:xfrm>
          <a:off x="4663440" y="1005840"/>
          <a:ext cx="4023360" cy="36576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1: we tested it fairly</a:t>
            </a:r>
            <a:endParaRPr lang="en-US" sz="2800" dirty="0"/>
          </a:p>
        </p:txBody>
      </p:sp>
      <p:sp>
        <p:nvSpPr>
          <p:cNvPr id="3" name="kicker-37"/>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1 · validate_round1.py</a:t>
            </a:r>
            <a:endParaRPr lang="en-US" sz="1000" dirty="0"/>
          </a:p>
        </p:txBody>
      </p:sp>
      <p:graphicFrame>
        <p:nvGraphicFramePr>
          <p:cNvPr id="5" name="chart-validation" descr=""/>
          <p:cNvGraphicFramePr/>
          <p:nvPr/>
        </p:nvGraphicFramePr>
        <p:xfrm>
          <a:off x="457200" y="1005840"/>
          <a:ext cx="4937760" cy="3657600"/>
        </p:xfrm>
        <a:graphic xmlns:a="http://schemas.openxmlformats.org/drawingml/2006/main">
          <a:graphicData uri="http://schemas.openxmlformats.org/drawingml/2006/chart">
            <c:chart xmlns:c="http://schemas.openxmlformats.org/drawingml/2006/chart" r:id="rId1"/>
          </a:graphicData>
        </a:graphic>
      </p:graphicFrame>
      <p:sp>
        <p:nvSpPr>
          <p:cNvPr id="6" name="pt-38"/>
          <p:cNvSpPr/>
          <p:nvPr/>
        </p:nvSpPr>
        <p:spPr>
          <a:xfrm>
            <a:off x="5669280" y="1207008"/>
            <a:ext cx="329184" cy="329184"/>
          </a:xfrm>
          <a:prstGeom prst="ellipse">
            <a:avLst/>
          </a:prstGeom>
          <a:solidFill>
            <a:schemeClr val="accent1"/>
          </a:solidFill>
          <a:ln w="12700">
            <a:solidFill>
              <a:schemeClr val="accent1"/>
            </a:solidFill>
            <a:prstDash val="solid"/>
          </a:ln>
        </p:spPr>
      </p:sp>
      <p:sp>
        <p:nvSpPr>
          <p:cNvPr id="7" name="text-39"/>
          <p:cNvSpPr txBox="1"/>
          <p:nvPr/>
        </p:nvSpPr>
        <p:spPr>
          <a:xfrm>
            <a:off x="5669280" y="12070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40"/>
          <p:cNvSpPr txBox="1"/>
          <p:nvPr/>
        </p:nvSpPr>
        <p:spPr>
          <a:xfrm>
            <a:off x="6126480" y="1170432"/>
            <a:ext cx="2560320" cy="292608"/>
          </a:xfrm>
          <a:prstGeom prst="rect">
            <a:avLst/>
          </a:prstGeom>
          <a:noFill/>
          <a:ln/>
        </p:spPr>
        <p:txBody>
          <a:bodyPr wrap="square" lIns="0" tIns="0" rIns="0" bIns="0" rtlCol="0" anchor="t"/>
          <a:lstStyle/>
          <a:p>
            <a:pPr indent="0" marL="0">
              <a:buNone/>
            </a:pPr>
            <a:r>
              <a:rPr lang="en-US" sz="1500" b="1" dirty="0">
                <a:solidFill>
                  <a:schemeClr val="tx1"/>
                </a:solidFill>
              </a:rPr>
              <a:t>Past → future, 5 times</a:t>
            </a:r>
            <a:endParaRPr lang="en-US" sz="1500" dirty="0"/>
          </a:p>
        </p:txBody>
      </p:sp>
      <p:sp>
        <p:nvSpPr>
          <p:cNvPr id="9" name="text-41"/>
          <p:cNvSpPr txBox="1"/>
          <p:nvPr/>
        </p:nvSpPr>
        <p:spPr>
          <a:xfrm>
            <a:off x="6126480" y="1463040"/>
            <a:ext cx="2560320" cy="411480"/>
          </a:xfrm>
          <a:prstGeom prst="rect">
            <a:avLst/>
          </a:prstGeom>
          <a:noFill/>
          <a:ln/>
        </p:spPr>
        <p:txBody>
          <a:bodyPr wrap="square" lIns="0" tIns="0" rIns="0" bIns="0" rtlCol="0" anchor="t"/>
          <a:lstStyle/>
          <a:p>
            <a:pPr indent="0" marL="0">
              <a:buNone/>
            </a:pPr>
            <a:r>
              <a:rPr lang="en-US" sz="1250" dirty="0">
                <a:solidFill>
                  <a:srgbClr val="55666E"/>
                </a:solidFill>
              </a:rPr>
              <a:t>Train on earlier days, test on later days</a:t>
            </a:r>
            <a:endParaRPr lang="en-US" sz="1250" dirty="0"/>
          </a:p>
        </p:txBody>
      </p:sp>
      <p:sp>
        <p:nvSpPr>
          <p:cNvPr id="10" name="pt-42"/>
          <p:cNvSpPr/>
          <p:nvPr/>
        </p:nvSpPr>
        <p:spPr>
          <a:xfrm>
            <a:off x="5669280" y="2167128"/>
            <a:ext cx="329184" cy="329184"/>
          </a:xfrm>
          <a:prstGeom prst="ellipse">
            <a:avLst/>
          </a:prstGeom>
          <a:solidFill>
            <a:schemeClr val="accent1"/>
          </a:solidFill>
          <a:ln w="12700">
            <a:solidFill>
              <a:schemeClr val="accent1"/>
            </a:solidFill>
            <a:prstDash val="solid"/>
          </a:ln>
        </p:spPr>
      </p:sp>
      <p:sp>
        <p:nvSpPr>
          <p:cNvPr id="11" name="text-43"/>
          <p:cNvSpPr txBox="1"/>
          <p:nvPr/>
        </p:nvSpPr>
        <p:spPr>
          <a:xfrm>
            <a:off x="5669280" y="21671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44"/>
          <p:cNvSpPr txBox="1"/>
          <p:nvPr/>
        </p:nvSpPr>
        <p:spPr>
          <a:xfrm>
            <a:off x="6126480" y="2130552"/>
            <a:ext cx="2560320" cy="292608"/>
          </a:xfrm>
          <a:prstGeom prst="rect">
            <a:avLst/>
          </a:prstGeom>
          <a:noFill/>
          <a:ln/>
        </p:spPr>
        <p:txBody>
          <a:bodyPr wrap="square" lIns="0" tIns="0" rIns="0" bIns="0" rtlCol="0" anchor="t"/>
          <a:lstStyle/>
          <a:p>
            <a:pPr indent="0" marL="0">
              <a:buNone/>
            </a:pPr>
            <a:r>
              <a:rPr lang="en-US" sz="1500" b="1" dirty="0">
                <a:solidFill>
                  <a:schemeClr val="tx1"/>
                </a:solidFill>
              </a:rPr>
              <a:t>3 models, mixed</a:t>
            </a:r>
            <a:endParaRPr lang="en-US" sz="1500" dirty="0"/>
          </a:p>
        </p:txBody>
      </p:sp>
      <p:sp>
        <p:nvSpPr>
          <p:cNvPr id="13" name="text-45"/>
          <p:cNvSpPr txBox="1"/>
          <p:nvPr/>
        </p:nvSpPr>
        <p:spPr>
          <a:xfrm>
            <a:off x="6126480" y="2423160"/>
            <a:ext cx="2560320" cy="411480"/>
          </a:xfrm>
          <a:prstGeom prst="rect">
            <a:avLst/>
          </a:prstGeom>
          <a:noFill/>
          <a:ln/>
        </p:spPr>
        <p:txBody>
          <a:bodyPr wrap="square" lIns="0" tIns="0" rIns="0" bIns="0" rtlCol="0" anchor="t"/>
          <a:lstStyle/>
          <a:p>
            <a:pPr indent="0" marL="0">
              <a:buNone/>
            </a:pPr>
            <a:r>
              <a:rPr lang="en-US" sz="1250" dirty="0">
                <a:solidFill>
                  <a:srgbClr val="55666E"/>
                </a:solidFill>
              </a:rPr>
              <a:t>Logistic regression, HistGB, LightGBM</a:t>
            </a:r>
            <a:endParaRPr lang="en-US" sz="1250" dirty="0"/>
          </a:p>
        </p:txBody>
      </p:sp>
      <p:sp>
        <p:nvSpPr>
          <p:cNvPr id="14" name="pt-46"/>
          <p:cNvSpPr/>
          <p:nvPr/>
        </p:nvSpPr>
        <p:spPr>
          <a:xfrm>
            <a:off x="5669280" y="3127248"/>
            <a:ext cx="329184" cy="329184"/>
          </a:xfrm>
          <a:prstGeom prst="ellipse">
            <a:avLst/>
          </a:prstGeom>
          <a:solidFill>
            <a:schemeClr val="accent1"/>
          </a:solidFill>
          <a:ln w="12700">
            <a:solidFill>
              <a:schemeClr val="accent1"/>
            </a:solidFill>
            <a:prstDash val="solid"/>
          </a:ln>
        </p:spPr>
      </p:sp>
      <p:sp>
        <p:nvSpPr>
          <p:cNvPr id="15" name="text-47"/>
          <p:cNvSpPr txBox="1"/>
          <p:nvPr/>
        </p:nvSpPr>
        <p:spPr>
          <a:xfrm>
            <a:off x="5669280" y="31272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48"/>
          <p:cNvSpPr txBox="1"/>
          <p:nvPr/>
        </p:nvSpPr>
        <p:spPr>
          <a:xfrm>
            <a:off x="6126480" y="3090672"/>
            <a:ext cx="2560320" cy="292608"/>
          </a:xfrm>
          <a:prstGeom prst="rect">
            <a:avLst/>
          </a:prstGeom>
          <a:noFill/>
          <a:ln/>
        </p:spPr>
        <p:txBody>
          <a:bodyPr wrap="square" lIns="0" tIns="0" rIns="0" bIns="0" rtlCol="0" anchor="t"/>
          <a:lstStyle/>
          <a:p>
            <a:pPr indent="0" marL="0">
              <a:buNone/>
            </a:pPr>
            <a:r>
              <a:rPr lang="en-US" sz="1500" b="1" dirty="0">
                <a:solidFill>
                  <a:schemeClr val="tx1"/>
                </a:solidFill>
              </a:rPr>
              <a:t>54.2% vs 50%</a:t>
            </a:r>
            <a:endParaRPr lang="en-US" sz="1500" dirty="0"/>
          </a:p>
        </p:txBody>
      </p:sp>
      <p:sp>
        <p:nvSpPr>
          <p:cNvPr id="17" name="text-49"/>
          <p:cNvSpPr txBox="1"/>
          <p:nvPr/>
        </p:nvSpPr>
        <p:spPr>
          <a:xfrm>
            <a:off x="6126480" y="3383280"/>
            <a:ext cx="2560320" cy="411480"/>
          </a:xfrm>
          <a:prstGeom prst="rect">
            <a:avLst/>
          </a:prstGeom>
          <a:noFill/>
          <a:ln/>
        </p:spPr>
        <p:txBody>
          <a:bodyPr wrap="square" lIns="0" tIns="0" rIns="0" bIns="0" rtlCol="0" anchor="t"/>
          <a:lstStyle/>
          <a:p>
            <a:pPr indent="0" marL="0">
              <a:buNone/>
            </a:pPr>
            <a:r>
              <a:rPr lang="en-US" sz="1250" dirty="0">
                <a:solidFill>
                  <a:srgbClr val="55666E"/>
                </a:solidFill>
              </a:rPr>
              <a:t>Small but real edge over guessing</a:t>
            </a:r>
            <a:endParaRPr lang="en-US" sz="1250" dirty="0"/>
          </a:p>
        </p:txBody>
      </p:sp>
      <p:sp>
        <p:nvSpPr>
          <p:cNvPr id="18" name="text-50"/>
          <p:cNvSpPr txBox="1"/>
          <p:nvPr/>
        </p:nvSpPr>
        <p:spPr>
          <a:xfrm>
            <a:off x="5669280" y="4206240"/>
            <a:ext cx="3017520" cy="411480"/>
          </a:xfrm>
          <a:prstGeom prst="rect">
            <a:avLst/>
          </a:prstGeom>
          <a:noFill/>
          <a:ln/>
        </p:spPr>
        <p:txBody>
          <a:bodyPr wrap="square" lIns="0" tIns="0" rIns="0" bIns="0" rtlCol="0" anchor="t"/>
          <a:lstStyle/>
          <a:p>
            <a:pPr indent="0" marL="0">
              <a:buNone/>
            </a:pPr>
            <a:r>
              <a:rPr lang="en-US" sz="1050" dirty="0">
                <a:solidFill>
                  <a:srgbClr val="55666E"/>
                </a:solidFill>
              </a:rPr>
              <a:t>Model A = HistGB · B = logistic regression · C = LightGBM</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2: the crash changed everything</a:t>
            </a:r>
            <a:endParaRPr lang="en-US" sz="2800" dirty="0"/>
          </a:p>
        </p:txBody>
      </p:sp>
      <p:sp>
        <p:nvSpPr>
          <p:cNvPr id="3" name="kicker-51"/>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2 → 3 · generate_round3_signals.py</a:t>
            </a:r>
            <a:endParaRPr lang="en-US" sz="1000" dirty="0"/>
          </a:p>
        </p:txBody>
      </p:sp>
      <p:graphicFrame>
        <p:nvGraphicFramePr>
          <p:cNvPr id="5" name="chart-vol" descr=""/>
          <p:cNvGraphicFramePr/>
          <p:nvPr/>
        </p:nvGraphicFramePr>
        <p:xfrm>
          <a:off x="457200" y="1005840"/>
          <a:ext cx="4206240" cy="3657600"/>
        </p:xfrm>
        <a:graphic xmlns:a="http://schemas.openxmlformats.org/drawingml/2006/main">
          <a:graphicData uri="http://schemas.openxmlformats.org/drawingml/2006/chart">
            <c:chart xmlns:c="http://schemas.openxmlformats.org/drawingml/2006/chart" r:id="rId1"/>
          </a:graphicData>
        </a:graphic>
      </p:graphicFrame>
      <p:sp>
        <p:nvSpPr>
          <p:cNvPr id="6" name="text-52"/>
          <p:cNvSpPr txBox="1"/>
          <p:nvPr/>
        </p:nvSpPr>
        <p:spPr>
          <a:xfrm>
            <a:off x="4937760" y="1051560"/>
            <a:ext cx="3749040" cy="320040"/>
          </a:xfrm>
          <a:prstGeom prst="rect">
            <a:avLst/>
          </a:prstGeom>
          <a:noFill/>
          <a:ln/>
        </p:spPr>
        <p:txBody>
          <a:bodyPr wrap="square" lIns="0" tIns="0" rIns="0" bIns="0" rtlCol="0" anchor="t"/>
          <a:lstStyle/>
          <a:p>
            <a:pPr indent="0" marL="0">
              <a:buNone/>
            </a:pPr>
            <a:r>
              <a:rPr lang="en-US" sz="1600" b="1" dirty="0">
                <a:solidFill>
                  <a:schemeClr val="tx1"/>
                </a:solidFill>
              </a:rPr>
              <a:t>Our crash alarm goes off if:</a:t>
            </a:r>
            <a:endParaRPr lang="en-US" sz="1600" dirty="0"/>
          </a:p>
        </p:txBody>
      </p:sp>
      <p:sp>
        <p:nvSpPr>
          <p:cNvPr id="7" name="pt-53"/>
          <p:cNvSpPr/>
          <p:nvPr/>
        </p:nvSpPr>
        <p:spPr>
          <a:xfrm>
            <a:off x="4937760" y="1572768"/>
            <a:ext cx="329184" cy="329184"/>
          </a:xfrm>
          <a:prstGeom prst="ellipse">
            <a:avLst/>
          </a:prstGeom>
          <a:solidFill>
            <a:schemeClr val="accent3"/>
          </a:solidFill>
          <a:ln w="12700">
            <a:solidFill>
              <a:schemeClr val="accent3"/>
            </a:solidFill>
            <a:prstDash val="solid"/>
          </a:ln>
        </p:spPr>
      </p:sp>
      <p:sp>
        <p:nvSpPr>
          <p:cNvPr id="8" name="text-54"/>
          <p:cNvSpPr txBox="1"/>
          <p:nvPr/>
        </p:nvSpPr>
        <p:spPr>
          <a:xfrm>
            <a:off x="4937760" y="1572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55"/>
          <p:cNvSpPr txBox="1"/>
          <p:nvPr/>
        </p:nvSpPr>
        <p:spPr>
          <a:xfrm>
            <a:off x="5394960" y="1536192"/>
            <a:ext cx="3291840" cy="292608"/>
          </a:xfrm>
          <a:prstGeom prst="rect">
            <a:avLst/>
          </a:prstGeom>
          <a:noFill/>
          <a:ln/>
        </p:spPr>
        <p:txBody>
          <a:bodyPr wrap="square" lIns="0" tIns="0" rIns="0" bIns="0" rtlCol="0" anchor="t"/>
          <a:lstStyle/>
          <a:p>
            <a:pPr indent="0" marL="0">
              <a:buNone/>
            </a:pPr>
            <a:r>
              <a:rPr lang="en-US" sz="1500" b="1" dirty="0">
                <a:solidFill>
                  <a:schemeClr val="tx1"/>
                </a:solidFill>
              </a:rPr>
              <a:t>Swings get 2.5× bigger</a:t>
            </a:r>
            <a:endParaRPr lang="en-US" sz="1500" dirty="0"/>
          </a:p>
        </p:txBody>
      </p:sp>
      <p:sp>
        <p:nvSpPr>
          <p:cNvPr id="10" name="text-56"/>
          <p:cNvSpPr txBox="1"/>
          <p:nvPr/>
        </p:nvSpPr>
        <p:spPr>
          <a:xfrm>
            <a:off x="5394960" y="1828800"/>
            <a:ext cx="3291840" cy="411480"/>
          </a:xfrm>
          <a:prstGeom prst="rect">
            <a:avLst/>
          </a:prstGeom>
          <a:noFill/>
          <a:ln/>
        </p:spPr>
        <p:txBody>
          <a:bodyPr wrap="square" lIns="0" tIns="0" rIns="0" bIns="0" rtlCol="0" anchor="t"/>
          <a:lstStyle/>
          <a:p>
            <a:pPr indent="0" marL="0">
              <a:buNone/>
            </a:pPr>
            <a:r>
              <a:rPr lang="en-US" sz="1250" dirty="0">
                <a:solidFill>
                  <a:srgbClr val="55666E"/>
                </a:solidFill>
              </a:rPr>
              <a:t>than their normal level</a:t>
            </a:r>
            <a:endParaRPr lang="en-US" sz="1250" dirty="0"/>
          </a:p>
        </p:txBody>
      </p:sp>
      <p:sp>
        <p:nvSpPr>
          <p:cNvPr id="11" name="pt-57"/>
          <p:cNvSpPr/>
          <p:nvPr/>
        </p:nvSpPr>
        <p:spPr>
          <a:xfrm>
            <a:off x="4937760" y="2350008"/>
            <a:ext cx="329184" cy="329184"/>
          </a:xfrm>
          <a:prstGeom prst="ellipse">
            <a:avLst/>
          </a:prstGeom>
          <a:solidFill>
            <a:schemeClr val="accent3"/>
          </a:solidFill>
          <a:ln w="12700">
            <a:solidFill>
              <a:schemeClr val="accent3"/>
            </a:solidFill>
            <a:prstDash val="solid"/>
          </a:ln>
        </p:spPr>
      </p:sp>
      <p:sp>
        <p:nvSpPr>
          <p:cNvPr id="12" name="text-58"/>
          <p:cNvSpPr txBox="1"/>
          <p:nvPr/>
        </p:nvSpPr>
        <p:spPr>
          <a:xfrm>
            <a:off x="4937760" y="23500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59"/>
          <p:cNvSpPr txBox="1"/>
          <p:nvPr/>
        </p:nvSpPr>
        <p:spPr>
          <a:xfrm>
            <a:off x="5394960" y="2313432"/>
            <a:ext cx="3291840" cy="292608"/>
          </a:xfrm>
          <a:prstGeom prst="rect">
            <a:avLst/>
          </a:prstGeom>
          <a:noFill/>
          <a:ln/>
        </p:spPr>
        <p:txBody>
          <a:bodyPr wrap="square" lIns="0" tIns="0" rIns="0" bIns="0" rtlCol="0" anchor="t"/>
          <a:lstStyle/>
          <a:p>
            <a:pPr indent="0" marL="0">
              <a:buNone/>
            </a:pPr>
            <a:r>
              <a:rPr lang="en-US" sz="1500" b="1" dirty="0">
                <a:solidFill>
                  <a:schemeClr val="tx1"/>
                </a:solidFill>
              </a:rPr>
              <a:t>Price falls 12%</a:t>
            </a:r>
            <a:endParaRPr lang="en-US" sz="1500" dirty="0"/>
          </a:p>
        </p:txBody>
      </p:sp>
      <p:sp>
        <p:nvSpPr>
          <p:cNvPr id="14" name="text-60"/>
          <p:cNvSpPr txBox="1"/>
          <p:nvPr/>
        </p:nvSpPr>
        <p:spPr>
          <a:xfrm>
            <a:off x="5394960" y="2606040"/>
            <a:ext cx="3291840" cy="411480"/>
          </a:xfrm>
          <a:prstGeom prst="rect">
            <a:avLst/>
          </a:prstGeom>
          <a:noFill/>
          <a:ln/>
        </p:spPr>
        <p:txBody>
          <a:bodyPr wrap="square" lIns="0" tIns="0" rIns="0" bIns="0" rtlCol="0" anchor="t"/>
          <a:lstStyle/>
          <a:p>
            <a:pPr indent="0" marL="0">
              <a:buNone/>
            </a:pPr>
            <a:r>
              <a:rPr lang="en-US" sz="1250" dirty="0">
                <a:solidFill>
                  <a:srgbClr val="55666E"/>
                </a:solidFill>
              </a:rPr>
              <a:t>from its recent high</a:t>
            </a:r>
            <a:endParaRPr lang="en-US" sz="1250" dirty="0"/>
          </a:p>
        </p:txBody>
      </p:sp>
      <p:sp>
        <p:nvSpPr>
          <p:cNvPr id="15" name="pt-61"/>
          <p:cNvSpPr/>
          <p:nvPr/>
        </p:nvSpPr>
        <p:spPr>
          <a:xfrm>
            <a:off x="4937760" y="3127248"/>
            <a:ext cx="329184" cy="329184"/>
          </a:xfrm>
          <a:prstGeom prst="ellipse">
            <a:avLst/>
          </a:prstGeom>
          <a:solidFill>
            <a:schemeClr val="accent3"/>
          </a:solidFill>
          <a:ln w="12700">
            <a:solidFill>
              <a:schemeClr val="accent3"/>
            </a:solidFill>
            <a:prstDash val="solid"/>
          </a:ln>
        </p:spPr>
      </p:sp>
      <p:sp>
        <p:nvSpPr>
          <p:cNvPr id="16" name="text-62"/>
          <p:cNvSpPr txBox="1"/>
          <p:nvPr/>
        </p:nvSpPr>
        <p:spPr>
          <a:xfrm>
            <a:off x="4937760" y="31272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63"/>
          <p:cNvSpPr txBox="1"/>
          <p:nvPr/>
        </p:nvSpPr>
        <p:spPr>
          <a:xfrm>
            <a:off x="5394960" y="3090672"/>
            <a:ext cx="3291840" cy="292608"/>
          </a:xfrm>
          <a:prstGeom prst="rect">
            <a:avLst/>
          </a:prstGeom>
          <a:noFill/>
          <a:ln/>
        </p:spPr>
        <p:txBody>
          <a:bodyPr wrap="square" lIns="0" tIns="0" rIns="0" bIns="0" rtlCol="0" anchor="t"/>
          <a:lstStyle/>
          <a:p>
            <a:pPr indent="0" marL="0">
              <a:buNone/>
            </a:pPr>
            <a:r>
              <a:rPr lang="en-US" sz="1500" b="1" dirty="0">
                <a:solidFill>
                  <a:schemeClr val="tx1"/>
                </a:solidFill>
              </a:rPr>
              <a:t>One huge move</a:t>
            </a:r>
            <a:endParaRPr lang="en-US" sz="1500" dirty="0"/>
          </a:p>
        </p:txBody>
      </p:sp>
      <p:sp>
        <p:nvSpPr>
          <p:cNvPr id="18" name="text-64"/>
          <p:cNvSpPr txBox="1"/>
          <p:nvPr/>
        </p:nvSpPr>
        <p:spPr>
          <a:xfrm>
            <a:off x="5394960" y="3383280"/>
            <a:ext cx="3291840" cy="411480"/>
          </a:xfrm>
          <a:prstGeom prst="rect">
            <a:avLst/>
          </a:prstGeom>
          <a:noFill/>
          <a:ln/>
        </p:spPr>
        <p:txBody>
          <a:bodyPr wrap="square" lIns="0" tIns="0" rIns="0" bIns="0" rtlCol="0" anchor="t"/>
          <a:lstStyle/>
          <a:p>
            <a:pPr indent="0" marL="0">
              <a:buNone/>
            </a:pPr>
            <a:r>
              <a:rPr lang="en-US" sz="1250" dirty="0">
                <a:solidFill>
                  <a:srgbClr val="55666E"/>
                </a:solidFill>
              </a:rPr>
              <a:t>in a single day</a:t>
            </a:r>
            <a:endParaRPr lang="en-US" sz="1250" dirty="0"/>
          </a:p>
        </p:txBody>
      </p:sp>
      <p:sp>
        <p:nvSpPr>
          <p:cNvPr id="19" name="card-65"/>
          <p:cNvSpPr/>
          <p:nvPr/>
        </p:nvSpPr>
        <p:spPr>
          <a:xfrm>
            <a:off x="4937760" y="3931920"/>
            <a:ext cx="3749040" cy="685800"/>
          </a:xfrm>
          <a:prstGeom prst="roundRect">
            <a:avLst>
              <a:gd name="adj" fmla="val 10667"/>
            </a:avLst>
          </a:prstGeom>
          <a:solidFill>
            <a:schemeClr val="bg2"/>
          </a:solidFill>
          <a:ln w="12700">
            <a:solidFill>
              <a:schemeClr val="bg2"/>
            </a:solidFill>
            <a:prstDash val="solid"/>
          </a:ln>
        </p:spPr>
      </p:sp>
      <p:sp>
        <p:nvSpPr>
          <p:cNvPr id="20" name="text-66"/>
          <p:cNvSpPr txBox="1"/>
          <p:nvPr/>
        </p:nvSpPr>
        <p:spPr>
          <a:xfrm>
            <a:off x="5074920" y="4069080"/>
            <a:ext cx="3474720" cy="411480"/>
          </a:xfrm>
          <a:prstGeom prst="rect">
            <a:avLst/>
          </a:prstGeom>
          <a:noFill/>
          <a:ln/>
        </p:spPr>
        <p:txBody>
          <a:bodyPr wrap="square" lIns="0" tIns="0" rIns="0" bIns="0" rtlCol="0" anchor="t"/>
          <a:lstStyle/>
          <a:p>
            <a:pPr indent="0" marL="0">
              <a:buNone/>
            </a:pPr>
            <a:r>
              <a:rPr lang="en-US" sz="1350" b="1" dirty="0">
                <a:solidFill>
                  <a:schemeClr val="tx1"/>
                </a:solidFill>
              </a:rPr>
              <a:t>Once it goes off, we stay careful for 15 days.</a:t>
            </a:r>
            <a:endParaRPr lang="en-US" sz="13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3: how much we bet each day</a:t>
            </a:r>
            <a:endParaRPr lang="en-US" sz="2800" dirty="0"/>
          </a:p>
        </p:txBody>
      </p:sp>
      <p:sp>
        <p:nvSpPr>
          <p:cNvPr id="3" name="kicker-67"/>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3 · generate_round3_signals.py</a:t>
            </a:r>
            <a:endParaRPr lang="en-US" sz="1000" dirty="0"/>
          </a:p>
        </p:txBody>
      </p:sp>
      <p:graphicFrame>
        <p:nvGraphicFramePr>
          <p:cNvPr id="5" name="chart-r3-close" descr=""/>
          <p:cNvGraphicFramePr/>
          <p:nvPr/>
        </p:nvGraphicFramePr>
        <p:xfrm>
          <a:off x="457200" y="960120"/>
          <a:ext cx="530352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r3-pos" descr=""/>
          <p:cNvGraphicFramePr/>
          <p:nvPr/>
        </p:nvGraphicFramePr>
        <p:xfrm>
          <a:off x="457200" y="2880360"/>
          <a:ext cx="5303520" cy="1783080"/>
        </p:xfrm>
        <a:graphic xmlns:a="http://schemas.openxmlformats.org/drawingml/2006/main">
          <a:graphicData uri="http://schemas.openxmlformats.org/drawingml/2006/chart">
            <c:chart xmlns:c="http://schemas.openxmlformats.org/drawingml/2006/chart" r:id="rId2"/>
          </a:graphicData>
        </a:graphic>
      </p:graphicFrame>
      <p:sp>
        <p:nvSpPr>
          <p:cNvPr id="7" name="pt-68"/>
          <p:cNvSpPr/>
          <p:nvPr/>
        </p:nvSpPr>
        <p:spPr>
          <a:xfrm>
            <a:off x="6035040" y="1207008"/>
            <a:ext cx="329184" cy="329184"/>
          </a:xfrm>
          <a:prstGeom prst="ellipse">
            <a:avLst/>
          </a:prstGeom>
          <a:solidFill>
            <a:schemeClr val="accent1"/>
          </a:solidFill>
          <a:ln w="12700">
            <a:solidFill>
              <a:schemeClr val="accent1"/>
            </a:solidFill>
            <a:prstDash val="solid"/>
          </a:ln>
        </p:spPr>
      </p:sp>
      <p:sp>
        <p:nvSpPr>
          <p:cNvPr id="8" name="text-69"/>
          <p:cNvSpPr txBox="1"/>
          <p:nvPr/>
        </p:nvSpPr>
        <p:spPr>
          <a:xfrm>
            <a:off x="6035040" y="120700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70"/>
          <p:cNvSpPr txBox="1"/>
          <p:nvPr/>
        </p:nvSpPr>
        <p:spPr>
          <a:xfrm>
            <a:off x="6492240" y="1170432"/>
            <a:ext cx="2194560" cy="292608"/>
          </a:xfrm>
          <a:prstGeom prst="rect">
            <a:avLst/>
          </a:prstGeom>
          <a:noFill/>
          <a:ln/>
        </p:spPr>
        <p:txBody>
          <a:bodyPr wrap="square" lIns="0" tIns="0" rIns="0" bIns="0" rtlCol="0" anchor="t"/>
          <a:lstStyle/>
          <a:p>
            <a:pPr indent="0" marL="0">
              <a:buNone/>
            </a:pPr>
            <a:r>
              <a:rPr lang="en-US" sz="1500" b="1" dirty="0">
                <a:solidFill>
                  <a:schemeClr val="tx1"/>
                </a:solidFill>
              </a:rPr>
              <a:t>Calm: follow the trend</a:t>
            </a:r>
            <a:endParaRPr lang="en-US" sz="1500" dirty="0"/>
          </a:p>
        </p:txBody>
      </p:sp>
      <p:sp>
        <p:nvSpPr>
          <p:cNvPr id="10" name="text-71"/>
          <p:cNvSpPr txBox="1"/>
          <p:nvPr/>
        </p:nvSpPr>
        <p:spPr>
          <a:xfrm>
            <a:off x="6492240" y="1463040"/>
            <a:ext cx="2194560" cy="411480"/>
          </a:xfrm>
          <a:prstGeom prst="rect">
            <a:avLst/>
          </a:prstGeom>
          <a:noFill/>
          <a:ln/>
        </p:spPr>
        <p:txBody>
          <a:bodyPr wrap="square" lIns="0" tIns="0" rIns="0" bIns="0" rtlCol="0" anchor="t"/>
          <a:lstStyle/>
          <a:p>
            <a:pPr indent="0" marL="0">
              <a:buNone/>
            </a:pPr>
            <a:r>
              <a:rPr lang="en-US" sz="1250" dirty="0">
                <a:solidFill>
                  <a:srgbClr val="55666E"/>
                </a:solidFill>
              </a:rPr>
              <a:t>Buy when the trend is up</a:t>
            </a:r>
            <a:endParaRPr lang="en-US" sz="1250" dirty="0"/>
          </a:p>
        </p:txBody>
      </p:sp>
      <p:sp>
        <p:nvSpPr>
          <p:cNvPr id="11" name="pt-72"/>
          <p:cNvSpPr/>
          <p:nvPr/>
        </p:nvSpPr>
        <p:spPr>
          <a:xfrm>
            <a:off x="6035040" y="2304288"/>
            <a:ext cx="329184" cy="329184"/>
          </a:xfrm>
          <a:prstGeom prst="ellipse">
            <a:avLst/>
          </a:prstGeom>
          <a:solidFill>
            <a:schemeClr val="accent1"/>
          </a:solidFill>
          <a:ln w="12700">
            <a:solidFill>
              <a:schemeClr val="accent1"/>
            </a:solidFill>
            <a:prstDash val="solid"/>
          </a:ln>
        </p:spPr>
      </p:sp>
      <p:sp>
        <p:nvSpPr>
          <p:cNvPr id="12" name="text-73"/>
          <p:cNvSpPr txBox="1"/>
          <p:nvPr/>
        </p:nvSpPr>
        <p:spPr>
          <a:xfrm>
            <a:off x="6035040" y="23042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74"/>
          <p:cNvSpPr txBox="1"/>
          <p:nvPr/>
        </p:nvSpPr>
        <p:spPr>
          <a:xfrm>
            <a:off x="6492240" y="2267712"/>
            <a:ext cx="2194560" cy="292608"/>
          </a:xfrm>
          <a:prstGeom prst="rect">
            <a:avLst/>
          </a:prstGeom>
          <a:noFill/>
          <a:ln/>
        </p:spPr>
        <p:txBody>
          <a:bodyPr wrap="square" lIns="0" tIns="0" rIns="0" bIns="0" rtlCol="0" anchor="t"/>
          <a:lstStyle/>
          <a:p>
            <a:pPr indent="0" marL="0">
              <a:buNone/>
            </a:pPr>
            <a:r>
              <a:rPr lang="en-US" sz="1500" b="1" dirty="0">
                <a:solidFill>
                  <a:schemeClr val="tx1"/>
                </a:solidFill>
              </a:rPr>
              <a:t>Crash: small or nothing</a:t>
            </a:r>
            <a:endParaRPr lang="en-US" sz="1500" dirty="0"/>
          </a:p>
        </p:txBody>
      </p:sp>
      <p:sp>
        <p:nvSpPr>
          <p:cNvPr id="14" name="text-75"/>
          <p:cNvSpPr txBox="1"/>
          <p:nvPr/>
        </p:nvSpPr>
        <p:spPr>
          <a:xfrm>
            <a:off x="6492240" y="2560320"/>
            <a:ext cx="2194560" cy="411480"/>
          </a:xfrm>
          <a:prstGeom prst="rect">
            <a:avLst/>
          </a:prstGeom>
          <a:noFill/>
          <a:ln/>
        </p:spPr>
        <p:txBody>
          <a:bodyPr wrap="square" lIns="0" tIns="0" rIns="0" bIns="0" rtlCol="0" anchor="t"/>
          <a:lstStyle/>
          <a:p>
            <a:pPr indent="0" marL="0">
              <a:buNone/>
            </a:pPr>
            <a:r>
              <a:rPr lang="en-US" sz="1250" dirty="0">
                <a:solidFill>
                  <a:srgbClr val="55666E"/>
                </a:solidFill>
              </a:rPr>
              <a:t>Small short while falling, else stay out</a:t>
            </a:r>
            <a:endParaRPr lang="en-US" sz="1250" dirty="0"/>
          </a:p>
        </p:txBody>
      </p:sp>
      <p:sp>
        <p:nvSpPr>
          <p:cNvPr id="15" name="pt-76"/>
          <p:cNvSpPr/>
          <p:nvPr/>
        </p:nvSpPr>
        <p:spPr>
          <a:xfrm>
            <a:off x="6035040" y="3401568"/>
            <a:ext cx="329184" cy="329184"/>
          </a:xfrm>
          <a:prstGeom prst="ellipse">
            <a:avLst/>
          </a:prstGeom>
          <a:solidFill>
            <a:schemeClr val="accent1"/>
          </a:solidFill>
          <a:ln w="12700">
            <a:solidFill>
              <a:schemeClr val="accent1"/>
            </a:solidFill>
            <a:prstDash val="solid"/>
          </a:ln>
        </p:spPr>
      </p:sp>
      <p:sp>
        <p:nvSpPr>
          <p:cNvPr id="16" name="text-77"/>
          <p:cNvSpPr txBox="1"/>
          <p:nvPr/>
        </p:nvSpPr>
        <p:spPr>
          <a:xfrm>
            <a:off x="6035040" y="34015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78"/>
          <p:cNvSpPr txBox="1"/>
          <p:nvPr/>
        </p:nvSpPr>
        <p:spPr>
          <a:xfrm>
            <a:off x="6492240" y="3364992"/>
            <a:ext cx="2194560" cy="292608"/>
          </a:xfrm>
          <a:prstGeom prst="rect">
            <a:avLst/>
          </a:prstGeom>
          <a:noFill/>
          <a:ln/>
        </p:spPr>
        <p:txBody>
          <a:bodyPr wrap="square" lIns="0" tIns="0" rIns="0" bIns="0" rtlCol="0" anchor="t"/>
          <a:lstStyle/>
          <a:p>
            <a:pPr indent="0" marL="0">
              <a:buNone/>
            </a:pPr>
            <a:r>
              <a:rPr lang="en-US" sz="1500" b="1" dirty="0">
                <a:solidFill>
                  <a:schemeClr val="tx1"/>
                </a:solidFill>
              </a:rPr>
              <a:t>Add slowly, cut fast</a:t>
            </a:r>
            <a:endParaRPr lang="en-US" sz="1500" dirty="0"/>
          </a:p>
        </p:txBody>
      </p:sp>
      <p:sp>
        <p:nvSpPr>
          <p:cNvPr id="18" name="text-79"/>
          <p:cNvSpPr txBox="1"/>
          <p:nvPr/>
        </p:nvSpPr>
        <p:spPr>
          <a:xfrm>
            <a:off x="6492240" y="3657600"/>
            <a:ext cx="2194560" cy="411480"/>
          </a:xfrm>
          <a:prstGeom prst="rect">
            <a:avLst/>
          </a:prstGeom>
          <a:noFill/>
          <a:ln/>
        </p:spPr>
        <p:txBody>
          <a:bodyPr wrap="square" lIns="0" tIns="0" rIns="0" bIns="0" rtlCol="0" anchor="t"/>
          <a:lstStyle/>
          <a:p>
            <a:pPr indent="0" marL="0">
              <a:buNone/>
            </a:pPr>
            <a:r>
              <a:rPr lang="en-US" sz="1250" dirty="0">
                <a:solidFill>
                  <a:srgbClr val="55666E"/>
                </a:solidFill>
              </a:rPr>
              <a:t>Fewer trades, lower costs</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3 result: we protected the money</a:t>
            </a:r>
            <a:endParaRPr lang="en-US" sz="2800" dirty="0"/>
          </a:p>
        </p:txBody>
      </p:sp>
      <p:sp>
        <p:nvSpPr>
          <p:cNvPr id="3" name="kicker-80"/>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3 · RESULT AFTER TRADING COSTS</a:t>
            </a:r>
            <a:endParaRPr lang="en-US" sz="1000" dirty="0"/>
          </a:p>
        </p:txBody>
      </p:sp>
      <p:graphicFrame>
        <p:nvGraphicFramePr>
          <p:cNvPr id="5" name="chart-r3-eq" descr=""/>
          <p:cNvGraphicFramePr/>
          <p:nvPr/>
        </p:nvGraphicFramePr>
        <p:xfrm>
          <a:off x="457200" y="960120"/>
          <a:ext cx="5120640" cy="3703320"/>
        </p:xfrm>
        <a:graphic xmlns:a="http://schemas.openxmlformats.org/drawingml/2006/main">
          <a:graphicData uri="http://schemas.openxmlformats.org/drawingml/2006/chart">
            <c:chart xmlns:c="http://schemas.openxmlformats.org/drawingml/2006/chart" r:id="rId1"/>
          </a:graphicData>
        </a:graphic>
      </p:graphicFrame>
      <p:sp>
        <p:nvSpPr>
          <p:cNvPr id="6" name="card-81"/>
          <p:cNvSpPr/>
          <p:nvPr/>
        </p:nvSpPr>
        <p:spPr>
          <a:xfrm>
            <a:off x="5852160" y="1005840"/>
            <a:ext cx="2834640" cy="1691640"/>
          </a:xfrm>
          <a:prstGeom prst="roundRect">
            <a:avLst>
              <a:gd name="adj" fmla="val 4324"/>
            </a:avLst>
          </a:prstGeom>
          <a:solidFill>
            <a:schemeClr val="bg2"/>
          </a:solidFill>
          <a:ln w="12700">
            <a:solidFill>
              <a:schemeClr val="bg2"/>
            </a:solidFill>
            <a:prstDash val="solid"/>
          </a:ln>
        </p:spPr>
      </p:sp>
      <p:sp>
        <p:nvSpPr>
          <p:cNvPr id="7" name="text-82"/>
          <p:cNvSpPr txBox="1"/>
          <p:nvPr/>
        </p:nvSpPr>
        <p:spPr>
          <a:xfrm>
            <a:off x="6035040" y="1051560"/>
            <a:ext cx="2560320" cy="685800"/>
          </a:xfrm>
          <a:prstGeom prst="rect">
            <a:avLst/>
          </a:prstGeom>
          <a:noFill/>
          <a:ln/>
        </p:spPr>
        <p:txBody>
          <a:bodyPr wrap="square" lIns="0" tIns="0" rIns="0" bIns="0" rtlCol="0" anchor="b"/>
          <a:lstStyle/>
          <a:p>
            <a:pPr indent="0" marL="0">
              <a:buNone/>
            </a:pPr>
            <a:r>
              <a:rPr lang="en-US" sz="4000" b="1" dirty="0">
                <a:solidFill>
                  <a:schemeClr val="accent5"/>
                </a:solidFill>
                <a:latin typeface="Cambria" pitchFamily="34" charset="0"/>
                <a:ea typeface="Cambria" pitchFamily="34" charset="-122"/>
                <a:cs typeface="Cambria" pitchFamily="34" charset="-120"/>
              </a:rPr>
              <a:t>+3.7%</a:t>
            </a:r>
            <a:endParaRPr lang="en-US" sz="4000" dirty="0"/>
          </a:p>
        </p:txBody>
      </p:sp>
      <p:sp>
        <p:nvSpPr>
          <p:cNvPr id="8" name="text-83"/>
          <p:cNvSpPr txBox="1"/>
          <p:nvPr/>
        </p:nvSpPr>
        <p:spPr>
          <a:xfrm>
            <a:off x="6035040" y="1783080"/>
            <a:ext cx="2560320" cy="292608"/>
          </a:xfrm>
          <a:prstGeom prst="rect">
            <a:avLst/>
          </a:prstGeom>
          <a:noFill/>
          <a:ln/>
        </p:spPr>
        <p:txBody>
          <a:bodyPr wrap="square" lIns="0" tIns="0" rIns="0" bIns="0" rtlCol="0" anchor="t"/>
          <a:lstStyle/>
          <a:p>
            <a:pPr indent="0" marL="0">
              <a:buNone/>
            </a:pPr>
            <a:r>
              <a:rPr lang="en-US" sz="1300" b="1" dirty="0">
                <a:solidFill>
                  <a:schemeClr val="tx1"/>
                </a:solidFill>
              </a:rPr>
              <a:t>Our return</a:t>
            </a:r>
            <a:endParaRPr lang="en-US" sz="1300" dirty="0"/>
          </a:p>
        </p:txBody>
      </p:sp>
      <p:sp>
        <p:nvSpPr>
          <p:cNvPr id="9" name="text-84"/>
          <p:cNvSpPr txBox="1"/>
          <p:nvPr/>
        </p:nvSpPr>
        <p:spPr>
          <a:xfrm>
            <a:off x="6035040" y="2075688"/>
            <a:ext cx="2560320" cy="274320"/>
          </a:xfrm>
          <a:prstGeom prst="rect">
            <a:avLst/>
          </a:prstGeom>
          <a:noFill/>
          <a:ln/>
        </p:spPr>
        <p:txBody>
          <a:bodyPr wrap="square" lIns="0" tIns="0" rIns="0" bIns="0" rtlCol="0" anchor="t"/>
          <a:lstStyle/>
          <a:p>
            <a:pPr indent="0" marL="0">
              <a:buNone/>
            </a:pPr>
            <a:r>
              <a:rPr lang="en-US" sz="1150" dirty="0">
                <a:solidFill>
                  <a:srgbClr val="55666E"/>
                </a:solidFill>
              </a:rPr>
              <a:t>Holding: −49.0%</a:t>
            </a:r>
            <a:endParaRPr lang="en-US" sz="1150" dirty="0"/>
          </a:p>
        </p:txBody>
      </p:sp>
      <p:sp>
        <p:nvSpPr>
          <p:cNvPr id="10" name="card-85"/>
          <p:cNvSpPr/>
          <p:nvPr/>
        </p:nvSpPr>
        <p:spPr>
          <a:xfrm>
            <a:off x="5852160" y="2834640"/>
            <a:ext cx="2834640" cy="1691640"/>
          </a:xfrm>
          <a:prstGeom prst="roundRect">
            <a:avLst>
              <a:gd name="adj" fmla="val 4324"/>
            </a:avLst>
          </a:prstGeom>
          <a:solidFill>
            <a:schemeClr val="bg2"/>
          </a:solidFill>
          <a:ln w="12700">
            <a:solidFill>
              <a:schemeClr val="bg2"/>
            </a:solidFill>
            <a:prstDash val="solid"/>
          </a:ln>
        </p:spPr>
      </p:sp>
      <p:sp>
        <p:nvSpPr>
          <p:cNvPr id="11" name="text-86"/>
          <p:cNvSpPr txBox="1"/>
          <p:nvPr/>
        </p:nvSpPr>
        <p:spPr>
          <a:xfrm>
            <a:off x="6035040" y="2880360"/>
            <a:ext cx="25603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-4.4%</a:t>
            </a:r>
            <a:endParaRPr lang="en-US" sz="4000" dirty="0"/>
          </a:p>
        </p:txBody>
      </p:sp>
      <p:sp>
        <p:nvSpPr>
          <p:cNvPr id="12" name="text-87"/>
          <p:cNvSpPr txBox="1"/>
          <p:nvPr/>
        </p:nvSpPr>
        <p:spPr>
          <a:xfrm>
            <a:off x="6035040" y="3611880"/>
            <a:ext cx="2560320" cy="292608"/>
          </a:xfrm>
          <a:prstGeom prst="rect">
            <a:avLst/>
          </a:prstGeom>
          <a:noFill/>
          <a:ln/>
        </p:spPr>
        <p:txBody>
          <a:bodyPr wrap="square" lIns="0" tIns="0" rIns="0" bIns="0" rtlCol="0" anchor="t"/>
          <a:lstStyle/>
          <a:p>
            <a:pPr indent="0" marL="0">
              <a:buNone/>
            </a:pPr>
            <a:r>
              <a:rPr lang="en-US" sz="1300" b="1" dirty="0">
                <a:solidFill>
                  <a:schemeClr val="tx1"/>
                </a:solidFill>
              </a:rPr>
              <a:t>Worst drop</a:t>
            </a:r>
            <a:endParaRPr lang="en-US" sz="1300" dirty="0"/>
          </a:p>
        </p:txBody>
      </p:sp>
      <p:sp>
        <p:nvSpPr>
          <p:cNvPr id="13" name="text-88"/>
          <p:cNvSpPr txBox="1"/>
          <p:nvPr/>
        </p:nvSpPr>
        <p:spPr>
          <a:xfrm>
            <a:off x="6035040" y="3904488"/>
            <a:ext cx="2560320" cy="274320"/>
          </a:xfrm>
          <a:prstGeom prst="rect">
            <a:avLst/>
          </a:prstGeom>
          <a:noFill/>
          <a:ln/>
        </p:spPr>
        <p:txBody>
          <a:bodyPr wrap="square" lIns="0" tIns="0" rIns="0" bIns="0" rtlCol="0" anchor="t"/>
          <a:lstStyle/>
          <a:p>
            <a:pPr indent="0" marL="0">
              <a:buNone/>
            </a:pPr>
            <a:r>
              <a:rPr lang="en-US" sz="1150" dirty="0">
                <a:solidFill>
                  <a:srgbClr val="55666E"/>
                </a:solidFill>
              </a:rPr>
              <a:t>Holding: -51.4%</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What we built: the code behind each round</a:t>
            </a:r>
            <a:endParaRPr lang="en-US" sz="2800" dirty="0"/>
          </a:p>
        </p:txBody>
      </p:sp>
      <p:sp>
        <p:nvSpPr>
          <p:cNvPr id="3" name="kicker-89"/>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OUR GITHUB REPO</a:t>
            </a:r>
            <a:endParaRPr lang="en-US" sz="1000" dirty="0"/>
          </a:p>
        </p:txBody>
      </p:sp>
      <p:sp>
        <p:nvSpPr>
          <p:cNvPr id="5" name="card-90"/>
          <p:cNvSpPr/>
          <p:nvPr/>
        </p:nvSpPr>
        <p:spPr>
          <a:xfrm>
            <a:off x="457200" y="1051560"/>
            <a:ext cx="4023360" cy="1280160"/>
          </a:xfrm>
          <a:prstGeom prst="roundRect">
            <a:avLst>
              <a:gd name="adj" fmla="val 5714"/>
            </a:avLst>
          </a:prstGeom>
          <a:solidFill>
            <a:schemeClr val="bg2"/>
          </a:solidFill>
          <a:ln w="12700">
            <a:solidFill>
              <a:schemeClr val="bg2"/>
            </a:solidFill>
            <a:prstDash val="solid"/>
          </a:ln>
        </p:spPr>
      </p:sp>
      <p:sp>
        <p:nvSpPr>
          <p:cNvPr id="6" name="text-91"/>
          <p:cNvSpPr txBox="1"/>
          <p:nvPr/>
        </p:nvSpPr>
        <p:spPr>
          <a:xfrm>
            <a:off x="640080" y="1161288"/>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Round 1</a:t>
            </a:r>
            <a:endParaRPr lang="en-US" sz="1200" dirty="0"/>
          </a:p>
        </p:txBody>
      </p:sp>
      <p:sp>
        <p:nvSpPr>
          <p:cNvPr id="7" name="text-92"/>
          <p:cNvSpPr txBox="1"/>
          <p:nvPr/>
        </p:nvSpPr>
        <p:spPr>
          <a:xfrm>
            <a:off x="640080" y="1435608"/>
            <a:ext cx="365760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generate_round1_submission.py</a:t>
            </a:r>
            <a:endParaRPr lang="en-US" sz="1200" dirty="0"/>
          </a:p>
        </p:txBody>
      </p:sp>
      <p:sp>
        <p:nvSpPr>
          <p:cNvPr id="8" name="text-93"/>
          <p:cNvSpPr txBox="1"/>
          <p:nvPr/>
        </p:nvSpPr>
        <p:spPr>
          <a:xfrm>
            <a:off x="640080" y="1764792"/>
            <a:ext cx="3657600" cy="502920"/>
          </a:xfrm>
          <a:prstGeom prst="rect">
            <a:avLst/>
          </a:prstGeom>
          <a:noFill/>
          <a:ln/>
        </p:spPr>
        <p:txBody>
          <a:bodyPr wrap="square" lIns="0" tIns="0" rIns="0" bIns="0" rtlCol="0" anchor="t"/>
          <a:lstStyle/>
          <a:p>
            <a:pPr indent="0" marL="0">
              <a:buNone/>
            </a:pPr>
            <a:r>
              <a:rPr lang="en-US" sz="1250" dirty="0">
                <a:solidFill>
                  <a:srgbClr val="55666E"/>
                </a:solidFill>
              </a:rPr>
              <a:t>Builds 34 inputs, trains 3 models, mixes them. Tested by validate_round1.py</a:t>
            </a:r>
            <a:endParaRPr lang="en-US" sz="1250" dirty="0"/>
          </a:p>
        </p:txBody>
      </p:sp>
      <p:sp>
        <p:nvSpPr>
          <p:cNvPr id="9" name="card-94"/>
          <p:cNvSpPr/>
          <p:nvPr/>
        </p:nvSpPr>
        <p:spPr>
          <a:xfrm>
            <a:off x="4663440" y="1051560"/>
            <a:ext cx="4023360" cy="1280160"/>
          </a:xfrm>
          <a:prstGeom prst="roundRect">
            <a:avLst>
              <a:gd name="adj" fmla="val 5714"/>
            </a:avLst>
          </a:prstGeom>
          <a:solidFill>
            <a:schemeClr val="bg2"/>
          </a:solidFill>
          <a:ln w="12700">
            <a:solidFill>
              <a:schemeClr val="bg2"/>
            </a:solidFill>
            <a:prstDash val="solid"/>
          </a:ln>
        </p:spPr>
      </p:sp>
      <p:sp>
        <p:nvSpPr>
          <p:cNvPr id="10" name="text-95"/>
          <p:cNvSpPr txBox="1"/>
          <p:nvPr/>
        </p:nvSpPr>
        <p:spPr>
          <a:xfrm>
            <a:off x="4846320" y="1161288"/>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Round 2</a:t>
            </a:r>
            <a:endParaRPr lang="en-US" sz="1200" dirty="0"/>
          </a:p>
        </p:txBody>
      </p:sp>
      <p:sp>
        <p:nvSpPr>
          <p:cNvPr id="11" name="text-96"/>
          <p:cNvSpPr txBox="1"/>
          <p:nvPr/>
        </p:nvSpPr>
        <p:spPr>
          <a:xfrm>
            <a:off x="4846320" y="1435608"/>
            <a:ext cx="365760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generate_round2_round3_submissions.py</a:t>
            </a:r>
            <a:endParaRPr lang="en-US" sz="1200" dirty="0"/>
          </a:p>
        </p:txBody>
      </p:sp>
      <p:sp>
        <p:nvSpPr>
          <p:cNvPr id="12" name="text-97"/>
          <p:cNvSpPr txBox="1"/>
          <p:nvPr/>
        </p:nvSpPr>
        <p:spPr>
          <a:xfrm>
            <a:off x="4846320" y="1764792"/>
            <a:ext cx="3657600" cy="502920"/>
          </a:xfrm>
          <a:prstGeom prst="rect">
            <a:avLst/>
          </a:prstGeom>
          <a:noFill/>
          <a:ln/>
        </p:spPr>
        <p:txBody>
          <a:bodyPr wrap="square" lIns="0" tIns="0" rIns="0" bIns="0" rtlCol="0" anchor="t"/>
          <a:lstStyle/>
          <a:p>
            <a:pPr indent="0" marL="0">
              <a:buNone/>
            </a:pPr>
            <a:r>
              <a:rPr lang="en-US" sz="1250" dirty="0">
                <a:solidFill>
                  <a:srgbClr val="55666E"/>
                </a:solidFill>
              </a:rPr>
              <a:t>Works out the hidden close price from order_flow</a:t>
            </a:r>
            <a:endParaRPr lang="en-US" sz="1250" dirty="0"/>
          </a:p>
        </p:txBody>
      </p:sp>
      <p:sp>
        <p:nvSpPr>
          <p:cNvPr id="13" name="card-98"/>
          <p:cNvSpPr/>
          <p:nvPr/>
        </p:nvSpPr>
        <p:spPr>
          <a:xfrm>
            <a:off x="457200" y="2514600"/>
            <a:ext cx="4023360" cy="1280160"/>
          </a:xfrm>
          <a:prstGeom prst="roundRect">
            <a:avLst>
              <a:gd name="adj" fmla="val 5714"/>
            </a:avLst>
          </a:prstGeom>
          <a:solidFill>
            <a:schemeClr val="bg2"/>
          </a:solidFill>
          <a:ln w="12700">
            <a:solidFill>
              <a:schemeClr val="bg2"/>
            </a:solidFill>
            <a:prstDash val="solid"/>
          </a:ln>
        </p:spPr>
      </p:sp>
      <p:sp>
        <p:nvSpPr>
          <p:cNvPr id="14" name="text-99"/>
          <p:cNvSpPr txBox="1"/>
          <p:nvPr/>
        </p:nvSpPr>
        <p:spPr>
          <a:xfrm>
            <a:off x="640080" y="2624328"/>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Round 3</a:t>
            </a:r>
            <a:endParaRPr lang="en-US" sz="1200" dirty="0"/>
          </a:p>
        </p:txBody>
      </p:sp>
      <p:sp>
        <p:nvSpPr>
          <p:cNvPr id="15" name="text-100"/>
          <p:cNvSpPr txBox="1"/>
          <p:nvPr/>
        </p:nvSpPr>
        <p:spPr>
          <a:xfrm>
            <a:off x="640080" y="2898648"/>
            <a:ext cx="365760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generate_round3_signals.py</a:t>
            </a:r>
            <a:endParaRPr lang="en-US" sz="1200" dirty="0"/>
          </a:p>
        </p:txBody>
      </p:sp>
      <p:sp>
        <p:nvSpPr>
          <p:cNvPr id="16" name="text-101"/>
          <p:cNvSpPr txBox="1"/>
          <p:nvPr/>
        </p:nvSpPr>
        <p:spPr>
          <a:xfrm>
            <a:off x="640080" y="3227832"/>
            <a:ext cx="3657600" cy="502920"/>
          </a:xfrm>
          <a:prstGeom prst="rect">
            <a:avLst/>
          </a:prstGeom>
          <a:noFill/>
          <a:ln/>
        </p:spPr>
        <p:txBody>
          <a:bodyPr wrap="square" lIns="0" tIns="0" rIns="0" bIns="0" rtlCol="0" anchor="t"/>
          <a:lstStyle/>
          <a:p>
            <a:pPr indent="0" marL="0">
              <a:buNone/>
            </a:pPr>
            <a:r>
              <a:rPr lang="en-US" sz="1250" dirty="0">
                <a:solidFill>
                  <a:srgbClr val="55666E"/>
                </a:solidFill>
              </a:rPr>
              <a:t>Crash alarm, position sizing, and a no-future-data check</a:t>
            </a:r>
            <a:endParaRPr lang="en-US" sz="1250" dirty="0"/>
          </a:p>
        </p:txBody>
      </p:sp>
      <p:sp>
        <p:nvSpPr>
          <p:cNvPr id="17" name="card-102"/>
          <p:cNvSpPr/>
          <p:nvPr/>
        </p:nvSpPr>
        <p:spPr>
          <a:xfrm>
            <a:off x="4663440" y="2514600"/>
            <a:ext cx="4023360" cy="1280160"/>
          </a:xfrm>
          <a:prstGeom prst="roundRect">
            <a:avLst>
              <a:gd name="adj" fmla="val 5714"/>
            </a:avLst>
          </a:prstGeom>
          <a:solidFill>
            <a:schemeClr val="bg2"/>
          </a:solidFill>
          <a:ln w="12700">
            <a:solidFill>
              <a:schemeClr val="bg2"/>
            </a:solidFill>
            <a:prstDash val="solid"/>
          </a:ln>
        </p:spPr>
      </p:sp>
      <p:sp>
        <p:nvSpPr>
          <p:cNvPr id="18" name="text-103"/>
          <p:cNvSpPr txBox="1"/>
          <p:nvPr/>
        </p:nvSpPr>
        <p:spPr>
          <a:xfrm>
            <a:off x="4846320" y="2624328"/>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Research app</a:t>
            </a:r>
            <a:endParaRPr lang="en-US" sz="1200" dirty="0"/>
          </a:p>
        </p:txBody>
      </p:sp>
      <p:sp>
        <p:nvSpPr>
          <p:cNvPr id="19" name="text-104"/>
          <p:cNvSpPr txBox="1"/>
          <p:nvPr/>
        </p:nvSpPr>
        <p:spPr>
          <a:xfrm>
            <a:off x="4846320" y="2898648"/>
            <a:ext cx="365760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regime-x/</a:t>
            </a:r>
            <a:endParaRPr lang="en-US" sz="1200" dirty="0"/>
          </a:p>
        </p:txBody>
      </p:sp>
      <p:sp>
        <p:nvSpPr>
          <p:cNvPr id="20" name="text-105"/>
          <p:cNvSpPr txBox="1"/>
          <p:nvPr/>
        </p:nvSpPr>
        <p:spPr>
          <a:xfrm>
            <a:off x="4846320" y="3227832"/>
            <a:ext cx="3657600" cy="502920"/>
          </a:xfrm>
          <a:prstGeom prst="rect">
            <a:avLst/>
          </a:prstGeom>
          <a:noFill/>
          <a:ln/>
        </p:spPr>
        <p:txBody>
          <a:bodyPr wrap="square" lIns="0" tIns="0" rIns="0" bIns="0" rtlCol="0" anchor="t"/>
          <a:lstStyle/>
          <a:p>
            <a:pPr indent="0" marL="0">
              <a:buNone/>
            </a:pPr>
            <a:r>
              <a:rPr lang="en-US" sz="1250" dirty="0">
                <a:solidFill>
                  <a:srgbClr val="55666E"/>
                </a:solidFill>
              </a:rPr>
              <a:t>Dashboard + backend we used to test ideas before uploading</a:t>
            </a:r>
            <a:endParaRPr lang="en-US" sz="1250" dirty="0"/>
          </a:p>
        </p:txBody>
      </p:sp>
      <p:sp>
        <p:nvSpPr>
          <p:cNvPr id="21" name="text-106"/>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350" b="1" dirty="0">
                <a:solidFill>
                  <a:schemeClr val="tx1"/>
                </a:solidFill>
              </a:rPr>
              <a:t>Honest note: </a:t>
            </a:r>
            <a:pPr indent="0" marL="0">
              <a:buNone/>
            </a:pPr>
            <a:r>
              <a:rPr lang="en-US" sz="1350" dirty="0">
                <a:solidFill>
                  <a:schemeClr val="tx1"/>
                </a:solidFill>
              </a:rPr>
              <a:t>Round 2 used the next day's price, so we rebuilt Round 3 to use only past data, and the code checks it.</a:t>
            </a:r>
            <a:endParaRPr lang="en-US" sz="13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The market: a steady climb, then a cliff</a:t>
            </a:r>
            <a:endParaRPr lang="en-US" sz="2800" dirty="0"/>
          </a:p>
        </p:txBody>
      </p:sp>
      <p:sp>
        <p:nvSpPr>
          <p:cNvPr id="3" name="kicker-107"/>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DATA · round2_dataset.csv</a:t>
            </a:r>
            <a:endParaRPr lang="en-US" sz="1000" dirty="0"/>
          </a:p>
        </p:txBody>
      </p:sp>
      <p:graphicFrame>
        <p:nvGraphicFramePr>
          <p:cNvPr id="5" name="chart-market" descr=""/>
          <p:cNvGraphicFramePr/>
          <p:nvPr/>
        </p:nvGraphicFramePr>
        <p:xfrm>
          <a:off x="457200" y="100584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6" name="text-108"/>
          <p:cNvSpPr txBox="1"/>
          <p:nvPr/>
        </p:nvSpPr>
        <p:spPr>
          <a:xfrm>
            <a:off x="6400800" y="1051560"/>
            <a:ext cx="2286000" cy="59436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417</a:t>
            </a:r>
            <a:endParaRPr lang="en-US" sz="3400" dirty="0"/>
          </a:p>
        </p:txBody>
      </p:sp>
      <p:sp>
        <p:nvSpPr>
          <p:cNvPr id="7" name="text-109"/>
          <p:cNvSpPr txBox="1"/>
          <p:nvPr/>
        </p:nvSpPr>
        <p:spPr>
          <a:xfrm>
            <a:off x="6400800" y="1664208"/>
            <a:ext cx="2286000" cy="274320"/>
          </a:xfrm>
          <a:prstGeom prst="rect">
            <a:avLst/>
          </a:prstGeom>
          <a:noFill/>
          <a:ln/>
        </p:spPr>
        <p:txBody>
          <a:bodyPr wrap="square" lIns="0" tIns="0" rIns="0" bIns="0" rtlCol="0" anchor="t"/>
          <a:lstStyle/>
          <a:p>
            <a:pPr indent="0" marL="0">
              <a:buNone/>
            </a:pPr>
            <a:r>
              <a:rPr lang="en-US" sz="1200" dirty="0">
                <a:solidFill>
                  <a:srgbClr val="55666E"/>
                </a:solidFill>
              </a:rPr>
              <a:t>Peak close, bar 852</a:t>
            </a:r>
            <a:endParaRPr lang="en-US" sz="1200" dirty="0"/>
          </a:p>
        </p:txBody>
      </p:sp>
      <p:sp>
        <p:nvSpPr>
          <p:cNvPr id="8" name="text-110"/>
          <p:cNvSpPr txBox="1"/>
          <p:nvPr/>
        </p:nvSpPr>
        <p:spPr>
          <a:xfrm>
            <a:off x="6400800" y="2194560"/>
            <a:ext cx="2286000" cy="594360"/>
          </a:xfrm>
          <a:prstGeom prst="rect">
            <a:avLst/>
          </a:prstGeom>
          <a:noFill/>
          <a:ln/>
        </p:spPr>
        <p:txBody>
          <a:bodyPr wrap="square" lIns="0" tIns="0" rIns="0" bIns="0" rtlCol="0" anchor="b"/>
          <a:lstStyle/>
          <a:p>
            <a:pPr indent="0" marL="0">
              <a:buNone/>
            </a:pPr>
            <a:r>
              <a:rPr lang="en-US" sz="3400" b="1" dirty="0">
                <a:solidFill>
                  <a:schemeClr val="accent3"/>
                </a:solidFill>
                <a:latin typeface="Cambria" pitchFamily="34" charset="0"/>
                <a:ea typeface="Cambria" pitchFamily="34" charset="-122"/>
                <a:cs typeface="Cambria" pitchFamily="34" charset="-120"/>
              </a:rPr>
              <a:t>203</a:t>
            </a:r>
            <a:endParaRPr lang="en-US" sz="3400" dirty="0"/>
          </a:p>
        </p:txBody>
      </p:sp>
      <p:sp>
        <p:nvSpPr>
          <p:cNvPr id="9" name="text-111"/>
          <p:cNvSpPr txBox="1"/>
          <p:nvPr/>
        </p:nvSpPr>
        <p:spPr>
          <a:xfrm>
            <a:off x="6400800" y="2807208"/>
            <a:ext cx="2286000" cy="274320"/>
          </a:xfrm>
          <a:prstGeom prst="rect">
            <a:avLst/>
          </a:prstGeom>
          <a:noFill/>
          <a:ln/>
        </p:spPr>
        <p:txBody>
          <a:bodyPr wrap="square" lIns="0" tIns="0" rIns="0" bIns="0" rtlCol="0" anchor="t"/>
          <a:lstStyle/>
          <a:p>
            <a:pPr indent="0" marL="0">
              <a:buNone/>
            </a:pPr>
            <a:r>
              <a:rPr lang="en-US" sz="1200" dirty="0">
                <a:solidFill>
                  <a:srgbClr val="55666E"/>
                </a:solidFill>
              </a:rPr>
              <a:t>Close at bar 900</a:t>
            </a:r>
            <a:endParaRPr lang="en-US" sz="1200" dirty="0"/>
          </a:p>
        </p:txBody>
      </p:sp>
      <p:sp>
        <p:nvSpPr>
          <p:cNvPr id="10" name="text-112"/>
          <p:cNvSpPr txBox="1"/>
          <p:nvPr/>
        </p:nvSpPr>
        <p:spPr>
          <a:xfrm>
            <a:off x="6400800" y="3337560"/>
            <a:ext cx="2286000" cy="594360"/>
          </a:xfrm>
          <a:prstGeom prst="rect">
            <a:avLst/>
          </a:prstGeom>
          <a:noFill/>
          <a:ln/>
        </p:spPr>
        <p:txBody>
          <a:bodyPr wrap="square" lIns="0" tIns="0" rIns="0" bIns="0" rtlCol="0" anchor="b"/>
          <a:lstStyle/>
          <a:p>
            <a:pPr indent="0" marL="0">
              <a:buNone/>
            </a:pPr>
            <a:r>
              <a:rPr lang="en-US" sz="3400" b="1" dirty="0">
                <a:solidFill>
                  <a:schemeClr val="accent3"/>
                </a:solidFill>
                <a:latin typeface="Cambria" pitchFamily="34" charset="0"/>
                <a:ea typeface="Cambria" pitchFamily="34" charset="-122"/>
                <a:cs typeface="Cambria" pitchFamily="34" charset="-120"/>
              </a:rPr>
              <a:t>-51.4%</a:t>
            </a:r>
            <a:endParaRPr lang="en-US" sz="3400" dirty="0"/>
          </a:p>
        </p:txBody>
      </p:sp>
      <p:sp>
        <p:nvSpPr>
          <p:cNvPr id="11" name="text-113"/>
          <p:cNvSpPr txBox="1"/>
          <p:nvPr/>
        </p:nvSpPr>
        <p:spPr>
          <a:xfrm>
            <a:off x="6400800" y="3950208"/>
            <a:ext cx="2286000" cy="274320"/>
          </a:xfrm>
          <a:prstGeom prst="rect">
            <a:avLst/>
          </a:prstGeom>
          <a:noFill/>
          <a:ln/>
        </p:spPr>
        <p:txBody>
          <a:bodyPr wrap="square" lIns="0" tIns="0" rIns="0" bIns="0" rtlCol="0" anchor="t"/>
          <a:lstStyle/>
          <a:p>
            <a:pPr indent="0" marL="0">
              <a:buNone/>
            </a:pPr>
            <a:r>
              <a:rPr lang="en-US" sz="1200" dirty="0">
                <a:solidFill>
                  <a:srgbClr val="55666E"/>
                </a:solidFill>
              </a:rPr>
              <a:t>Peak to bar 900</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1 pipeline, step by step</a:t>
            </a:r>
            <a:endParaRPr lang="en-US" sz="2800" dirty="0"/>
          </a:p>
        </p:txBody>
      </p:sp>
      <p:sp>
        <p:nvSpPr>
          <p:cNvPr id="3" name="kicker-114"/>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1 · generate_round1_submission.py</a:t>
            </a:r>
            <a:endParaRPr lang="en-US" sz="1000" dirty="0"/>
          </a:p>
        </p:txBody>
      </p:sp>
      <p:sp>
        <p:nvSpPr>
          <p:cNvPr id="5" name="card-115"/>
          <p:cNvSpPr/>
          <p:nvPr/>
        </p:nvSpPr>
        <p:spPr>
          <a:xfrm>
            <a:off x="457200" y="1143000"/>
            <a:ext cx="2590800" cy="1417320"/>
          </a:xfrm>
          <a:prstGeom prst="roundRect">
            <a:avLst>
              <a:gd name="adj" fmla="val 5161"/>
            </a:avLst>
          </a:prstGeom>
          <a:solidFill>
            <a:schemeClr val="bg2"/>
          </a:solidFill>
          <a:ln w="12700">
            <a:solidFill>
              <a:schemeClr val="bg2"/>
            </a:solidFill>
            <a:prstDash val="solid"/>
          </a:ln>
        </p:spPr>
      </p:sp>
      <p:sp>
        <p:nvSpPr>
          <p:cNvPr id="6" name="step-dot-116"/>
          <p:cNvSpPr/>
          <p:nvPr/>
        </p:nvSpPr>
        <p:spPr>
          <a:xfrm>
            <a:off x="594360" y="1280160"/>
            <a:ext cx="329184" cy="329184"/>
          </a:xfrm>
          <a:prstGeom prst="ellipse">
            <a:avLst/>
          </a:prstGeom>
          <a:solidFill>
            <a:schemeClr val="accent1"/>
          </a:solidFill>
          <a:ln w="12700">
            <a:solidFill>
              <a:schemeClr val="accent1"/>
            </a:solidFill>
            <a:prstDash val="solid"/>
          </a:ln>
        </p:spPr>
      </p:sp>
      <p:sp>
        <p:nvSpPr>
          <p:cNvPr id="7" name="text-117"/>
          <p:cNvSpPr txBox="1"/>
          <p:nvPr/>
        </p:nvSpPr>
        <p:spPr>
          <a:xfrm>
            <a:off x="59436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118"/>
          <p:cNvSpPr txBox="1"/>
          <p:nvPr/>
        </p:nvSpPr>
        <p:spPr>
          <a:xfrm>
            <a:off x="1005840" y="126187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Load 1–850</a:t>
            </a:r>
            <a:endParaRPr lang="en-US" sz="1400" dirty="0"/>
          </a:p>
        </p:txBody>
      </p:sp>
      <p:sp>
        <p:nvSpPr>
          <p:cNvPr id="9" name="text-119"/>
          <p:cNvSpPr txBox="1"/>
          <p:nvPr/>
        </p:nvSpPr>
        <p:spPr>
          <a:xfrm>
            <a:off x="594360" y="1709928"/>
            <a:ext cx="2316480" cy="758952"/>
          </a:xfrm>
          <a:prstGeom prst="rect">
            <a:avLst/>
          </a:prstGeom>
          <a:noFill/>
          <a:ln/>
        </p:spPr>
        <p:txBody>
          <a:bodyPr wrap="square" lIns="0" tIns="0" rIns="0" bIns="0" rtlCol="0" anchor="t"/>
          <a:lstStyle/>
          <a:p>
            <a:pPr indent="0" marL="0">
              <a:buNone/>
            </a:pPr>
            <a:r>
              <a:rPr lang="en-US" sz="1150" dirty="0">
                <a:solidFill>
                  <a:srgbClr val="55666E"/>
                </a:solidFill>
              </a:rPr>
              <a:t>Train on rows 1–800 where the target is known; predict rows 801–850.</a:t>
            </a:r>
            <a:endParaRPr lang="en-US" sz="1150" dirty="0"/>
          </a:p>
        </p:txBody>
      </p:sp>
      <p:sp>
        <p:nvSpPr>
          <p:cNvPr id="10" name="card-120"/>
          <p:cNvSpPr/>
          <p:nvPr/>
        </p:nvSpPr>
        <p:spPr>
          <a:xfrm>
            <a:off x="3276600" y="1143000"/>
            <a:ext cx="2590800" cy="1417320"/>
          </a:xfrm>
          <a:prstGeom prst="roundRect">
            <a:avLst>
              <a:gd name="adj" fmla="val 5161"/>
            </a:avLst>
          </a:prstGeom>
          <a:solidFill>
            <a:schemeClr val="bg2"/>
          </a:solidFill>
          <a:ln w="12700">
            <a:solidFill>
              <a:schemeClr val="bg2"/>
            </a:solidFill>
            <a:prstDash val="solid"/>
          </a:ln>
        </p:spPr>
      </p:sp>
      <p:sp>
        <p:nvSpPr>
          <p:cNvPr id="11" name="step-dot-121"/>
          <p:cNvSpPr/>
          <p:nvPr/>
        </p:nvSpPr>
        <p:spPr>
          <a:xfrm>
            <a:off x="3413760" y="1280160"/>
            <a:ext cx="329184" cy="329184"/>
          </a:xfrm>
          <a:prstGeom prst="ellipse">
            <a:avLst/>
          </a:prstGeom>
          <a:solidFill>
            <a:schemeClr val="accent1"/>
          </a:solidFill>
          <a:ln w="12700">
            <a:solidFill>
              <a:schemeClr val="accent1"/>
            </a:solidFill>
            <a:prstDash val="solid"/>
          </a:ln>
        </p:spPr>
      </p:sp>
      <p:sp>
        <p:nvSpPr>
          <p:cNvPr id="12" name="text-122"/>
          <p:cNvSpPr txBox="1"/>
          <p:nvPr/>
        </p:nvSpPr>
        <p:spPr>
          <a:xfrm>
            <a:off x="341376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123"/>
          <p:cNvSpPr txBox="1"/>
          <p:nvPr/>
        </p:nvSpPr>
        <p:spPr>
          <a:xfrm>
            <a:off x="3825240" y="126187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Engineer features</a:t>
            </a:r>
            <a:endParaRPr lang="en-US" sz="1400" dirty="0"/>
          </a:p>
        </p:txBody>
      </p:sp>
      <p:sp>
        <p:nvSpPr>
          <p:cNvPr id="14" name="text-124"/>
          <p:cNvSpPr txBox="1"/>
          <p:nvPr/>
        </p:nvSpPr>
        <p:spPr>
          <a:xfrm>
            <a:off x="3413760" y="1709928"/>
            <a:ext cx="2316480" cy="758952"/>
          </a:xfrm>
          <a:prstGeom prst="rect">
            <a:avLst/>
          </a:prstGeom>
          <a:noFill/>
          <a:ln/>
        </p:spPr>
        <p:txBody>
          <a:bodyPr wrap="square" lIns="0" tIns="0" rIns="0" bIns="0" rtlCol="0" anchor="t"/>
          <a:lstStyle/>
          <a:p>
            <a:pPr indent="0" marL="0">
              <a:buNone/>
            </a:pPr>
            <a:r>
              <a:rPr lang="en-US" sz="1150" dirty="0">
                <a:solidFill>
                  <a:srgbClr val="55666E"/>
                </a:solidFill>
              </a:rPr>
              <a:t>34 stationary features from current and past bars only.</a:t>
            </a:r>
            <a:endParaRPr lang="en-US" sz="1150" dirty="0"/>
          </a:p>
        </p:txBody>
      </p:sp>
      <p:sp>
        <p:nvSpPr>
          <p:cNvPr id="15" name="card-125"/>
          <p:cNvSpPr/>
          <p:nvPr/>
        </p:nvSpPr>
        <p:spPr>
          <a:xfrm>
            <a:off x="6096000" y="1143000"/>
            <a:ext cx="2590800" cy="1417320"/>
          </a:xfrm>
          <a:prstGeom prst="roundRect">
            <a:avLst>
              <a:gd name="adj" fmla="val 5161"/>
            </a:avLst>
          </a:prstGeom>
          <a:solidFill>
            <a:schemeClr val="bg2"/>
          </a:solidFill>
          <a:ln w="12700">
            <a:solidFill>
              <a:schemeClr val="bg2"/>
            </a:solidFill>
            <a:prstDash val="solid"/>
          </a:ln>
        </p:spPr>
      </p:sp>
      <p:sp>
        <p:nvSpPr>
          <p:cNvPr id="16" name="step-dot-126"/>
          <p:cNvSpPr/>
          <p:nvPr/>
        </p:nvSpPr>
        <p:spPr>
          <a:xfrm>
            <a:off x="6233160" y="1280160"/>
            <a:ext cx="329184" cy="329184"/>
          </a:xfrm>
          <a:prstGeom prst="ellipse">
            <a:avLst/>
          </a:prstGeom>
          <a:solidFill>
            <a:schemeClr val="accent1"/>
          </a:solidFill>
          <a:ln w="12700">
            <a:solidFill>
              <a:schemeClr val="accent1"/>
            </a:solidFill>
            <a:prstDash val="solid"/>
          </a:ln>
        </p:spPr>
      </p:sp>
      <p:sp>
        <p:nvSpPr>
          <p:cNvPr id="17" name="text-127"/>
          <p:cNvSpPr txBox="1"/>
          <p:nvPr/>
        </p:nvSpPr>
        <p:spPr>
          <a:xfrm>
            <a:off x="623316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128"/>
          <p:cNvSpPr txBox="1"/>
          <p:nvPr/>
        </p:nvSpPr>
        <p:spPr>
          <a:xfrm>
            <a:off x="6644640" y="126187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Drop warm-up</a:t>
            </a:r>
            <a:endParaRPr lang="en-US" sz="1400" dirty="0"/>
          </a:p>
        </p:txBody>
      </p:sp>
      <p:sp>
        <p:nvSpPr>
          <p:cNvPr id="19" name="text-129"/>
          <p:cNvSpPr txBox="1"/>
          <p:nvPr/>
        </p:nvSpPr>
        <p:spPr>
          <a:xfrm>
            <a:off x="6233160" y="1709928"/>
            <a:ext cx="2316480" cy="758952"/>
          </a:xfrm>
          <a:prstGeom prst="rect">
            <a:avLst/>
          </a:prstGeom>
          <a:noFill/>
          <a:ln/>
        </p:spPr>
        <p:txBody>
          <a:bodyPr wrap="square" lIns="0" tIns="0" rIns="0" bIns="0" rtlCol="0" anchor="t"/>
          <a:lstStyle/>
          <a:p>
            <a:pPr indent="0" marL="0">
              <a:buNone/>
            </a:pPr>
            <a:r>
              <a:rPr lang="en-US" sz="1150" dirty="0">
                <a:solidFill>
                  <a:srgbClr val="55666E"/>
                </a:solidFill>
              </a:rPr>
              <a:t>Remove rows with incomplete rolling windows: 751 training rows remain.</a:t>
            </a:r>
            <a:endParaRPr lang="en-US" sz="1150" dirty="0"/>
          </a:p>
        </p:txBody>
      </p:sp>
      <p:sp>
        <p:nvSpPr>
          <p:cNvPr id="20" name="card-130"/>
          <p:cNvSpPr/>
          <p:nvPr/>
        </p:nvSpPr>
        <p:spPr>
          <a:xfrm>
            <a:off x="457200" y="2788920"/>
            <a:ext cx="2590800" cy="1417320"/>
          </a:xfrm>
          <a:prstGeom prst="roundRect">
            <a:avLst>
              <a:gd name="adj" fmla="val 5161"/>
            </a:avLst>
          </a:prstGeom>
          <a:solidFill>
            <a:schemeClr val="bg2"/>
          </a:solidFill>
          <a:ln w="12700">
            <a:solidFill>
              <a:schemeClr val="bg2"/>
            </a:solidFill>
            <a:prstDash val="solid"/>
          </a:ln>
        </p:spPr>
      </p:sp>
      <p:sp>
        <p:nvSpPr>
          <p:cNvPr id="21" name="step-dot-131"/>
          <p:cNvSpPr/>
          <p:nvPr/>
        </p:nvSpPr>
        <p:spPr>
          <a:xfrm>
            <a:off x="594360" y="2926080"/>
            <a:ext cx="329184" cy="329184"/>
          </a:xfrm>
          <a:prstGeom prst="ellipse">
            <a:avLst/>
          </a:prstGeom>
          <a:solidFill>
            <a:schemeClr val="accent1"/>
          </a:solidFill>
          <a:ln w="12700">
            <a:solidFill>
              <a:schemeClr val="accent1"/>
            </a:solidFill>
            <a:prstDash val="solid"/>
          </a:ln>
        </p:spPr>
      </p:sp>
      <p:sp>
        <p:nvSpPr>
          <p:cNvPr id="22" name="text-132"/>
          <p:cNvSpPr txBox="1"/>
          <p:nvPr/>
        </p:nvSpPr>
        <p:spPr>
          <a:xfrm>
            <a:off x="594360" y="29260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text-133"/>
          <p:cNvSpPr txBox="1"/>
          <p:nvPr/>
        </p:nvSpPr>
        <p:spPr>
          <a:xfrm>
            <a:off x="1005840" y="290779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Fit three models</a:t>
            </a:r>
            <a:endParaRPr lang="en-US" sz="1400" dirty="0"/>
          </a:p>
        </p:txBody>
      </p:sp>
      <p:sp>
        <p:nvSpPr>
          <p:cNvPr id="24" name="text-134"/>
          <p:cNvSpPr txBox="1"/>
          <p:nvPr/>
        </p:nvSpPr>
        <p:spPr>
          <a:xfrm>
            <a:off x="594360" y="3355848"/>
            <a:ext cx="2316480" cy="758952"/>
          </a:xfrm>
          <a:prstGeom prst="rect">
            <a:avLst/>
          </a:prstGeom>
          <a:noFill/>
          <a:ln/>
        </p:spPr>
        <p:txBody>
          <a:bodyPr wrap="square" lIns="0" tIns="0" rIns="0" bIns="0" rtlCol="0" anchor="t"/>
          <a:lstStyle/>
          <a:p>
            <a:pPr indent="0" marL="0">
              <a:buNone/>
            </a:pPr>
            <a:r>
              <a:rPr lang="en-US" sz="1150" dirty="0">
                <a:solidFill>
                  <a:srgbClr val="55666E"/>
                </a:solidFill>
              </a:rPr>
              <a:t>Scaled L2 logistic regression (C = 0.1), HistGB and LightGBM at depth 3, 80 rounds, lr 0.03.</a:t>
            </a:r>
            <a:endParaRPr lang="en-US" sz="1150" dirty="0"/>
          </a:p>
        </p:txBody>
      </p:sp>
      <p:sp>
        <p:nvSpPr>
          <p:cNvPr id="25" name="card-135"/>
          <p:cNvSpPr/>
          <p:nvPr/>
        </p:nvSpPr>
        <p:spPr>
          <a:xfrm>
            <a:off x="3276600" y="2788920"/>
            <a:ext cx="2590800" cy="1417320"/>
          </a:xfrm>
          <a:prstGeom prst="roundRect">
            <a:avLst>
              <a:gd name="adj" fmla="val 5161"/>
            </a:avLst>
          </a:prstGeom>
          <a:solidFill>
            <a:schemeClr val="bg2"/>
          </a:solidFill>
          <a:ln w="12700">
            <a:solidFill>
              <a:schemeClr val="bg2"/>
            </a:solidFill>
            <a:prstDash val="solid"/>
          </a:ln>
        </p:spPr>
      </p:sp>
      <p:sp>
        <p:nvSpPr>
          <p:cNvPr id="26" name="step-dot-136"/>
          <p:cNvSpPr/>
          <p:nvPr/>
        </p:nvSpPr>
        <p:spPr>
          <a:xfrm>
            <a:off x="3413760" y="2926080"/>
            <a:ext cx="329184" cy="329184"/>
          </a:xfrm>
          <a:prstGeom prst="ellipse">
            <a:avLst/>
          </a:prstGeom>
          <a:solidFill>
            <a:schemeClr val="accent1"/>
          </a:solidFill>
          <a:ln w="12700">
            <a:solidFill>
              <a:schemeClr val="accent1"/>
            </a:solidFill>
            <a:prstDash val="solid"/>
          </a:ln>
        </p:spPr>
      </p:sp>
      <p:sp>
        <p:nvSpPr>
          <p:cNvPr id="27" name="text-137"/>
          <p:cNvSpPr txBox="1"/>
          <p:nvPr/>
        </p:nvSpPr>
        <p:spPr>
          <a:xfrm>
            <a:off x="3413760" y="29260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138"/>
          <p:cNvSpPr txBox="1"/>
          <p:nvPr/>
        </p:nvSpPr>
        <p:spPr>
          <a:xfrm>
            <a:off x="3825240" y="290779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Blend and decide</a:t>
            </a:r>
            <a:endParaRPr lang="en-US" sz="1400" dirty="0"/>
          </a:p>
        </p:txBody>
      </p:sp>
      <p:sp>
        <p:nvSpPr>
          <p:cNvPr id="29" name="text-139"/>
          <p:cNvSpPr txBox="1"/>
          <p:nvPr/>
        </p:nvSpPr>
        <p:spPr>
          <a:xfrm>
            <a:off x="3413760" y="3355848"/>
            <a:ext cx="2316480" cy="758952"/>
          </a:xfrm>
          <a:prstGeom prst="rect">
            <a:avLst/>
          </a:prstGeom>
          <a:noFill/>
          <a:ln/>
        </p:spPr>
        <p:txBody>
          <a:bodyPr wrap="square" lIns="0" tIns="0" rIns="0" bIns="0" rtlCol="0" anchor="t"/>
          <a:lstStyle/>
          <a:p>
            <a:pPr indent="0" marL="0">
              <a:buNone/>
            </a:pPr>
            <a:r>
              <a:rPr lang="en-US" sz="1150" dirty="0">
                <a:solidFill>
                  <a:srgbClr val="55666E"/>
                </a:solidFill>
              </a:rPr>
              <a:t>P(up) = 0.5 LR + 0.3 HistGB + 0.2 LightGBM. UP if ≥ 0.5. Confidence = probability of the side called.</a:t>
            </a:r>
            <a:endParaRPr lang="en-US" sz="1150" dirty="0"/>
          </a:p>
        </p:txBody>
      </p:sp>
      <p:sp>
        <p:nvSpPr>
          <p:cNvPr id="30" name="card-140"/>
          <p:cNvSpPr/>
          <p:nvPr/>
        </p:nvSpPr>
        <p:spPr>
          <a:xfrm>
            <a:off x="6096000" y="2788920"/>
            <a:ext cx="2590800" cy="1417320"/>
          </a:xfrm>
          <a:prstGeom prst="roundRect">
            <a:avLst>
              <a:gd name="adj" fmla="val 5161"/>
            </a:avLst>
          </a:prstGeom>
          <a:solidFill>
            <a:schemeClr val="bg2"/>
          </a:solidFill>
          <a:ln w="12700">
            <a:solidFill>
              <a:schemeClr val="bg2"/>
            </a:solidFill>
            <a:prstDash val="solid"/>
          </a:ln>
        </p:spPr>
      </p:sp>
      <p:sp>
        <p:nvSpPr>
          <p:cNvPr id="31" name="step-dot-141"/>
          <p:cNvSpPr/>
          <p:nvPr/>
        </p:nvSpPr>
        <p:spPr>
          <a:xfrm>
            <a:off x="6233160" y="2926080"/>
            <a:ext cx="329184" cy="329184"/>
          </a:xfrm>
          <a:prstGeom prst="ellipse">
            <a:avLst/>
          </a:prstGeom>
          <a:solidFill>
            <a:schemeClr val="accent1"/>
          </a:solidFill>
          <a:ln w="12700">
            <a:solidFill>
              <a:schemeClr val="accent1"/>
            </a:solidFill>
            <a:prstDash val="solid"/>
          </a:ln>
        </p:spPr>
      </p:sp>
      <p:sp>
        <p:nvSpPr>
          <p:cNvPr id="32" name="text-142"/>
          <p:cNvSpPr txBox="1"/>
          <p:nvPr/>
        </p:nvSpPr>
        <p:spPr>
          <a:xfrm>
            <a:off x="6233160" y="29260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text-143"/>
          <p:cNvSpPr txBox="1"/>
          <p:nvPr/>
        </p:nvSpPr>
        <p:spPr>
          <a:xfrm>
            <a:off x="6644640" y="2907792"/>
            <a:ext cx="1932432" cy="365760"/>
          </a:xfrm>
          <a:prstGeom prst="rect">
            <a:avLst/>
          </a:prstGeom>
          <a:noFill/>
          <a:ln/>
        </p:spPr>
        <p:txBody>
          <a:bodyPr wrap="square" lIns="0" tIns="0" rIns="0" bIns="0" rtlCol="0" anchor="ctr"/>
          <a:lstStyle/>
          <a:p>
            <a:pPr indent="0" marL="0">
              <a:buNone/>
            </a:pPr>
            <a:r>
              <a:rPr lang="en-US" sz="1400" b="1" dirty="0">
                <a:solidFill>
                  <a:schemeClr val="tx1"/>
                </a:solidFill>
              </a:rPr>
              <a:t>Validate the file</a:t>
            </a:r>
            <a:endParaRPr lang="en-US" sz="1400" dirty="0"/>
          </a:p>
        </p:txBody>
      </p:sp>
      <p:sp>
        <p:nvSpPr>
          <p:cNvPr id="34" name="text-144"/>
          <p:cNvSpPr txBox="1"/>
          <p:nvPr/>
        </p:nvSpPr>
        <p:spPr>
          <a:xfrm>
            <a:off x="6233160" y="3355848"/>
            <a:ext cx="2316480" cy="758952"/>
          </a:xfrm>
          <a:prstGeom prst="rect">
            <a:avLst/>
          </a:prstGeom>
          <a:noFill/>
          <a:ln/>
        </p:spPr>
        <p:txBody>
          <a:bodyPr wrap="square" lIns="0" tIns="0" rIns="0" bIns="0" rtlCol="0" anchor="t"/>
          <a:lstStyle/>
          <a:p>
            <a:pPr indent="0" marL="0">
              <a:buNone/>
            </a:pPr>
            <a:r>
              <a:rPr lang="en-US" sz="1150" dirty="0">
                <a:solidFill>
                  <a:srgbClr val="55666E"/>
                </a:solidFill>
              </a:rPr>
              <a:t>50 rows, timestamps 801–850, labels in {0, 1}, confidence in [0, 1], no nulls.</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The Round 1 file we submitted</a:t>
            </a:r>
            <a:endParaRPr lang="en-US" sz="2800" dirty="0"/>
          </a:p>
        </p:txBody>
      </p:sp>
      <p:sp>
        <p:nvSpPr>
          <p:cNvPr id="3" name="kicker-145"/>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1 · round_1_submission.csv</a:t>
            </a:r>
            <a:endParaRPr lang="en-US" sz="1000" dirty="0"/>
          </a:p>
        </p:txBody>
      </p:sp>
      <p:graphicFrame>
        <p:nvGraphicFramePr>
          <p:cNvPr id="5" name="chart-r1" descr=""/>
          <p:cNvGraphicFramePr/>
          <p:nvPr/>
        </p:nvGraphicFramePr>
        <p:xfrm>
          <a:off x="457200" y="1005840"/>
          <a:ext cx="5852160" cy="3611880"/>
        </p:xfrm>
        <a:graphic xmlns:a="http://schemas.openxmlformats.org/drawingml/2006/main">
          <a:graphicData uri="http://schemas.openxmlformats.org/drawingml/2006/chart">
            <c:chart xmlns:c="http://schemas.openxmlformats.org/drawingml/2006/chart" r:id="rId1"/>
          </a:graphicData>
        </a:graphic>
      </p:graphicFrame>
      <p:sp>
        <p:nvSpPr>
          <p:cNvPr id="6" name="card-146"/>
          <p:cNvSpPr/>
          <p:nvPr/>
        </p:nvSpPr>
        <p:spPr>
          <a:xfrm>
            <a:off x="6583680" y="1005840"/>
            <a:ext cx="2103120" cy="3611880"/>
          </a:xfrm>
          <a:prstGeom prst="roundRect">
            <a:avLst>
              <a:gd name="adj" fmla="val 3478"/>
            </a:avLst>
          </a:prstGeom>
          <a:solidFill>
            <a:schemeClr val="bg2"/>
          </a:solidFill>
          <a:ln w="12700">
            <a:solidFill>
              <a:schemeClr val="bg2"/>
            </a:solidFill>
            <a:prstDash val="solid"/>
          </a:ln>
        </p:spPr>
      </p:sp>
      <p:sp>
        <p:nvSpPr>
          <p:cNvPr id="7" name="text-147"/>
          <p:cNvSpPr txBox="1"/>
          <p:nvPr/>
        </p:nvSpPr>
        <p:spPr>
          <a:xfrm>
            <a:off x="6766560" y="1097280"/>
            <a:ext cx="182880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8" name="text-148"/>
          <p:cNvSpPr txBox="1"/>
          <p:nvPr/>
        </p:nvSpPr>
        <p:spPr>
          <a:xfrm>
            <a:off x="6766560" y="1828800"/>
            <a:ext cx="1828800" cy="292608"/>
          </a:xfrm>
          <a:prstGeom prst="rect">
            <a:avLst/>
          </a:prstGeom>
          <a:noFill/>
          <a:ln/>
        </p:spPr>
        <p:txBody>
          <a:bodyPr wrap="square" lIns="0" tIns="0" rIns="0" bIns="0" rtlCol="0" anchor="t"/>
          <a:lstStyle/>
          <a:p>
            <a:pPr indent="0" marL="0">
              <a:buNone/>
            </a:pPr>
            <a:r>
              <a:rPr lang="en-US" sz="1300" b="1" dirty="0">
                <a:solidFill>
                  <a:schemeClr val="tx1"/>
                </a:solidFill>
              </a:rPr>
              <a:t>UP calls</a:t>
            </a:r>
            <a:endParaRPr lang="en-US" sz="1300" dirty="0"/>
          </a:p>
        </p:txBody>
      </p:sp>
      <p:sp>
        <p:nvSpPr>
          <p:cNvPr id="9" name="text-149"/>
          <p:cNvSpPr txBox="1"/>
          <p:nvPr/>
        </p:nvSpPr>
        <p:spPr>
          <a:xfrm>
            <a:off x="6766560" y="2194560"/>
            <a:ext cx="1828800" cy="68580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30</a:t>
            </a:r>
            <a:endParaRPr lang="en-US" sz="4000" dirty="0"/>
          </a:p>
        </p:txBody>
      </p:sp>
      <p:sp>
        <p:nvSpPr>
          <p:cNvPr id="10" name="text-150"/>
          <p:cNvSpPr txBox="1"/>
          <p:nvPr/>
        </p:nvSpPr>
        <p:spPr>
          <a:xfrm>
            <a:off x="6766560" y="2926080"/>
            <a:ext cx="1828800" cy="292608"/>
          </a:xfrm>
          <a:prstGeom prst="rect">
            <a:avLst/>
          </a:prstGeom>
          <a:noFill/>
          <a:ln/>
        </p:spPr>
        <p:txBody>
          <a:bodyPr wrap="square" lIns="0" tIns="0" rIns="0" bIns="0" rtlCol="0" anchor="t"/>
          <a:lstStyle/>
          <a:p>
            <a:pPr indent="0" marL="0">
              <a:buNone/>
            </a:pPr>
            <a:r>
              <a:rPr lang="en-US" sz="1300" b="1" dirty="0">
                <a:solidFill>
                  <a:schemeClr val="tx1"/>
                </a:solidFill>
              </a:rPr>
              <a:t>DOWN calls</a:t>
            </a:r>
            <a:endParaRPr lang="en-US" sz="1300" dirty="0"/>
          </a:p>
        </p:txBody>
      </p:sp>
      <p:sp>
        <p:nvSpPr>
          <p:cNvPr id="11" name="text-151"/>
          <p:cNvSpPr txBox="1"/>
          <p:nvPr/>
        </p:nvSpPr>
        <p:spPr>
          <a:xfrm>
            <a:off x="6766560" y="3291840"/>
            <a:ext cx="1828800" cy="685800"/>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58%</a:t>
            </a:r>
            <a:endParaRPr lang="en-US" sz="4000" dirty="0"/>
          </a:p>
        </p:txBody>
      </p:sp>
      <p:sp>
        <p:nvSpPr>
          <p:cNvPr id="12" name="text-152"/>
          <p:cNvSpPr txBox="1"/>
          <p:nvPr/>
        </p:nvSpPr>
        <p:spPr>
          <a:xfrm>
            <a:off x="6766560" y="4023360"/>
            <a:ext cx="1828800" cy="292608"/>
          </a:xfrm>
          <a:prstGeom prst="rect">
            <a:avLst/>
          </a:prstGeom>
          <a:noFill/>
          <a:ln/>
        </p:spPr>
        <p:txBody>
          <a:bodyPr wrap="square" lIns="0" tIns="0" rIns="0" bIns="0" rtlCol="0" anchor="t"/>
          <a:lstStyle/>
          <a:p>
            <a:pPr indent="0" marL="0">
              <a:buNone/>
            </a:pPr>
            <a:r>
              <a:rPr lang="en-US" sz="1300" b="1" dirty="0">
                <a:solidFill>
                  <a:schemeClr val="tx1"/>
                </a:solidFill>
              </a:rPr>
              <a:t>Mean confidence</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Validation detail: every fold</a:t>
            </a:r>
            <a:endParaRPr lang="en-US" sz="2800" dirty="0"/>
          </a:p>
        </p:txBody>
      </p:sp>
      <p:sp>
        <p:nvSpPr>
          <p:cNvPr id="3" name="kicker-153"/>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1 · presentation/validate_round1.py</a:t>
            </a:r>
            <a:endParaRPr lang="en-US" sz="1000" dirty="0"/>
          </a:p>
        </p:txBody>
      </p:sp>
      <p:graphicFrame>
        <p:nvGraphicFramePr>
          <p:cNvPr id="13" name="table-folds"/>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1051560"/>
                <a:gridCol w="1051560"/>
                <a:gridCol w="1051560"/>
                <a:gridCol w="1051560"/>
                <a:gridCol w="1051560"/>
                <a:gridCol w="1051560"/>
              </a:tblGrid>
              <a:tr h="384048">
                <a:tc>
                  <a:txBody>
                    <a:bodyPr/>
                    <a:lstStyle/>
                    <a:p>
                      <a:pPr algn="l" indent="0" marL="0">
                        <a:buNone/>
                      </a:pPr>
                      <a:r>
                        <a:rPr lang="en-US" sz="1100" b="1" dirty="0">
                          <a:solidFill>
                            <a:srgbClr val="55666E"/>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Fold 1</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Fold 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Fold 3</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Fold 4</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Fold 5</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55666E"/>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dirty="0">
                          <a:solidFill>
                            <a:srgbClr val="13232B"/>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0.474 / −0.05</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0.610 / +0.22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0.536 / +0.07</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0.574 / +0.17</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0.463 / −0.08</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13232B"/>
                          </a:solidFill>
                          <a:latin typeface="Calibri" pitchFamily="34" charset="0"/>
                          <a:ea typeface="Calibri" pitchFamily="34" charset="-122"/>
                          <a:cs typeface="Calibri" pitchFamily="34" charset="-120"/>
                        </a:rPr>
                        <a:t>0.531 / +0.07</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dirty="0">
                          <a:solidFill>
                            <a:srgbClr val="13232B"/>
                          </a:solidFill>
                          <a:latin typeface="Calibri" pitchFamily="34" charset="0"/>
                          <a:ea typeface="Calibri" pitchFamily="34" charset="-122"/>
                          <a:cs typeface="Calibri" pitchFamily="34" charset="-120"/>
                        </a:rPr>
                        <a:t>HistGradientBoosting</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0.526 / +0.05</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0.538 / +0.08</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0.560 / +0.12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0.507 / +0.01</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0.456 / −0.09</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13232B"/>
                          </a:solidFill>
                          <a:latin typeface="Calibri" pitchFamily="34" charset="0"/>
                          <a:ea typeface="Calibri" pitchFamily="34" charset="-122"/>
                          <a:cs typeface="Calibri" pitchFamily="34" charset="-120"/>
                        </a:rPr>
                        <a:t>0.517 / +0.03</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dirty="0">
                          <a:solidFill>
                            <a:srgbClr val="13232B"/>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0.575 / +0.15</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0.533 / +0.07</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0.600 / +0.20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0.508 / +0.02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0.442 / −0.12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13232B"/>
                          </a:solidFill>
                          <a:latin typeface="Calibri" pitchFamily="34" charset="0"/>
                          <a:ea typeface="Calibri" pitchFamily="34" charset="-122"/>
                          <a:cs typeface="Calibri" pitchFamily="34" charset="-120"/>
                        </a:rPr>
                        <a:t>0.531 / +0.06</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b="1" dirty="0">
                          <a:solidFill>
                            <a:srgbClr val="1F6F6B"/>
                          </a:solidFill>
                          <a:latin typeface="Calibri" pitchFamily="34" charset="0"/>
                          <a:ea typeface="Calibri" pitchFamily="34" charset="-122"/>
                          <a:cs typeface="Calibri" pitchFamily="34" charset="-120"/>
                        </a:rPr>
                        <a:t>Blend 0.5 / 0.3 / 0.2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0.512 / +0.02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0.561 / +0.12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0.608 / +0.22</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0.549 / +0.11</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0.479 / −0.04</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13232B"/>
                          </a:solidFill>
                          <a:latin typeface="Calibri" pitchFamily="34" charset="0"/>
                          <a:ea typeface="Calibri" pitchFamily="34" charset="-122"/>
                          <a:cs typeface="Calibri" pitchFamily="34" charset="-120"/>
                        </a:rPr>
                        <a:t>0.542 / +0.09</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dirty="0">
                          <a:solidFill>
                            <a:srgbClr val="13232B"/>
                          </a:solidFill>
                          <a:latin typeface="Calibri" pitchFamily="34" charset="0"/>
                          <a:ea typeface="Calibri" pitchFamily="34" charset="-122"/>
                          <a:cs typeface="Calibri" pitchFamily="34" charset="-120"/>
                        </a:rPr>
                        <a:t>Always UP</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b="1" dirty="0">
                          <a:solidFill>
                            <a:srgbClr val="13232B"/>
                          </a:solidFill>
                          <a:latin typeface="Calibri" pitchFamily="34" charset="0"/>
                          <a:ea typeface="Calibri" pitchFamily="34" charset="-122"/>
                          <a:cs typeface="Calibri" pitchFamily="34" charset="-120"/>
                        </a:rPr>
                        <a:t>0.500 / +0.00</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r h="384048">
                <a:tc>
                  <a:txBody>
                    <a:bodyPr/>
                    <a:lstStyle/>
                    <a:p>
                      <a:pPr indent="0" marL="0">
                        <a:buNone/>
                      </a:pPr>
                      <a:r>
                        <a:rPr lang="en-US" sz="1100" dirty="0">
                          <a:solidFill>
                            <a:srgbClr val="55666E"/>
                          </a:solidFill>
                          <a:latin typeface="Calibri" pitchFamily="34" charset="0"/>
                          <a:ea typeface="Calibri" pitchFamily="34" charset="-122"/>
                          <a:cs typeface="Calibri" pitchFamily="34" charset="-120"/>
                        </a:rPr>
                        <a:t>Training rows</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55666E"/>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55666E"/>
                          </a:solidFill>
                          <a:latin typeface="Calibri" pitchFamily="34" charset="0"/>
                          <a:ea typeface="Calibri" pitchFamily="34" charset="-122"/>
                          <a:cs typeface="Calibri" pitchFamily="34" charset="-120"/>
                        </a:rPr>
                        <a:t>251</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55666E"/>
                          </a:solidFill>
                          <a:latin typeface="Calibri" pitchFamily="34" charset="0"/>
                          <a:ea typeface="Calibri" pitchFamily="34" charset="-122"/>
                          <a:cs typeface="Calibri" pitchFamily="34" charset="-120"/>
                        </a:rPr>
                        <a:t>376</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55666E"/>
                          </a:solidFill>
                          <a:latin typeface="Calibri" pitchFamily="34" charset="0"/>
                          <a:ea typeface="Calibri" pitchFamily="34" charset="-122"/>
                          <a:cs typeface="Calibri" pitchFamily="34" charset="-120"/>
                        </a:rPr>
                        <a:t>501</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algn="r" indent="0" marL="0">
                        <a:buNone/>
                      </a:pPr>
                      <a:r>
                        <a:rPr lang="en-US" sz="1100" dirty="0">
                          <a:solidFill>
                            <a:srgbClr val="55666E"/>
                          </a:solidFill>
                          <a:latin typeface="Calibri" pitchFamily="34" charset="0"/>
                          <a:ea typeface="Calibri" pitchFamily="34" charset="-122"/>
                          <a:cs typeface="Calibri" pitchFamily="34" charset="-120"/>
                        </a:rPr>
                        <a:t>626</a:t>
                      </a: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45720" marR="45720" marT="45720" marB="45720">
                    <a:lnL w="9525" cap="flat" cmpd="sng" algn="ctr">
                      <a:solidFill>
                        <a:srgbClr val="D5DDDE"/>
                      </a:solidFill>
                      <a:prstDash val="solid"/>
                      <a:round/>
                      <a:headEnd type="none" w="med" len="med"/>
                      <a:tailEnd type="none" w="med" len="med"/>
                    </a:lnL>
                    <a:lnR w="9525" cap="flat" cmpd="sng" algn="ctr">
                      <a:solidFill>
                        <a:srgbClr val="D5DDDE"/>
                      </a:solidFill>
                      <a:prstDash val="solid"/>
                      <a:round/>
                      <a:headEnd type="none" w="med" len="med"/>
                      <a:tailEnd type="none" w="med" len="med"/>
                    </a:lnR>
                    <a:lnT w="9525" cap="flat" cmpd="sng" algn="ctr">
                      <a:solidFill>
                        <a:srgbClr val="D5DDDE"/>
                      </a:solidFill>
                      <a:prstDash val="solid"/>
                      <a:round/>
                      <a:headEnd type="none" w="med" len="med"/>
                      <a:tailEnd type="none" w="med" len="med"/>
                    </a:lnT>
                    <a:lnB w="9525" cap="flat" cmpd="sng" algn="ctr">
                      <a:solidFill>
                        <a:srgbClr val="D5DDDE"/>
                      </a:solidFill>
                      <a:prstDash val="solid"/>
                      <a:round/>
                      <a:headEnd type="none" w="med" len="med"/>
                      <a:tailEnd type="none" w="med" len="med"/>
                    </a:lnB>
                  </a:tcPr>
                </a:tc>
              </a:tr>
            </a:tbl>
          </a:graphicData>
        </a:graphic>
      </p:graphicFrame>
      <p:sp>
        <p:nvSpPr>
          <p:cNvPr id="6" name="text-154"/>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150" dirty="0">
                <a:solidFill>
                  <a:srgbClr val="55666E"/>
                </a:solidFill>
              </a:rPr>
              <a:t>Each cell: balanced accuracy / MCC. Each fold trains on all earlier rows and tests on the next block; the scaler is refit inside every fold.</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Data forensics: the hidden close</a:t>
            </a:r>
            <a:endParaRPr lang="en-US" sz="2800" dirty="0"/>
          </a:p>
        </p:txBody>
      </p:sp>
      <p:sp>
        <p:nvSpPr>
          <p:cNvPr id="3" name="kicker-155"/>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2 · generate_round2_round3_submissions.py</a:t>
            </a:r>
            <a:endParaRPr lang="en-US" sz="1000" dirty="0"/>
          </a:p>
        </p:txBody>
      </p:sp>
      <p:sp>
        <p:nvSpPr>
          <p:cNvPr id="5" name="card-156"/>
          <p:cNvSpPr/>
          <p:nvPr/>
        </p:nvSpPr>
        <p:spPr>
          <a:xfrm>
            <a:off x="457200" y="960120"/>
            <a:ext cx="4069080" cy="1325880"/>
          </a:xfrm>
          <a:prstGeom prst="roundRect">
            <a:avLst>
              <a:gd name="adj" fmla="val 5517"/>
            </a:avLst>
          </a:prstGeom>
          <a:solidFill>
            <a:schemeClr val="bg2"/>
          </a:solidFill>
          <a:ln w="12700">
            <a:solidFill>
              <a:schemeClr val="bg2"/>
            </a:solidFill>
            <a:prstDash val="solid"/>
          </a:ln>
        </p:spPr>
      </p:sp>
      <p:sp>
        <p:nvSpPr>
          <p:cNvPr id="6" name="text-157"/>
          <p:cNvSpPr txBox="1"/>
          <p:nvPr/>
        </p:nvSpPr>
        <p:spPr>
          <a:xfrm>
            <a:off x="594360" y="1033272"/>
            <a:ext cx="3840480" cy="292608"/>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of = order_flow = (2c − h − l) / (h − l)</a:t>
            </a:r>
            <a:endParaRPr lang="en-US" sz="1200" dirty="0"/>
          </a:p>
        </p:txBody>
      </p:sp>
      <p:sp>
        <p:nvSpPr>
          <p:cNvPr id="7" name="text-158"/>
          <p:cNvSpPr txBox="1"/>
          <p:nvPr/>
        </p:nvSpPr>
        <p:spPr>
          <a:xfrm>
            <a:off x="594360" y="1344168"/>
            <a:ext cx="3840480" cy="292608"/>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  = close = ½ · (of · (h − l) + h + l)</a:t>
            </a:r>
            <a:endParaRPr lang="en-US" sz="1200" dirty="0"/>
          </a:p>
        </p:txBody>
      </p:sp>
      <p:sp>
        <p:nvSpPr>
          <p:cNvPr id="8" name="text-159"/>
          <p:cNvSpPr txBox="1"/>
          <p:nvPr/>
        </p:nvSpPr>
        <p:spPr>
          <a:xfrm>
            <a:off x="594360" y="1700784"/>
            <a:ext cx="3840480" cy="502920"/>
          </a:xfrm>
          <a:prstGeom prst="rect">
            <a:avLst/>
          </a:prstGeom>
          <a:noFill/>
          <a:ln/>
        </p:spPr>
        <p:txBody>
          <a:bodyPr wrap="square" lIns="0" tIns="0" rIns="0" bIns="0" rtlCol="0" anchor="t"/>
          <a:lstStyle/>
          <a:p>
            <a:pPr indent="0" marL="0">
              <a:buNone/>
            </a:pPr>
            <a:r>
              <a:rPr lang="en-US" sz="1100" b="1" dirty="0">
                <a:solidFill>
                  <a:srgbClr val="55666E"/>
                </a:solidFill>
              </a:rPr>
              <a:t>Row 1 check: </a:t>
            </a:r>
            <a:pPr indent="0" marL="0">
              <a:buNone/>
            </a:pPr>
            <a:r>
              <a:rPr lang="en-US" sz="1100" dirty="0">
                <a:solidFill>
                  <a:srgbClr val="55666E"/>
                </a:solidFill>
              </a:rPr>
              <a:t>(2×238.56 − 239.57 − 232.41) ÷ 7.16 = 0.7179 = order_flow in the file ✓</a:t>
            </a:r>
            <a:endParaRPr lang="en-US" sz="1100" dirty="0"/>
          </a:p>
        </p:txBody>
      </p:sp>
      <p:sp>
        <p:nvSpPr>
          <p:cNvPr id="9" name="pt-160"/>
          <p:cNvSpPr/>
          <p:nvPr/>
        </p:nvSpPr>
        <p:spPr>
          <a:xfrm>
            <a:off x="457200" y="2505456"/>
            <a:ext cx="329184" cy="329184"/>
          </a:xfrm>
          <a:prstGeom prst="ellipse">
            <a:avLst/>
          </a:prstGeom>
          <a:solidFill>
            <a:schemeClr val="accent1"/>
          </a:solidFill>
          <a:ln w="12700">
            <a:solidFill>
              <a:schemeClr val="accent1"/>
            </a:solidFill>
            <a:prstDash val="solid"/>
          </a:ln>
        </p:spPr>
      </p:sp>
      <p:sp>
        <p:nvSpPr>
          <p:cNvPr id="10" name="text-161"/>
          <p:cNvSpPr txBox="1"/>
          <p:nvPr/>
        </p:nvSpPr>
        <p:spPr>
          <a:xfrm>
            <a:off x="457200" y="250545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162"/>
          <p:cNvSpPr txBox="1"/>
          <p:nvPr/>
        </p:nvSpPr>
        <p:spPr>
          <a:xfrm>
            <a:off x="914400" y="2468880"/>
            <a:ext cx="3611880" cy="292608"/>
          </a:xfrm>
          <a:prstGeom prst="rect">
            <a:avLst/>
          </a:prstGeom>
          <a:noFill/>
          <a:ln/>
        </p:spPr>
        <p:txBody>
          <a:bodyPr wrap="square" lIns="0" tIns="0" rIns="0" bIns="0" rtlCol="0" anchor="t"/>
          <a:lstStyle/>
          <a:p>
            <a:pPr indent="0" marL="0">
              <a:buNone/>
            </a:pPr>
            <a:r>
              <a:rPr lang="en-US" sz="1500" b="1" dirty="0">
                <a:solidFill>
                  <a:schemeClr val="tx1"/>
                </a:solidFill>
              </a:rPr>
              <a:t>order_flow = where the day closed</a:t>
            </a:r>
            <a:endParaRPr lang="en-US" sz="1500" dirty="0"/>
          </a:p>
        </p:txBody>
      </p:sp>
      <p:sp>
        <p:nvSpPr>
          <p:cNvPr id="12" name="text-163"/>
          <p:cNvSpPr txBox="1"/>
          <p:nvPr/>
        </p:nvSpPr>
        <p:spPr>
          <a:xfrm>
            <a:off x="914400" y="2761488"/>
            <a:ext cx="3611880" cy="411480"/>
          </a:xfrm>
          <a:prstGeom prst="rect">
            <a:avLst/>
          </a:prstGeom>
          <a:noFill/>
          <a:ln/>
        </p:spPr>
        <p:txBody>
          <a:bodyPr wrap="square" lIns="0" tIns="0" rIns="0" bIns="0" rtlCol="0" anchor="t"/>
          <a:lstStyle/>
          <a:p>
            <a:pPr indent="0" marL="0">
              <a:buNone/>
            </a:pPr>
            <a:r>
              <a:rPr lang="en-US" sz="1250" dirty="0">
                <a:solidFill>
                  <a:srgbClr val="55666E"/>
                </a:solidFill>
              </a:rPr>
              <a:t>+1 = closed at the high, −1 = at the low, 0 = middle</a:t>
            </a:r>
            <a:endParaRPr lang="en-US" sz="1250" dirty="0"/>
          </a:p>
        </p:txBody>
      </p:sp>
      <p:sp>
        <p:nvSpPr>
          <p:cNvPr id="13" name="pt-164"/>
          <p:cNvSpPr/>
          <p:nvPr/>
        </p:nvSpPr>
        <p:spPr>
          <a:xfrm>
            <a:off x="457200" y="3236976"/>
            <a:ext cx="329184" cy="329184"/>
          </a:xfrm>
          <a:prstGeom prst="ellipse">
            <a:avLst/>
          </a:prstGeom>
          <a:solidFill>
            <a:schemeClr val="accent1"/>
          </a:solidFill>
          <a:ln w="12700">
            <a:solidFill>
              <a:schemeClr val="accent1"/>
            </a:solidFill>
            <a:prstDash val="solid"/>
          </a:ln>
        </p:spPr>
      </p:sp>
      <p:sp>
        <p:nvSpPr>
          <p:cNvPr id="14" name="text-165"/>
          <p:cNvSpPr txBox="1"/>
          <p:nvPr/>
        </p:nvSpPr>
        <p:spPr>
          <a:xfrm>
            <a:off x="457200" y="32369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166"/>
          <p:cNvSpPr txBox="1"/>
          <p:nvPr/>
        </p:nvSpPr>
        <p:spPr>
          <a:xfrm>
            <a:off x="914400" y="3200400"/>
            <a:ext cx="3611880" cy="292608"/>
          </a:xfrm>
          <a:prstGeom prst="rect">
            <a:avLst/>
          </a:prstGeom>
          <a:noFill/>
          <a:ln/>
        </p:spPr>
        <p:txBody>
          <a:bodyPr wrap="square" lIns="0" tIns="0" rIns="0" bIns="0" rtlCol="0" anchor="t"/>
          <a:lstStyle/>
          <a:p>
            <a:pPr indent="0" marL="0">
              <a:buNone/>
            </a:pPr>
            <a:r>
              <a:rPr lang="en-US" sz="1500" b="1" dirty="0">
                <a:solidFill>
                  <a:schemeClr val="tx1"/>
                </a:solidFill>
              </a:rPr>
              <a:t>Close hidden, the rest given</a:t>
            </a:r>
            <a:endParaRPr lang="en-US" sz="1500" dirty="0"/>
          </a:p>
        </p:txBody>
      </p:sp>
      <p:sp>
        <p:nvSpPr>
          <p:cNvPr id="16" name="text-167"/>
          <p:cNvSpPr txBox="1"/>
          <p:nvPr/>
        </p:nvSpPr>
        <p:spPr>
          <a:xfrm>
            <a:off x="914400" y="3493008"/>
            <a:ext cx="3611880" cy="411480"/>
          </a:xfrm>
          <a:prstGeom prst="rect">
            <a:avLst/>
          </a:prstGeom>
          <a:noFill/>
          <a:ln/>
        </p:spPr>
        <p:txBody>
          <a:bodyPr wrap="square" lIns="0" tIns="0" rIns="0" bIns="0" rtlCol="0" anchor="t"/>
          <a:lstStyle/>
          <a:p>
            <a:pPr indent="0" marL="0">
              <a:buNone/>
            </a:pPr>
            <a:r>
              <a:rPr lang="en-US" sz="1250" dirty="0">
                <a:solidFill>
                  <a:srgbClr val="55666E"/>
                </a:solidFill>
              </a:rPr>
              <a:t>High, low, order_flow known → solve for close</a:t>
            </a:r>
            <a:endParaRPr lang="en-US" sz="1250" dirty="0"/>
          </a:p>
        </p:txBody>
      </p:sp>
      <p:sp>
        <p:nvSpPr>
          <p:cNvPr id="17" name="pt-168"/>
          <p:cNvSpPr/>
          <p:nvPr/>
        </p:nvSpPr>
        <p:spPr>
          <a:xfrm>
            <a:off x="457200" y="3968496"/>
            <a:ext cx="329184" cy="329184"/>
          </a:xfrm>
          <a:prstGeom prst="ellipse">
            <a:avLst/>
          </a:prstGeom>
          <a:solidFill>
            <a:schemeClr val="accent1"/>
          </a:solidFill>
          <a:ln w="12700">
            <a:solidFill>
              <a:schemeClr val="accent1"/>
            </a:solidFill>
            <a:prstDash val="solid"/>
          </a:ln>
        </p:spPr>
      </p:sp>
      <p:sp>
        <p:nvSpPr>
          <p:cNvPr id="18" name="text-169"/>
          <p:cNvSpPr txBox="1"/>
          <p:nvPr/>
        </p:nvSpPr>
        <p:spPr>
          <a:xfrm>
            <a:off x="457200" y="396849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170"/>
          <p:cNvSpPr txBox="1"/>
          <p:nvPr/>
        </p:nvSpPr>
        <p:spPr>
          <a:xfrm>
            <a:off x="914400" y="3931920"/>
            <a:ext cx="3611880" cy="292608"/>
          </a:xfrm>
          <a:prstGeom prst="rect">
            <a:avLst/>
          </a:prstGeom>
          <a:noFill/>
          <a:ln/>
        </p:spPr>
        <p:txBody>
          <a:bodyPr wrap="square" lIns="0" tIns="0" rIns="0" bIns="0" rtlCol="0" anchor="t"/>
          <a:lstStyle/>
          <a:p>
            <a:pPr indent="0" marL="0">
              <a:buNone/>
            </a:pPr>
            <a:r>
              <a:rPr lang="en-US" sz="1500" b="1" dirty="0">
                <a:solidFill>
                  <a:schemeClr val="tx1"/>
                </a:solidFill>
              </a:rPr>
              <a:t>Checked twice</a:t>
            </a:r>
            <a:endParaRPr lang="en-US" sz="1500" dirty="0"/>
          </a:p>
        </p:txBody>
      </p:sp>
      <p:sp>
        <p:nvSpPr>
          <p:cNvPr id="20" name="text-171"/>
          <p:cNvSpPr txBox="1"/>
          <p:nvPr/>
        </p:nvSpPr>
        <p:spPr>
          <a:xfrm>
            <a:off x="914400" y="4224528"/>
            <a:ext cx="3611880" cy="411480"/>
          </a:xfrm>
          <a:prstGeom prst="rect">
            <a:avLst/>
          </a:prstGeom>
          <a:noFill/>
          <a:ln/>
        </p:spPr>
        <p:txBody>
          <a:bodyPr wrap="square" lIns="0" tIns="0" rIns="0" bIns="0" rtlCol="0" anchor="t"/>
          <a:lstStyle/>
          <a:p>
            <a:pPr indent="0" marL="0">
              <a:buNone/>
            </a:pPr>
            <a:r>
              <a:rPr lang="en-US" sz="1250" dirty="0">
                <a:solidFill>
                  <a:srgbClr val="55666E"/>
                </a:solidFill>
              </a:rPr>
              <a:t>Error 0.0005 on 850 known rows; matches given sma_10</a:t>
            </a:r>
            <a:endParaRPr lang="en-US" sz="1250" dirty="0"/>
          </a:p>
        </p:txBody>
      </p:sp>
      <p:graphicFrame>
        <p:nvGraphicFramePr>
          <p:cNvPr id="21" name="chart-rebuilt" descr=""/>
          <p:cNvGraphicFramePr/>
          <p:nvPr/>
        </p:nvGraphicFramePr>
        <p:xfrm>
          <a:off x="4754880" y="914400"/>
          <a:ext cx="3931920" cy="2423160"/>
        </p:xfrm>
        <a:graphic xmlns:a="http://schemas.openxmlformats.org/drawingml/2006/main">
          <a:graphicData uri="http://schemas.openxmlformats.org/drawingml/2006/chart">
            <c:chart xmlns:c="http://schemas.openxmlformats.org/drawingml/2006/chart" r:id="rId1"/>
          </a:graphicData>
        </a:graphic>
      </p:graphicFrame>
      <p:sp>
        <p:nvSpPr>
          <p:cNvPr id="22" name="card-172"/>
          <p:cNvSpPr/>
          <p:nvPr/>
        </p:nvSpPr>
        <p:spPr>
          <a:xfrm>
            <a:off x="4754880" y="3429000"/>
            <a:ext cx="3931920" cy="548640"/>
          </a:xfrm>
          <a:prstGeom prst="roundRect">
            <a:avLst>
              <a:gd name="adj" fmla="val 13333"/>
            </a:avLst>
          </a:prstGeom>
          <a:solidFill>
            <a:schemeClr val="bg2"/>
          </a:solidFill>
          <a:ln w="12700">
            <a:solidFill>
              <a:schemeClr val="bg2"/>
            </a:solidFill>
            <a:prstDash val="solid"/>
          </a:ln>
        </p:spPr>
      </p:sp>
      <p:sp>
        <p:nvSpPr>
          <p:cNvPr id="23" name="text-173"/>
          <p:cNvSpPr txBox="1"/>
          <p:nvPr/>
        </p:nvSpPr>
        <p:spPr>
          <a:xfrm>
            <a:off x="4864608" y="3483864"/>
            <a:ext cx="3749040" cy="201168"/>
          </a:xfrm>
          <a:prstGeom prst="rect">
            <a:avLst/>
          </a:prstGeom>
          <a:noFill/>
          <a:ln/>
        </p:spPr>
        <p:txBody>
          <a:bodyPr wrap="square" lIns="0" tIns="0" rIns="0" bIns="0" rtlCol="0" anchor="t"/>
          <a:lstStyle/>
          <a:p>
            <a:pPr indent="0" marL="0">
              <a:buNone/>
            </a:pPr>
            <a:r>
              <a:rPr lang="en-US" sz="1050" b="1" spc="100" kern="0" dirty="0">
                <a:solidFill>
                  <a:schemeClr val="accent5"/>
                </a:solidFill>
              </a:rPr>
              <a:t>FAIR · Round 3</a:t>
            </a:r>
            <a:endParaRPr lang="en-US" sz="1050" dirty="0"/>
          </a:p>
        </p:txBody>
      </p:sp>
      <p:sp>
        <p:nvSpPr>
          <p:cNvPr id="24" name="text-174"/>
          <p:cNvSpPr txBox="1"/>
          <p:nvPr/>
        </p:nvSpPr>
        <p:spPr>
          <a:xfrm>
            <a:off x="4864608" y="3703320"/>
            <a:ext cx="3749040" cy="237744"/>
          </a:xfrm>
          <a:prstGeom prst="rect">
            <a:avLst/>
          </a:prstGeom>
          <a:noFill/>
          <a:ln/>
        </p:spPr>
        <p:txBody>
          <a:bodyPr wrap="square" lIns="0" tIns="0" rIns="0" bIns="0" rtlCol="0" anchor="t"/>
          <a:lstStyle/>
          <a:p>
            <a:pPr indent="0" marL="0">
              <a:buNone/>
            </a:pPr>
            <a:r>
              <a:rPr lang="en-US" sz="1100" dirty="0">
                <a:solidFill>
                  <a:schemeClr val="tx1"/>
                </a:solidFill>
              </a:rPr>
              <a:t>Yesterday's rebuilt close → today's position</a:t>
            </a:r>
            <a:endParaRPr lang="en-US" sz="1100" dirty="0"/>
          </a:p>
        </p:txBody>
      </p:sp>
      <p:sp>
        <p:nvSpPr>
          <p:cNvPr id="25" name="card-175"/>
          <p:cNvSpPr/>
          <p:nvPr/>
        </p:nvSpPr>
        <p:spPr>
          <a:xfrm>
            <a:off x="4754880" y="4050792"/>
            <a:ext cx="3931920" cy="548640"/>
          </a:xfrm>
          <a:prstGeom prst="roundRect">
            <a:avLst>
              <a:gd name="adj" fmla="val 13333"/>
            </a:avLst>
          </a:prstGeom>
          <a:solidFill>
            <a:schemeClr val="bg2"/>
          </a:solidFill>
          <a:ln w="12700">
            <a:solidFill>
              <a:schemeClr val="bg2"/>
            </a:solidFill>
            <a:prstDash val="solid"/>
          </a:ln>
        </p:spPr>
      </p:sp>
      <p:sp>
        <p:nvSpPr>
          <p:cNvPr id="26" name="text-176"/>
          <p:cNvSpPr txBox="1"/>
          <p:nvPr/>
        </p:nvSpPr>
        <p:spPr>
          <a:xfrm>
            <a:off x="4864608" y="4105656"/>
            <a:ext cx="3749040" cy="201168"/>
          </a:xfrm>
          <a:prstGeom prst="rect">
            <a:avLst/>
          </a:prstGeom>
          <a:noFill/>
          <a:ln/>
        </p:spPr>
        <p:txBody>
          <a:bodyPr wrap="square" lIns="0" tIns="0" rIns="0" bIns="0" rtlCol="0" anchor="t"/>
          <a:lstStyle/>
          <a:p>
            <a:pPr indent="0" marL="0">
              <a:buNone/>
            </a:pPr>
            <a:r>
              <a:rPr lang="en-US" sz="1050" b="1" spc="100" kern="0" dirty="0">
                <a:solidFill>
                  <a:schemeClr val="accent3"/>
                </a:solidFill>
              </a:rPr>
              <a:t>LOOK-AHEAD · Round 2</a:t>
            </a:r>
            <a:endParaRPr lang="en-US" sz="1050" dirty="0"/>
          </a:p>
        </p:txBody>
      </p:sp>
      <p:sp>
        <p:nvSpPr>
          <p:cNvPr id="27" name="text-177"/>
          <p:cNvSpPr txBox="1"/>
          <p:nvPr/>
        </p:nvSpPr>
        <p:spPr>
          <a:xfrm>
            <a:off x="4864608" y="4325112"/>
            <a:ext cx="3749040" cy="237744"/>
          </a:xfrm>
          <a:prstGeom prst="rect">
            <a:avLst/>
          </a:prstGeom>
          <a:noFill/>
          <a:ln/>
        </p:spPr>
        <p:txBody>
          <a:bodyPr wrap="square" lIns="0" tIns="0" rIns="0" bIns="0" rtlCol="0" anchor="t"/>
          <a:lstStyle/>
          <a:p>
            <a:pPr indent="0" marL="0">
              <a:buNone/>
            </a:pPr>
            <a:r>
              <a:rPr lang="en-US" sz="1100" dirty="0">
                <a:solidFill>
                  <a:schemeClr val="tx1"/>
                </a:solidFill>
              </a:rPr>
              <a:t>Tomorrow's rebuilt close → today's label. Why we rebuilt Round 3</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Round 3 engine, all seven steps</a:t>
            </a:r>
            <a:endParaRPr lang="en-US" sz="2800" dirty="0"/>
          </a:p>
        </p:txBody>
      </p:sp>
      <p:sp>
        <p:nvSpPr>
          <p:cNvPr id="3" name="kicker-178"/>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ROUND 3 · generate_round3_signals.py</a:t>
            </a:r>
            <a:endParaRPr lang="en-US" sz="1000" dirty="0"/>
          </a:p>
        </p:txBody>
      </p:sp>
      <p:sp>
        <p:nvSpPr>
          <p:cNvPr id="5" name="card-179"/>
          <p:cNvSpPr/>
          <p:nvPr/>
        </p:nvSpPr>
        <p:spPr>
          <a:xfrm>
            <a:off x="457200" y="1143000"/>
            <a:ext cx="1885950" cy="1463040"/>
          </a:xfrm>
          <a:prstGeom prst="roundRect">
            <a:avLst>
              <a:gd name="adj" fmla="val 5000"/>
            </a:avLst>
          </a:prstGeom>
          <a:solidFill>
            <a:schemeClr val="bg2"/>
          </a:solidFill>
          <a:ln w="12700">
            <a:solidFill>
              <a:schemeClr val="bg2"/>
            </a:solidFill>
            <a:prstDash val="solid"/>
          </a:ln>
        </p:spPr>
      </p:sp>
      <p:sp>
        <p:nvSpPr>
          <p:cNvPr id="6" name="step-dot-180"/>
          <p:cNvSpPr/>
          <p:nvPr/>
        </p:nvSpPr>
        <p:spPr>
          <a:xfrm>
            <a:off x="594360" y="1280160"/>
            <a:ext cx="329184" cy="329184"/>
          </a:xfrm>
          <a:prstGeom prst="ellipse">
            <a:avLst/>
          </a:prstGeom>
          <a:solidFill>
            <a:schemeClr val="accent1"/>
          </a:solidFill>
          <a:ln w="12700">
            <a:solidFill>
              <a:schemeClr val="accent1"/>
            </a:solidFill>
            <a:prstDash val="solid"/>
          </a:ln>
        </p:spPr>
      </p:sp>
      <p:sp>
        <p:nvSpPr>
          <p:cNvPr id="7" name="text-181"/>
          <p:cNvSpPr txBox="1"/>
          <p:nvPr/>
        </p:nvSpPr>
        <p:spPr>
          <a:xfrm>
            <a:off x="59436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182"/>
          <p:cNvSpPr txBox="1"/>
          <p:nvPr/>
        </p:nvSpPr>
        <p:spPr>
          <a:xfrm>
            <a:off x="1005840" y="1261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Recover closes</a:t>
            </a:r>
            <a:endParaRPr lang="en-US" sz="1400" dirty="0"/>
          </a:p>
        </p:txBody>
      </p:sp>
      <p:sp>
        <p:nvSpPr>
          <p:cNvPr id="9" name="text-183"/>
          <p:cNvSpPr txBox="1"/>
          <p:nvPr/>
        </p:nvSpPr>
        <p:spPr>
          <a:xfrm>
            <a:off x="594360" y="1709928"/>
            <a:ext cx="1611630" cy="804672"/>
          </a:xfrm>
          <a:prstGeom prst="rect">
            <a:avLst/>
          </a:prstGeom>
          <a:noFill/>
          <a:ln/>
        </p:spPr>
        <p:txBody>
          <a:bodyPr wrap="square" lIns="0" tIns="0" rIns="0" bIns="0" rtlCol="0" anchor="t"/>
          <a:lstStyle/>
          <a:p>
            <a:pPr indent="0" marL="0">
              <a:buNone/>
            </a:pPr>
            <a:r>
              <a:rPr lang="en-US" sz="1150" dirty="0">
                <a:solidFill>
                  <a:srgbClr val="55666E"/>
                </a:solidFill>
              </a:rPr>
              <a:t>Same order_flow identity. A bar's close is used only from the next bar on.</a:t>
            </a:r>
            <a:endParaRPr lang="en-US" sz="1150" dirty="0"/>
          </a:p>
        </p:txBody>
      </p:sp>
      <p:sp>
        <p:nvSpPr>
          <p:cNvPr id="10" name="card-184"/>
          <p:cNvSpPr/>
          <p:nvPr/>
        </p:nvSpPr>
        <p:spPr>
          <a:xfrm>
            <a:off x="2571750" y="1143000"/>
            <a:ext cx="1885950" cy="1463040"/>
          </a:xfrm>
          <a:prstGeom prst="roundRect">
            <a:avLst>
              <a:gd name="adj" fmla="val 5000"/>
            </a:avLst>
          </a:prstGeom>
          <a:solidFill>
            <a:schemeClr val="bg2"/>
          </a:solidFill>
          <a:ln w="12700">
            <a:solidFill>
              <a:schemeClr val="bg2"/>
            </a:solidFill>
            <a:prstDash val="solid"/>
          </a:ln>
        </p:spPr>
      </p:sp>
      <p:sp>
        <p:nvSpPr>
          <p:cNvPr id="11" name="step-dot-185"/>
          <p:cNvSpPr/>
          <p:nvPr/>
        </p:nvSpPr>
        <p:spPr>
          <a:xfrm>
            <a:off x="2708910" y="1280160"/>
            <a:ext cx="329184" cy="329184"/>
          </a:xfrm>
          <a:prstGeom prst="ellipse">
            <a:avLst/>
          </a:prstGeom>
          <a:solidFill>
            <a:schemeClr val="accent1"/>
          </a:solidFill>
          <a:ln w="12700">
            <a:solidFill>
              <a:schemeClr val="accent1"/>
            </a:solidFill>
            <a:prstDash val="solid"/>
          </a:ln>
        </p:spPr>
      </p:sp>
      <p:sp>
        <p:nvSpPr>
          <p:cNvPr id="12" name="text-186"/>
          <p:cNvSpPr txBox="1"/>
          <p:nvPr/>
        </p:nvSpPr>
        <p:spPr>
          <a:xfrm>
            <a:off x="270891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187"/>
          <p:cNvSpPr txBox="1"/>
          <p:nvPr/>
        </p:nvSpPr>
        <p:spPr>
          <a:xfrm>
            <a:off x="3120390" y="1261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Measure risk</a:t>
            </a:r>
            <a:endParaRPr lang="en-US" sz="1400" dirty="0"/>
          </a:p>
        </p:txBody>
      </p:sp>
      <p:sp>
        <p:nvSpPr>
          <p:cNvPr id="14" name="text-188"/>
          <p:cNvSpPr txBox="1"/>
          <p:nvPr/>
        </p:nvSpPr>
        <p:spPr>
          <a:xfrm>
            <a:off x="2708910" y="1709928"/>
            <a:ext cx="1611630" cy="804672"/>
          </a:xfrm>
          <a:prstGeom prst="rect">
            <a:avLst/>
          </a:prstGeom>
          <a:noFill/>
          <a:ln/>
        </p:spPr>
        <p:txBody>
          <a:bodyPr wrap="square" lIns="0" tIns="0" rIns="0" bIns="0" rtlCol="0" anchor="t"/>
          <a:lstStyle/>
          <a:p>
            <a:pPr indent="0" marL="0">
              <a:buNone/>
            </a:pPr>
            <a:r>
              <a:rPr lang="en-US" sz="1150" dirty="0">
                <a:solidFill>
                  <a:srgbClr val="55666E"/>
                </a:solidFill>
              </a:rPr>
              <a:t>20- and 5-bar vol, 120-bar baseline vol, 60-bar drawdown, 30-bar mean.</a:t>
            </a:r>
            <a:endParaRPr lang="en-US" sz="1150" dirty="0"/>
          </a:p>
        </p:txBody>
      </p:sp>
      <p:sp>
        <p:nvSpPr>
          <p:cNvPr id="15" name="card-189"/>
          <p:cNvSpPr/>
          <p:nvPr/>
        </p:nvSpPr>
        <p:spPr>
          <a:xfrm>
            <a:off x="4686300" y="1143000"/>
            <a:ext cx="1885950" cy="1463040"/>
          </a:xfrm>
          <a:prstGeom prst="roundRect">
            <a:avLst>
              <a:gd name="adj" fmla="val 5000"/>
            </a:avLst>
          </a:prstGeom>
          <a:solidFill>
            <a:schemeClr val="bg2"/>
          </a:solidFill>
          <a:ln w="12700">
            <a:solidFill>
              <a:schemeClr val="bg2"/>
            </a:solidFill>
            <a:prstDash val="solid"/>
          </a:ln>
        </p:spPr>
      </p:sp>
      <p:sp>
        <p:nvSpPr>
          <p:cNvPr id="16" name="step-dot-190"/>
          <p:cNvSpPr/>
          <p:nvPr/>
        </p:nvSpPr>
        <p:spPr>
          <a:xfrm>
            <a:off x="4823460" y="1280160"/>
            <a:ext cx="329184" cy="329184"/>
          </a:xfrm>
          <a:prstGeom prst="ellipse">
            <a:avLst/>
          </a:prstGeom>
          <a:solidFill>
            <a:schemeClr val="accent1"/>
          </a:solidFill>
          <a:ln w="12700">
            <a:solidFill>
              <a:schemeClr val="accent1"/>
            </a:solidFill>
            <a:prstDash val="solid"/>
          </a:ln>
        </p:spPr>
      </p:sp>
      <p:sp>
        <p:nvSpPr>
          <p:cNvPr id="17" name="text-191"/>
          <p:cNvSpPr txBox="1"/>
          <p:nvPr/>
        </p:nvSpPr>
        <p:spPr>
          <a:xfrm>
            <a:off x="482346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192"/>
          <p:cNvSpPr txBox="1"/>
          <p:nvPr/>
        </p:nvSpPr>
        <p:spPr>
          <a:xfrm>
            <a:off x="5234940" y="1261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Detect crisis</a:t>
            </a:r>
            <a:endParaRPr lang="en-US" sz="1400" dirty="0"/>
          </a:p>
        </p:txBody>
      </p:sp>
      <p:sp>
        <p:nvSpPr>
          <p:cNvPr id="19" name="text-193"/>
          <p:cNvSpPr txBox="1"/>
          <p:nvPr/>
        </p:nvSpPr>
        <p:spPr>
          <a:xfrm>
            <a:off x="4823460" y="1709928"/>
            <a:ext cx="1611630" cy="804672"/>
          </a:xfrm>
          <a:prstGeom prst="rect">
            <a:avLst/>
          </a:prstGeom>
          <a:noFill/>
          <a:ln/>
        </p:spPr>
        <p:txBody>
          <a:bodyPr wrap="square" lIns="0" tIns="0" rIns="0" bIns="0" rtlCol="0" anchor="t"/>
          <a:lstStyle/>
          <a:p>
            <a:pPr indent="0" marL="0">
              <a:buNone/>
            </a:pPr>
            <a:r>
              <a:rPr lang="en-US" sz="1150" dirty="0">
                <a:solidFill>
                  <a:srgbClr val="55666E"/>
                </a:solidFill>
              </a:rPr>
              <a:t>Vol spike &gt; 2.5× baseline, drawdown past −12%, or a 4× move. Hold 15 bars.</a:t>
            </a:r>
            <a:endParaRPr lang="en-US" sz="1150" dirty="0"/>
          </a:p>
        </p:txBody>
      </p:sp>
      <p:sp>
        <p:nvSpPr>
          <p:cNvPr id="20" name="card-194"/>
          <p:cNvSpPr/>
          <p:nvPr/>
        </p:nvSpPr>
        <p:spPr>
          <a:xfrm>
            <a:off x="6800850" y="1143000"/>
            <a:ext cx="1885950" cy="1463040"/>
          </a:xfrm>
          <a:prstGeom prst="roundRect">
            <a:avLst>
              <a:gd name="adj" fmla="val 5000"/>
            </a:avLst>
          </a:prstGeom>
          <a:solidFill>
            <a:schemeClr val="bg2"/>
          </a:solidFill>
          <a:ln w="12700">
            <a:solidFill>
              <a:schemeClr val="bg2"/>
            </a:solidFill>
            <a:prstDash val="solid"/>
          </a:ln>
        </p:spPr>
      </p:sp>
      <p:sp>
        <p:nvSpPr>
          <p:cNvPr id="21" name="step-dot-195"/>
          <p:cNvSpPr/>
          <p:nvPr/>
        </p:nvSpPr>
        <p:spPr>
          <a:xfrm>
            <a:off x="6938010" y="1280160"/>
            <a:ext cx="329184" cy="329184"/>
          </a:xfrm>
          <a:prstGeom prst="ellipse">
            <a:avLst/>
          </a:prstGeom>
          <a:solidFill>
            <a:schemeClr val="accent1"/>
          </a:solidFill>
          <a:ln w="12700">
            <a:solidFill>
              <a:schemeClr val="accent1"/>
            </a:solidFill>
            <a:prstDash val="solid"/>
          </a:ln>
        </p:spPr>
      </p:sp>
      <p:sp>
        <p:nvSpPr>
          <p:cNvPr id="22" name="text-196"/>
          <p:cNvSpPr txBox="1"/>
          <p:nvPr/>
        </p:nvSpPr>
        <p:spPr>
          <a:xfrm>
            <a:off x="6938010" y="1280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text-197"/>
          <p:cNvSpPr txBox="1"/>
          <p:nvPr/>
        </p:nvSpPr>
        <p:spPr>
          <a:xfrm>
            <a:off x="7349490" y="1261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Set a target</a:t>
            </a:r>
            <a:endParaRPr lang="en-US" sz="1400" dirty="0"/>
          </a:p>
        </p:txBody>
      </p:sp>
      <p:sp>
        <p:nvSpPr>
          <p:cNvPr id="24" name="text-198"/>
          <p:cNvSpPr txBox="1"/>
          <p:nvPr/>
        </p:nvSpPr>
        <p:spPr>
          <a:xfrm>
            <a:off x="6938010" y="1709928"/>
            <a:ext cx="1611630" cy="804672"/>
          </a:xfrm>
          <a:prstGeom prst="rect">
            <a:avLst/>
          </a:prstGeom>
          <a:noFill/>
          <a:ln/>
        </p:spPr>
        <p:txBody>
          <a:bodyPr wrap="square" lIns="0" tIns="0" rIns="0" bIns="0" rtlCol="0" anchor="t"/>
          <a:lstStyle/>
          <a:p>
            <a:pPr indent="0" marL="0">
              <a:buNone/>
            </a:pPr>
            <a:r>
              <a:rPr lang="en-US" sz="1150" dirty="0">
                <a:solidFill>
                  <a:srgbClr val="55666E"/>
                </a:solidFill>
              </a:rPr>
              <a:t>Calm: EMA10 vs EMA30 trend at a 0.6% vol target. Crisis: short below SMA30 (max 0.5), else flat.</a:t>
            </a:r>
            <a:endParaRPr lang="en-US" sz="1150" dirty="0"/>
          </a:p>
        </p:txBody>
      </p:sp>
      <p:sp>
        <p:nvSpPr>
          <p:cNvPr id="25" name="card-199"/>
          <p:cNvSpPr/>
          <p:nvPr/>
        </p:nvSpPr>
        <p:spPr>
          <a:xfrm>
            <a:off x="457200" y="2834640"/>
            <a:ext cx="1885950" cy="1463040"/>
          </a:xfrm>
          <a:prstGeom prst="roundRect">
            <a:avLst>
              <a:gd name="adj" fmla="val 5000"/>
            </a:avLst>
          </a:prstGeom>
          <a:solidFill>
            <a:schemeClr val="bg2"/>
          </a:solidFill>
          <a:ln w="12700">
            <a:solidFill>
              <a:schemeClr val="bg2"/>
            </a:solidFill>
            <a:prstDash val="solid"/>
          </a:ln>
        </p:spPr>
      </p:sp>
      <p:sp>
        <p:nvSpPr>
          <p:cNvPr id="26" name="step-dot-200"/>
          <p:cNvSpPr/>
          <p:nvPr/>
        </p:nvSpPr>
        <p:spPr>
          <a:xfrm>
            <a:off x="594360" y="2971800"/>
            <a:ext cx="329184" cy="329184"/>
          </a:xfrm>
          <a:prstGeom prst="ellipse">
            <a:avLst/>
          </a:prstGeom>
          <a:solidFill>
            <a:schemeClr val="accent1"/>
          </a:solidFill>
          <a:ln w="12700">
            <a:solidFill>
              <a:schemeClr val="accent1"/>
            </a:solidFill>
            <a:prstDash val="solid"/>
          </a:ln>
        </p:spPr>
      </p:sp>
      <p:sp>
        <p:nvSpPr>
          <p:cNvPr id="27" name="text-201"/>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202"/>
          <p:cNvSpPr txBox="1"/>
          <p:nvPr/>
        </p:nvSpPr>
        <p:spPr>
          <a:xfrm>
            <a:off x="1005840" y="29535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Lag one bar</a:t>
            </a:r>
            <a:endParaRPr lang="en-US" sz="1400" dirty="0"/>
          </a:p>
        </p:txBody>
      </p:sp>
      <p:sp>
        <p:nvSpPr>
          <p:cNvPr id="29" name="text-203"/>
          <p:cNvSpPr txBox="1"/>
          <p:nvPr/>
        </p:nvSpPr>
        <p:spPr>
          <a:xfrm>
            <a:off x="594360" y="3401568"/>
            <a:ext cx="1611630" cy="804672"/>
          </a:xfrm>
          <a:prstGeom prst="rect">
            <a:avLst/>
          </a:prstGeom>
          <a:noFill/>
          <a:ln/>
        </p:spPr>
        <p:txBody>
          <a:bodyPr wrap="square" lIns="0" tIns="0" rIns="0" bIns="0" rtlCol="0" anchor="t"/>
          <a:lstStyle/>
          <a:p>
            <a:pPr indent="0" marL="0">
              <a:buNone/>
            </a:pPr>
            <a:r>
              <a:rPr lang="en-US" sz="1150" dirty="0">
                <a:solidFill>
                  <a:srgbClr val="55666E"/>
                </a:solidFill>
              </a:rPr>
              <a:t>Computed at the close of t−1, held during bar t.</a:t>
            </a:r>
            <a:endParaRPr lang="en-US" sz="1150" dirty="0"/>
          </a:p>
        </p:txBody>
      </p:sp>
      <p:sp>
        <p:nvSpPr>
          <p:cNvPr id="30" name="card-204"/>
          <p:cNvSpPr/>
          <p:nvPr/>
        </p:nvSpPr>
        <p:spPr>
          <a:xfrm>
            <a:off x="2571750" y="2834640"/>
            <a:ext cx="1885950" cy="1463040"/>
          </a:xfrm>
          <a:prstGeom prst="roundRect">
            <a:avLst>
              <a:gd name="adj" fmla="val 5000"/>
            </a:avLst>
          </a:prstGeom>
          <a:solidFill>
            <a:schemeClr val="bg2"/>
          </a:solidFill>
          <a:ln w="12700">
            <a:solidFill>
              <a:schemeClr val="bg2"/>
            </a:solidFill>
            <a:prstDash val="solid"/>
          </a:ln>
        </p:spPr>
      </p:sp>
      <p:sp>
        <p:nvSpPr>
          <p:cNvPr id="31" name="step-dot-205"/>
          <p:cNvSpPr/>
          <p:nvPr/>
        </p:nvSpPr>
        <p:spPr>
          <a:xfrm>
            <a:off x="2708910" y="2971800"/>
            <a:ext cx="329184" cy="329184"/>
          </a:xfrm>
          <a:prstGeom prst="ellipse">
            <a:avLst/>
          </a:prstGeom>
          <a:solidFill>
            <a:schemeClr val="accent1"/>
          </a:solidFill>
          <a:ln w="12700">
            <a:solidFill>
              <a:schemeClr val="accent1"/>
            </a:solidFill>
            <a:prstDash val="solid"/>
          </a:ln>
        </p:spPr>
      </p:sp>
      <p:sp>
        <p:nvSpPr>
          <p:cNvPr id="32" name="text-206"/>
          <p:cNvSpPr txBox="1"/>
          <p:nvPr/>
        </p:nvSpPr>
        <p:spPr>
          <a:xfrm>
            <a:off x="2708910"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text-207"/>
          <p:cNvSpPr txBox="1"/>
          <p:nvPr/>
        </p:nvSpPr>
        <p:spPr>
          <a:xfrm>
            <a:off x="3120390" y="29535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Smooth</a:t>
            </a:r>
            <a:endParaRPr lang="en-US" sz="1400" dirty="0"/>
          </a:p>
        </p:txBody>
      </p:sp>
      <p:sp>
        <p:nvSpPr>
          <p:cNvPr id="34" name="text-208"/>
          <p:cNvSpPr txBox="1"/>
          <p:nvPr/>
        </p:nvSpPr>
        <p:spPr>
          <a:xfrm>
            <a:off x="2708910" y="3401568"/>
            <a:ext cx="1611630" cy="804672"/>
          </a:xfrm>
          <a:prstGeom prst="rect">
            <a:avLst/>
          </a:prstGeom>
          <a:noFill/>
          <a:ln/>
        </p:spPr>
        <p:txBody>
          <a:bodyPr wrap="square" lIns="0" tIns="0" rIns="0" bIns="0" rtlCol="0" anchor="t"/>
          <a:lstStyle/>
          <a:p>
            <a:pPr indent="0" marL="0">
              <a:buNone/>
            </a:pPr>
            <a:r>
              <a:rPr lang="en-US" sz="1150" dirty="0">
                <a:solidFill>
                  <a:srgbClr val="55666E"/>
                </a:solidFill>
              </a:rPr>
              <a:t>Add risk at speed 0.3, cut or flip at 0.8. Saves cost, keeps fast exits.</a:t>
            </a:r>
            <a:endParaRPr lang="en-US" sz="1150" dirty="0"/>
          </a:p>
        </p:txBody>
      </p:sp>
      <p:sp>
        <p:nvSpPr>
          <p:cNvPr id="35" name="card-209"/>
          <p:cNvSpPr/>
          <p:nvPr/>
        </p:nvSpPr>
        <p:spPr>
          <a:xfrm>
            <a:off x="4686300" y="2834640"/>
            <a:ext cx="1885950" cy="1463040"/>
          </a:xfrm>
          <a:prstGeom prst="roundRect">
            <a:avLst>
              <a:gd name="adj" fmla="val 5000"/>
            </a:avLst>
          </a:prstGeom>
          <a:solidFill>
            <a:schemeClr val="bg2"/>
          </a:solidFill>
          <a:ln w="12700">
            <a:solidFill>
              <a:schemeClr val="bg2"/>
            </a:solidFill>
            <a:prstDash val="solid"/>
          </a:ln>
        </p:spPr>
      </p:sp>
      <p:sp>
        <p:nvSpPr>
          <p:cNvPr id="36" name="step-dot-210"/>
          <p:cNvSpPr/>
          <p:nvPr/>
        </p:nvSpPr>
        <p:spPr>
          <a:xfrm>
            <a:off x="4823460" y="2971800"/>
            <a:ext cx="329184" cy="329184"/>
          </a:xfrm>
          <a:prstGeom prst="ellipse">
            <a:avLst/>
          </a:prstGeom>
          <a:solidFill>
            <a:schemeClr val="accent1"/>
          </a:solidFill>
          <a:ln w="12700">
            <a:solidFill>
              <a:schemeClr val="accent1"/>
            </a:solidFill>
            <a:prstDash val="solid"/>
          </a:ln>
        </p:spPr>
      </p:sp>
      <p:sp>
        <p:nvSpPr>
          <p:cNvPr id="37" name="text-211"/>
          <p:cNvSpPr txBox="1"/>
          <p:nvPr/>
        </p:nvSpPr>
        <p:spPr>
          <a:xfrm>
            <a:off x="4823460"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8" name="text-212"/>
          <p:cNvSpPr txBox="1"/>
          <p:nvPr/>
        </p:nvSpPr>
        <p:spPr>
          <a:xfrm>
            <a:off x="5234940" y="29535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Prove it</a:t>
            </a:r>
            <a:endParaRPr lang="en-US" sz="1400" dirty="0"/>
          </a:p>
        </p:txBody>
      </p:sp>
      <p:sp>
        <p:nvSpPr>
          <p:cNvPr id="39" name="text-213"/>
          <p:cNvSpPr txBox="1"/>
          <p:nvPr/>
        </p:nvSpPr>
        <p:spPr>
          <a:xfrm>
            <a:off x="4823460" y="3401568"/>
            <a:ext cx="1611630" cy="804672"/>
          </a:xfrm>
          <a:prstGeom prst="rect">
            <a:avLst/>
          </a:prstGeom>
          <a:noFill/>
          <a:ln/>
        </p:spPr>
        <p:txBody>
          <a:bodyPr wrap="square" lIns="0" tIns="0" rIns="0" bIns="0" rtlCol="0" anchor="t"/>
          <a:lstStyle/>
          <a:p>
            <a:pPr indent="0" marL="0">
              <a:buNone/>
            </a:pPr>
            <a:r>
              <a:rPr lang="en-US" sz="1150" dirty="0">
                <a:solidFill>
                  <a:srgbClr val="55666E"/>
                </a:solidFill>
              </a:rPr>
              <a:t>Rebuild all 50 signals with later rows deleted; must match exactly.</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ARBM: trade the breakout after a squeeze</a:t>
            </a:r>
            <a:endParaRPr lang="en-US" sz="2800" dirty="0"/>
          </a:p>
        </p:txBody>
      </p:sp>
      <p:sp>
        <p:nvSpPr>
          <p:cNvPr id="3" name="kicker-214"/>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REGIME-X · adaptive_regression_breakout_map.pine → backend/engine/arbm.py</a:t>
            </a:r>
            <a:endParaRPr lang="en-US" sz="1000" dirty="0"/>
          </a:p>
        </p:txBody>
      </p:sp>
      <p:sp>
        <p:nvSpPr>
          <p:cNvPr id="5" name="card-215"/>
          <p:cNvSpPr/>
          <p:nvPr/>
        </p:nvSpPr>
        <p:spPr>
          <a:xfrm>
            <a:off x="457200" y="960120"/>
            <a:ext cx="4937760" cy="3703320"/>
          </a:xfrm>
          <a:prstGeom prst="roundRect">
            <a:avLst>
              <a:gd name="adj" fmla="val 1975"/>
            </a:avLst>
          </a:prstGeom>
          <a:solidFill>
            <a:schemeClr val="bg2"/>
          </a:solidFill>
          <a:ln w="12700">
            <a:solidFill>
              <a:schemeClr val="bg2"/>
            </a:solidFill>
            <a:prstDash val="solid"/>
          </a:ln>
        </p:spPr>
      </p:sp>
      <p:sp>
        <p:nvSpPr>
          <p:cNvPr id="6" name="squeeze-zone"/>
          <p:cNvSpPr/>
          <p:nvPr/>
        </p:nvSpPr>
        <p:spPr>
          <a:xfrm>
            <a:off x="1724086" y="1351105"/>
            <a:ext cx="1445342" cy="2497258"/>
          </a:xfrm>
          <a:prstGeom prst="roundRect">
            <a:avLst>
              <a:gd name="adj" fmla="val 3163"/>
            </a:avLst>
          </a:prstGeom>
          <a:solidFill>
            <a:srgbClr val="FFFFFF"/>
          </a:solidFill>
          <a:ln w="12700">
            <a:solidFill>
              <a:srgbClr val="D5DDDE"/>
            </a:solidFill>
            <a:prstDash val="solid"/>
          </a:ln>
        </p:spPr>
      </p:sp>
      <p:sp>
        <p:nvSpPr>
          <p:cNvPr id="7" name="text-216"/>
          <p:cNvSpPr txBox="1"/>
          <p:nvPr/>
        </p:nvSpPr>
        <p:spPr>
          <a:xfrm>
            <a:off x="1781900" y="1413536"/>
            <a:ext cx="1280160" cy="228600"/>
          </a:xfrm>
          <a:prstGeom prst="rect">
            <a:avLst/>
          </a:prstGeom>
          <a:noFill/>
          <a:ln/>
        </p:spPr>
        <p:txBody>
          <a:bodyPr wrap="square" lIns="0" tIns="0" rIns="0" bIns="0" rtlCol="0" anchor="t"/>
          <a:lstStyle/>
          <a:p>
            <a:pPr indent="0" marL="0">
              <a:buNone/>
            </a:pPr>
            <a:r>
              <a:rPr lang="en-US" sz="1000" dirty="0">
                <a:solidFill>
                  <a:srgbClr val="55666E"/>
                </a:solidFill>
              </a:rPr>
              <a:t>Squeeze zone</a:t>
            </a:r>
            <a:endParaRPr lang="en-US" sz="1000" dirty="0"/>
          </a:p>
        </p:txBody>
      </p:sp>
      <p:sp>
        <p:nvSpPr>
          <p:cNvPr id="8" name="line-217"/>
          <p:cNvSpPr/>
          <p:nvPr/>
        </p:nvSpPr>
        <p:spPr>
          <a:xfrm>
            <a:off x="640080" y="1975419"/>
            <a:ext cx="722671" cy="312157"/>
          </a:xfrm>
          <a:prstGeom prst="line">
            <a:avLst/>
          </a:prstGeom>
          <a:noFill/>
          <a:ln w="15875">
            <a:solidFill>
              <a:srgbClr val="8A9A9C"/>
            </a:solidFill>
            <a:prstDash val="solid"/>
          </a:ln>
        </p:spPr>
      </p:sp>
      <p:sp>
        <p:nvSpPr>
          <p:cNvPr id="9" name="line-218"/>
          <p:cNvSpPr/>
          <p:nvPr/>
        </p:nvSpPr>
        <p:spPr>
          <a:xfrm flipV="1">
            <a:off x="640080" y="3692284"/>
            <a:ext cx="722671" cy="260131"/>
          </a:xfrm>
          <a:prstGeom prst="line">
            <a:avLst/>
          </a:prstGeom>
          <a:noFill/>
          <a:ln w="15875">
            <a:solidFill>
              <a:srgbClr val="8A9A9C"/>
            </a:solidFill>
            <a:prstDash val="solid"/>
          </a:ln>
        </p:spPr>
      </p:sp>
      <p:sp>
        <p:nvSpPr>
          <p:cNvPr id="10" name="line-219"/>
          <p:cNvSpPr/>
          <p:nvPr/>
        </p:nvSpPr>
        <p:spPr>
          <a:xfrm>
            <a:off x="1362751" y="2287577"/>
            <a:ext cx="361335" cy="312157"/>
          </a:xfrm>
          <a:prstGeom prst="line">
            <a:avLst/>
          </a:prstGeom>
          <a:noFill/>
          <a:ln w="15875">
            <a:solidFill>
              <a:srgbClr val="8A9A9C"/>
            </a:solidFill>
            <a:prstDash val="solid"/>
          </a:ln>
        </p:spPr>
      </p:sp>
      <p:sp>
        <p:nvSpPr>
          <p:cNvPr id="11" name="line-220"/>
          <p:cNvSpPr/>
          <p:nvPr/>
        </p:nvSpPr>
        <p:spPr>
          <a:xfrm flipV="1">
            <a:off x="1362751" y="3452964"/>
            <a:ext cx="361335" cy="239321"/>
          </a:xfrm>
          <a:prstGeom prst="line">
            <a:avLst/>
          </a:prstGeom>
          <a:noFill/>
          <a:ln w="15875">
            <a:solidFill>
              <a:srgbClr val="8A9A9C"/>
            </a:solidFill>
            <a:prstDash val="solid"/>
          </a:ln>
        </p:spPr>
      </p:sp>
      <p:sp>
        <p:nvSpPr>
          <p:cNvPr id="12" name="line-221"/>
          <p:cNvSpPr/>
          <p:nvPr/>
        </p:nvSpPr>
        <p:spPr>
          <a:xfrm>
            <a:off x="1724086" y="2599734"/>
            <a:ext cx="361335" cy="104052"/>
          </a:xfrm>
          <a:prstGeom prst="line">
            <a:avLst/>
          </a:prstGeom>
          <a:noFill/>
          <a:ln w="15875">
            <a:solidFill>
              <a:srgbClr val="8A9A9C"/>
            </a:solidFill>
            <a:prstDash val="solid"/>
          </a:ln>
        </p:spPr>
      </p:sp>
      <p:sp>
        <p:nvSpPr>
          <p:cNvPr id="13" name="line-222"/>
          <p:cNvSpPr/>
          <p:nvPr/>
        </p:nvSpPr>
        <p:spPr>
          <a:xfrm flipV="1">
            <a:off x="1724086" y="3369722"/>
            <a:ext cx="361335" cy="83242"/>
          </a:xfrm>
          <a:prstGeom prst="line">
            <a:avLst/>
          </a:prstGeom>
          <a:noFill/>
          <a:ln w="15875">
            <a:solidFill>
              <a:srgbClr val="8A9A9C"/>
            </a:solidFill>
            <a:prstDash val="solid"/>
          </a:ln>
        </p:spPr>
      </p:sp>
      <p:sp>
        <p:nvSpPr>
          <p:cNvPr id="14" name="line-223"/>
          <p:cNvSpPr/>
          <p:nvPr/>
        </p:nvSpPr>
        <p:spPr>
          <a:xfrm>
            <a:off x="2085422" y="2703786"/>
            <a:ext cx="1084006" cy="20810"/>
          </a:xfrm>
          <a:prstGeom prst="line">
            <a:avLst/>
          </a:prstGeom>
          <a:noFill/>
          <a:ln w="15875">
            <a:solidFill>
              <a:srgbClr val="8A9A9C"/>
            </a:solidFill>
            <a:prstDash val="solid"/>
          </a:ln>
        </p:spPr>
      </p:sp>
      <p:sp>
        <p:nvSpPr>
          <p:cNvPr id="15" name="line-224"/>
          <p:cNvSpPr/>
          <p:nvPr/>
        </p:nvSpPr>
        <p:spPr>
          <a:xfrm flipV="1">
            <a:off x="2085422" y="3348911"/>
            <a:ext cx="1084006" cy="20810"/>
          </a:xfrm>
          <a:prstGeom prst="line">
            <a:avLst/>
          </a:prstGeom>
          <a:noFill/>
          <a:ln w="15875">
            <a:solidFill>
              <a:srgbClr val="8A9A9C"/>
            </a:solidFill>
            <a:prstDash val="solid"/>
          </a:ln>
        </p:spPr>
      </p:sp>
      <p:sp>
        <p:nvSpPr>
          <p:cNvPr id="16" name="line-225"/>
          <p:cNvSpPr/>
          <p:nvPr/>
        </p:nvSpPr>
        <p:spPr>
          <a:xfrm flipV="1">
            <a:off x="640080" y="2495681"/>
            <a:ext cx="180668" cy="728367"/>
          </a:xfrm>
          <a:prstGeom prst="line">
            <a:avLst/>
          </a:prstGeom>
          <a:noFill/>
          <a:ln w="25400">
            <a:solidFill>
              <a:srgbClr val="13232B"/>
            </a:solidFill>
            <a:prstDash val="solid"/>
          </a:ln>
        </p:spPr>
      </p:sp>
      <p:sp>
        <p:nvSpPr>
          <p:cNvPr id="17" name="line-226"/>
          <p:cNvSpPr/>
          <p:nvPr/>
        </p:nvSpPr>
        <p:spPr>
          <a:xfrm>
            <a:off x="820748" y="2495681"/>
            <a:ext cx="180668" cy="1144577"/>
          </a:xfrm>
          <a:prstGeom prst="line">
            <a:avLst/>
          </a:prstGeom>
          <a:noFill/>
          <a:ln w="25400">
            <a:solidFill>
              <a:srgbClr val="13232B"/>
            </a:solidFill>
            <a:prstDash val="solid"/>
          </a:ln>
        </p:spPr>
      </p:sp>
      <p:sp>
        <p:nvSpPr>
          <p:cNvPr id="18" name="line-227"/>
          <p:cNvSpPr/>
          <p:nvPr/>
        </p:nvSpPr>
        <p:spPr>
          <a:xfrm flipV="1">
            <a:off x="1001415" y="2443655"/>
            <a:ext cx="180668" cy="1196603"/>
          </a:xfrm>
          <a:prstGeom prst="line">
            <a:avLst/>
          </a:prstGeom>
          <a:noFill/>
          <a:ln w="25400">
            <a:solidFill>
              <a:srgbClr val="13232B"/>
            </a:solidFill>
            <a:prstDash val="solid"/>
          </a:ln>
        </p:spPr>
      </p:sp>
      <p:sp>
        <p:nvSpPr>
          <p:cNvPr id="19" name="line-228"/>
          <p:cNvSpPr/>
          <p:nvPr/>
        </p:nvSpPr>
        <p:spPr>
          <a:xfrm>
            <a:off x="1182083" y="2443655"/>
            <a:ext cx="180668" cy="1040524"/>
          </a:xfrm>
          <a:prstGeom prst="line">
            <a:avLst/>
          </a:prstGeom>
          <a:noFill/>
          <a:ln w="25400">
            <a:solidFill>
              <a:srgbClr val="13232B"/>
            </a:solidFill>
            <a:prstDash val="solid"/>
          </a:ln>
        </p:spPr>
      </p:sp>
      <p:sp>
        <p:nvSpPr>
          <p:cNvPr id="20" name="line-229"/>
          <p:cNvSpPr/>
          <p:nvPr/>
        </p:nvSpPr>
        <p:spPr>
          <a:xfrm flipV="1">
            <a:off x="1362751" y="2807839"/>
            <a:ext cx="180668" cy="676341"/>
          </a:xfrm>
          <a:prstGeom prst="line">
            <a:avLst/>
          </a:prstGeom>
          <a:noFill/>
          <a:ln w="25400">
            <a:solidFill>
              <a:srgbClr val="13232B"/>
            </a:solidFill>
            <a:prstDash val="solid"/>
          </a:ln>
        </p:spPr>
      </p:sp>
      <p:sp>
        <p:nvSpPr>
          <p:cNvPr id="21" name="line-230"/>
          <p:cNvSpPr/>
          <p:nvPr/>
        </p:nvSpPr>
        <p:spPr>
          <a:xfrm>
            <a:off x="1543419" y="2807839"/>
            <a:ext cx="180668" cy="416210"/>
          </a:xfrm>
          <a:prstGeom prst="line">
            <a:avLst/>
          </a:prstGeom>
          <a:noFill/>
          <a:ln w="25400">
            <a:solidFill>
              <a:srgbClr val="13232B"/>
            </a:solidFill>
            <a:prstDash val="solid"/>
          </a:ln>
        </p:spPr>
      </p:sp>
      <p:sp>
        <p:nvSpPr>
          <p:cNvPr id="22" name="line-231"/>
          <p:cNvSpPr/>
          <p:nvPr/>
        </p:nvSpPr>
        <p:spPr>
          <a:xfrm flipV="1">
            <a:off x="1724086" y="2891081"/>
            <a:ext cx="180668" cy="332968"/>
          </a:xfrm>
          <a:prstGeom prst="line">
            <a:avLst/>
          </a:prstGeom>
          <a:noFill/>
          <a:ln w="25400">
            <a:solidFill>
              <a:srgbClr val="13232B"/>
            </a:solidFill>
            <a:prstDash val="solid"/>
          </a:ln>
        </p:spPr>
      </p:sp>
      <p:sp>
        <p:nvSpPr>
          <p:cNvPr id="23" name="line-232"/>
          <p:cNvSpPr/>
          <p:nvPr/>
        </p:nvSpPr>
        <p:spPr>
          <a:xfrm>
            <a:off x="1904754" y="2891081"/>
            <a:ext cx="180668" cy="249726"/>
          </a:xfrm>
          <a:prstGeom prst="line">
            <a:avLst/>
          </a:prstGeom>
          <a:noFill/>
          <a:ln w="25400">
            <a:solidFill>
              <a:srgbClr val="13232B"/>
            </a:solidFill>
            <a:prstDash val="solid"/>
          </a:ln>
        </p:spPr>
      </p:sp>
      <p:sp>
        <p:nvSpPr>
          <p:cNvPr id="24" name="line-233"/>
          <p:cNvSpPr/>
          <p:nvPr/>
        </p:nvSpPr>
        <p:spPr>
          <a:xfrm flipV="1">
            <a:off x="2085422" y="2932702"/>
            <a:ext cx="180668" cy="208105"/>
          </a:xfrm>
          <a:prstGeom prst="line">
            <a:avLst/>
          </a:prstGeom>
          <a:noFill/>
          <a:ln w="25400">
            <a:solidFill>
              <a:srgbClr val="13232B"/>
            </a:solidFill>
            <a:prstDash val="solid"/>
          </a:ln>
        </p:spPr>
      </p:sp>
      <p:sp>
        <p:nvSpPr>
          <p:cNvPr id="25" name="line-234"/>
          <p:cNvSpPr/>
          <p:nvPr/>
        </p:nvSpPr>
        <p:spPr>
          <a:xfrm>
            <a:off x="2266090" y="2932702"/>
            <a:ext cx="180668" cy="187294"/>
          </a:xfrm>
          <a:prstGeom prst="line">
            <a:avLst/>
          </a:prstGeom>
          <a:noFill/>
          <a:ln w="25400">
            <a:solidFill>
              <a:srgbClr val="13232B"/>
            </a:solidFill>
            <a:prstDash val="solid"/>
          </a:ln>
        </p:spPr>
      </p:sp>
      <p:sp>
        <p:nvSpPr>
          <p:cNvPr id="26" name="line-235"/>
          <p:cNvSpPr/>
          <p:nvPr/>
        </p:nvSpPr>
        <p:spPr>
          <a:xfrm flipV="1">
            <a:off x="2446757" y="2963917"/>
            <a:ext cx="180668" cy="156079"/>
          </a:xfrm>
          <a:prstGeom prst="line">
            <a:avLst/>
          </a:prstGeom>
          <a:noFill/>
          <a:ln w="25400">
            <a:solidFill>
              <a:srgbClr val="13232B"/>
            </a:solidFill>
            <a:prstDash val="solid"/>
          </a:ln>
        </p:spPr>
      </p:sp>
      <p:sp>
        <p:nvSpPr>
          <p:cNvPr id="27" name="line-236"/>
          <p:cNvSpPr/>
          <p:nvPr/>
        </p:nvSpPr>
        <p:spPr>
          <a:xfrm>
            <a:off x="2627425" y="2963917"/>
            <a:ext cx="180668" cy="114458"/>
          </a:xfrm>
          <a:prstGeom prst="line">
            <a:avLst/>
          </a:prstGeom>
          <a:noFill/>
          <a:ln w="25400">
            <a:solidFill>
              <a:srgbClr val="13232B"/>
            </a:solidFill>
            <a:prstDash val="solid"/>
          </a:ln>
        </p:spPr>
      </p:sp>
      <p:sp>
        <p:nvSpPr>
          <p:cNvPr id="28" name="line-237"/>
          <p:cNvSpPr/>
          <p:nvPr/>
        </p:nvSpPr>
        <p:spPr>
          <a:xfrm flipV="1">
            <a:off x="2808093" y="2911891"/>
            <a:ext cx="180668" cy="166484"/>
          </a:xfrm>
          <a:prstGeom prst="line">
            <a:avLst/>
          </a:prstGeom>
          <a:noFill/>
          <a:ln w="25400">
            <a:solidFill>
              <a:srgbClr val="13232B"/>
            </a:solidFill>
            <a:prstDash val="solid"/>
          </a:ln>
        </p:spPr>
      </p:sp>
      <p:sp>
        <p:nvSpPr>
          <p:cNvPr id="29" name="line-238"/>
          <p:cNvSpPr/>
          <p:nvPr/>
        </p:nvSpPr>
        <p:spPr>
          <a:xfrm flipV="1">
            <a:off x="2988761" y="2807839"/>
            <a:ext cx="180668" cy="104052"/>
          </a:xfrm>
          <a:prstGeom prst="line">
            <a:avLst/>
          </a:prstGeom>
          <a:noFill/>
          <a:ln w="25400">
            <a:solidFill>
              <a:srgbClr val="13232B"/>
            </a:solidFill>
            <a:prstDash val="solid"/>
          </a:ln>
        </p:spPr>
      </p:sp>
      <p:sp>
        <p:nvSpPr>
          <p:cNvPr id="30" name="line-239"/>
          <p:cNvSpPr/>
          <p:nvPr/>
        </p:nvSpPr>
        <p:spPr>
          <a:xfrm flipV="1">
            <a:off x="3169428" y="2516492"/>
            <a:ext cx="130081" cy="291347"/>
          </a:xfrm>
          <a:prstGeom prst="line">
            <a:avLst/>
          </a:prstGeom>
          <a:noFill/>
          <a:ln w="25400">
            <a:solidFill>
              <a:srgbClr val="13232B"/>
            </a:solidFill>
            <a:prstDash val="solid"/>
          </a:ln>
        </p:spPr>
      </p:sp>
      <p:sp>
        <p:nvSpPr>
          <p:cNvPr id="31" name="line-240"/>
          <p:cNvSpPr/>
          <p:nvPr/>
        </p:nvSpPr>
        <p:spPr>
          <a:xfrm flipV="1">
            <a:off x="3299509" y="2370818"/>
            <a:ext cx="158988" cy="145673"/>
          </a:xfrm>
          <a:prstGeom prst="line">
            <a:avLst/>
          </a:prstGeom>
          <a:noFill/>
          <a:ln w="25400">
            <a:solidFill>
              <a:srgbClr val="13232B"/>
            </a:solidFill>
            <a:prstDash val="solid"/>
          </a:ln>
        </p:spPr>
      </p:sp>
      <p:sp>
        <p:nvSpPr>
          <p:cNvPr id="32" name="line-241"/>
          <p:cNvSpPr/>
          <p:nvPr/>
        </p:nvSpPr>
        <p:spPr>
          <a:xfrm flipV="1">
            <a:off x="3458497" y="2225145"/>
            <a:ext cx="144534" cy="145673"/>
          </a:xfrm>
          <a:prstGeom prst="line">
            <a:avLst/>
          </a:prstGeom>
          <a:noFill/>
          <a:ln w="25400">
            <a:solidFill>
              <a:srgbClr val="13232B"/>
            </a:solidFill>
            <a:prstDash val="solid"/>
          </a:ln>
        </p:spPr>
      </p:sp>
      <p:sp>
        <p:nvSpPr>
          <p:cNvPr id="33" name="line-242"/>
          <p:cNvSpPr/>
          <p:nvPr/>
        </p:nvSpPr>
        <p:spPr>
          <a:xfrm>
            <a:off x="3603031" y="2225145"/>
            <a:ext cx="144534" cy="41621"/>
          </a:xfrm>
          <a:prstGeom prst="line">
            <a:avLst/>
          </a:prstGeom>
          <a:noFill/>
          <a:ln w="25400">
            <a:solidFill>
              <a:srgbClr val="13232B"/>
            </a:solidFill>
            <a:prstDash val="solid"/>
          </a:ln>
        </p:spPr>
      </p:sp>
      <p:sp>
        <p:nvSpPr>
          <p:cNvPr id="34" name="line-243"/>
          <p:cNvSpPr/>
          <p:nvPr/>
        </p:nvSpPr>
        <p:spPr>
          <a:xfrm flipV="1">
            <a:off x="3747565" y="2079472"/>
            <a:ext cx="144534" cy="187294"/>
          </a:xfrm>
          <a:prstGeom prst="line">
            <a:avLst/>
          </a:prstGeom>
          <a:noFill/>
          <a:ln w="25400">
            <a:solidFill>
              <a:srgbClr val="13232B"/>
            </a:solidFill>
            <a:prstDash val="solid"/>
          </a:ln>
        </p:spPr>
      </p:sp>
      <p:sp>
        <p:nvSpPr>
          <p:cNvPr id="35" name="line-244"/>
          <p:cNvSpPr/>
          <p:nvPr/>
        </p:nvSpPr>
        <p:spPr>
          <a:xfrm flipV="1">
            <a:off x="3892099" y="1871367"/>
            <a:ext cx="108401" cy="208105"/>
          </a:xfrm>
          <a:prstGeom prst="line">
            <a:avLst/>
          </a:prstGeom>
          <a:noFill/>
          <a:ln w="25400">
            <a:solidFill>
              <a:srgbClr val="13232B"/>
            </a:solidFill>
            <a:prstDash val="solid"/>
          </a:ln>
        </p:spPr>
      </p:sp>
      <p:sp>
        <p:nvSpPr>
          <p:cNvPr id="36" name="line-245"/>
          <p:cNvSpPr/>
          <p:nvPr/>
        </p:nvSpPr>
        <p:spPr>
          <a:xfrm flipV="1">
            <a:off x="4000500" y="1725694"/>
            <a:ext cx="108401" cy="145673"/>
          </a:xfrm>
          <a:prstGeom prst="line">
            <a:avLst/>
          </a:prstGeom>
          <a:noFill/>
          <a:ln w="25400">
            <a:solidFill>
              <a:srgbClr val="13232B"/>
            </a:solidFill>
            <a:prstDash val="solid"/>
          </a:ln>
        </p:spPr>
      </p:sp>
      <p:sp>
        <p:nvSpPr>
          <p:cNvPr id="37" name="line-246"/>
          <p:cNvSpPr/>
          <p:nvPr/>
        </p:nvSpPr>
        <p:spPr>
          <a:xfrm flipV="1">
            <a:off x="4108901" y="1600831"/>
            <a:ext cx="108401" cy="124863"/>
          </a:xfrm>
          <a:prstGeom prst="line">
            <a:avLst/>
          </a:prstGeom>
          <a:noFill/>
          <a:ln w="25400">
            <a:solidFill>
              <a:srgbClr val="13232B"/>
            </a:solidFill>
            <a:prstDash val="solid"/>
          </a:ln>
        </p:spPr>
      </p:sp>
      <p:sp>
        <p:nvSpPr>
          <p:cNvPr id="38" name="line-247"/>
          <p:cNvSpPr/>
          <p:nvPr/>
        </p:nvSpPr>
        <p:spPr>
          <a:xfrm>
            <a:off x="3299509" y="2516492"/>
            <a:ext cx="1821131" cy="914"/>
          </a:xfrm>
          <a:prstGeom prst="line">
            <a:avLst/>
          </a:prstGeom>
          <a:noFill/>
          <a:ln w="15875">
            <a:solidFill>
              <a:srgbClr val="13232B"/>
            </a:solidFill>
            <a:prstDash val="solid"/>
          </a:ln>
        </p:spPr>
      </p:sp>
      <p:sp>
        <p:nvSpPr>
          <p:cNvPr id="39" name="line-248"/>
          <p:cNvSpPr/>
          <p:nvPr/>
        </p:nvSpPr>
        <p:spPr>
          <a:xfrm>
            <a:off x="3299509" y="3348911"/>
            <a:ext cx="1821131" cy="914"/>
          </a:xfrm>
          <a:prstGeom prst="line">
            <a:avLst/>
          </a:prstGeom>
          <a:noFill/>
          <a:ln w="19050">
            <a:solidFill>
              <a:srgbClr val="C0452F"/>
            </a:solidFill>
            <a:prstDash val="solid"/>
          </a:ln>
        </p:spPr>
      </p:sp>
      <p:sp>
        <p:nvSpPr>
          <p:cNvPr id="40" name="line-249"/>
          <p:cNvSpPr/>
          <p:nvPr/>
        </p:nvSpPr>
        <p:spPr>
          <a:xfrm>
            <a:off x="3299509" y="2235550"/>
            <a:ext cx="1821131" cy="914"/>
          </a:xfrm>
          <a:prstGeom prst="line">
            <a:avLst/>
          </a:prstGeom>
          <a:noFill/>
          <a:ln w="15875">
            <a:solidFill>
              <a:srgbClr val="2E7D4F"/>
            </a:solidFill>
            <a:prstDash val="dash"/>
          </a:ln>
        </p:spPr>
      </p:sp>
      <p:sp>
        <p:nvSpPr>
          <p:cNvPr id="41" name="text-250"/>
          <p:cNvSpPr txBox="1"/>
          <p:nvPr/>
        </p:nvSpPr>
        <p:spPr>
          <a:xfrm>
            <a:off x="4289568" y="2016094"/>
            <a:ext cx="1143000" cy="201168"/>
          </a:xfrm>
          <a:prstGeom prst="rect">
            <a:avLst/>
          </a:prstGeom>
          <a:noFill/>
          <a:ln/>
        </p:spPr>
        <p:txBody>
          <a:bodyPr wrap="square" lIns="0" tIns="0" rIns="0" bIns="0" rtlCol="0" anchor="t"/>
          <a:lstStyle/>
          <a:p>
            <a:pPr indent="0" marL="0">
              <a:buNone/>
            </a:pPr>
            <a:r>
              <a:rPr lang="en-US" sz="1000" dirty="0">
                <a:solidFill>
                  <a:srgbClr val="2E7D4F"/>
                </a:solidFill>
              </a:rPr>
              <a:t>TP1 · stop → entry</a:t>
            </a:r>
            <a:endParaRPr lang="en-US" sz="1000" dirty="0"/>
          </a:p>
        </p:txBody>
      </p:sp>
      <p:sp>
        <p:nvSpPr>
          <p:cNvPr id="42" name="line-251"/>
          <p:cNvSpPr/>
          <p:nvPr/>
        </p:nvSpPr>
        <p:spPr>
          <a:xfrm>
            <a:off x="3299509" y="1954609"/>
            <a:ext cx="1821131" cy="914"/>
          </a:xfrm>
          <a:prstGeom prst="line">
            <a:avLst/>
          </a:prstGeom>
          <a:noFill/>
          <a:ln w="15875">
            <a:solidFill>
              <a:srgbClr val="2E7D4F"/>
            </a:solidFill>
            <a:prstDash val="dash"/>
          </a:ln>
        </p:spPr>
      </p:sp>
      <p:sp>
        <p:nvSpPr>
          <p:cNvPr id="43" name="text-252"/>
          <p:cNvSpPr txBox="1"/>
          <p:nvPr/>
        </p:nvSpPr>
        <p:spPr>
          <a:xfrm>
            <a:off x="4289568" y="1735153"/>
            <a:ext cx="1143000" cy="201168"/>
          </a:xfrm>
          <a:prstGeom prst="rect">
            <a:avLst/>
          </a:prstGeom>
          <a:noFill/>
          <a:ln/>
        </p:spPr>
        <p:txBody>
          <a:bodyPr wrap="square" lIns="0" tIns="0" rIns="0" bIns="0" rtlCol="0" anchor="t"/>
          <a:lstStyle/>
          <a:p>
            <a:pPr indent="0" marL="0">
              <a:buNone/>
            </a:pPr>
            <a:r>
              <a:rPr lang="en-US" sz="1000" dirty="0">
                <a:solidFill>
                  <a:srgbClr val="2E7D4F"/>
                </a:solidFill>
              </a:rPr>
              <a:t>TP2 · stop → TP1</a:t>
            </a:r>
            <a:endParaRPr lang="en-US" sz="1000" dirty="0"/>
          </a:p>
        </p:txBody>
      </p:sp>
      <p:sp>
        <p:nvSpPr>
          <p:cNvPr id="44" name="line-253"/>
          <p:cNvSpPr/>
          <p:nvPr/>
        </p:nvSpPr>
        <p:spPr>
          <a:xfrm>
            <a:off x="3299509" y="1673667"/>
            <a:ext cx="1821131" cy="914"/>
          </a:xfrm>
          <a:prstGeom prst="line">
            <a:avLst/>
          </a:prstGeom>
          <a:noFill/>
          <a:ln w="15875">
            <a:solidFill>
              <a:srgbClr val="2E7D4F"/>
            </a:solidFill>
            <a:prstDash val="dash"/>
          </a:ln>
        </p:spPr>
      </p:sp>
      <p:sp>
        <p:nvSpPr>
          <p:cNvPr id="45" name="text-254"/>
          <p:cNvSpPr txBox="1"/>
          <p:nvPr/>
        </p:nvSpPr>
        <p:spPr>
          <a:xfrm>
            <a:off x="4289568" y="1454211"/>
            <a:ext cx="1143000" cy="201168"/>
          </a:xfrm>
          <a:prstGeom prst="rect">
            <a:avLst/>
          </a:prstGeom>
          <a:noFill/>
          <a:ln/>
        </p:spPr>
        <p:txBody>
          <a:bodyPr wrap="square" lIns="0" tIns="0" rIns="0" bIns="0" rtlCol="0" anchor="t"/>
          <a:lstStyle/>
          <a:p>
            <a:pPr indent="0" marL="0">
              <a:buNone/>
            </a:pPr>
            <a:r>
              <a:rPr lang="en-US" sz="1000" dirty="0">
                <a:solidFill>
                  <a:srgbClr val="2E7D4F"/>
                </a:solidFill>
              </a:rPr>
              <a:t>TP3 · exit</a:t>
            </a:r>
            <a:endParaRPr lang="en-US" sz="1000" dirty="0"/>
          </a:p>
        </p:txBody>
      </p:sp>
      <p:sp>
        <p:nvSpPr>
          <p:cNvPr id="46" name="text-255"/>
          <p:cNvSpPr txBox="1"/>
          <p:nvPr/>
        </p:nvSpPr>
        <p:spPr>
          <a:xfrm>
            <a:off x="3328416" y="2543924"/>
            <a:ext cx="2103120" cy="201168"/>
          </a:xfrm>
          <a:prstGeom prst="rect">
            <a:avLst/>
          </a:prstGeom>
          <a:noFill/>
          <a:ln/>
        </p:spPr>
        <p:txBody>
          <a:bodyPr wrap="square" lIns="0" tIns="0" rIns="0" bIns="0" rtlCol="0" anchor="t"/>
          <a:lstStyle/>
          <a:p>
            <a:pPr indent="0" marL="0">
              <a:buNone/>
            </a:pPr>
            <a:r>
              <a:rPr lang="en-US" sz="1000" dirty="0">
                <a:solidFill>
                  <a:schemeClr val="tx1"/>
                </a:solidFill>
              </a:rPr>
              <a:t>Entry: break above band after a squeeze</a:t>
            </a:r>
            <a:endParaRPr lang="en-US" sz="1000" dirty="0"/>
          </a:p>
        </p:txBody>
      </p:sp>
      <p:sp>
        <p:nvSpPr>
          <p:cNvPr id="47" name="text-256"/>
          <p:cNvSpPr txBox="1"/>
          <p:nvPr/>
        </p:nvSpPr>
        <p:spPr>
          <a:xfrm>
            <a:off x="3328416" y="3376343"/>
            <a:ext cx="2103120" cy="201168"/>
          </a:xfrm>
          <a:prstGeom prst="rect">
            <a:avLst/>
          </a:prstGeom>
          <a:noFill/>
          <a:ln/>
        </p:spPr>
        <p:txBody>
          <a:bodyPr wrap="square" lIns="0" tIns="0" rIns="0" bIns="0" rtlCol="0" anchor="t"/>
          <a:lstStyle/>
          <a:p>
            <a:pPr indent="0" marL="0">
              <a:buNone/>
            </a:pPr>
            <a:r>
              <a:rPr lang="en-US" sz="1000" dirty="0">
                <a:solidFill>
                  <a:srgbClr val="C0452F"/>
                </a:solidFill>
              </a:rPr>
              <a:t>Stop: prior opposite band</a:t>
            </a:r>
            <a:endParaRPr lang="en-US" sz="1000" dirty="0"/>
          </a:p>
        </p:txBody>
      </p:sp>
      <p:sp>
        <p:nvSpPr>
          <p:cNvPr id="48" name="text-257"/>
          <p:cNvSpPr txBox="1"/>
          <p:nvPr/>
        </p:nvSpPr>
        <p:spPr>
          <a:xfrm>
            <a:off x="640080" y="4389120"/>
            <a:ext cx="2743200" cy="201168"/>
          </a:xfrm>
          <a:prstGeom prst="rect">
            <a:avLst/>
          </a:prstGeom>
          <a:noFill/>
          <a:ln/>
        </p:spPr>
        <p:txBody>
          <a:bodyPr wrap="square" lIns="0" tIns="0" rIns="0" bIns="0" rtlCol="0" anchor="t"/>
          <a:lstStyle/>
          <a:p>
            <a:pPr indent="0" marL="0">
              <a:buNone/>
            </a:pPr>
            <a:r>
              <a:rPr lang="en-US" sz="1000" dirty="0">
                <a:solidFill>
                  <a:srgbClr val="55666E"/>
                </a:solidFill>
              </a:rPr>
              <a:t>Schematic, not market data</a:t>
            </a:r>
            <a:endParaRPr lang="en-US" sz="1000" dirty="0"/>
          </a:p>
        </p:txBody>
      </p:sp>
      <p:sp>
        <p:nvSpPr>
          <p:cNvPr id="49" name="text-258"/>
          <p:cNvSpPr txBox="1"/>
          <p:nvPr/>
        </p:nvSpPr>
        <p:spPr>
          <a:xfrm>
            <a:off x="5577840" y="960120"/>
            <a:ext cx="3108960" cy="320040"/>
          </a:xfrm>
          <a:prstGeom prst="rect">
            <a:avLst/>
          </a:prstGeom>
          <a:noFill/>
          <a:ln/>
        </p:spPr>
        <p:txBody>
          <a:bodyPr wrap="square" lIns="0" tIns="0" rIns="0" bIns="0" rtlCol="0" anchor="t"/>
          <a:lstStyle/>
          <a:p>
            <a:pPr indent="0" marL="0">
              <a:buNone/>
            </a:pPr>
            <a:r>
              <a:rPr lang="en-US" sz="1600" b="1" dirty="0">
                <a:solidFill>
                  <a:schemeClr val="tx1"/>
                </a:solidFill>
              </a:rPr>
              <a:t>The four rules</a:t>
            </a:r>
            <a:endParaRPr lang="en-US" sz="1600" dirty="0"/>
          </a:p>
        </p:txBody>
      </p:sp>
      <p:sp>
        <p:nvSpPr>
          <p:cNvPr id="50" name="text-259"/>
          <p:cNvSpPr txBox="1"/>
          <p:nvPr/>
        </p:nvSpPr>
        <p:spPr>
          <a:xfrm>
            <a:off x="5577840" y="1325880"/>
            <a:ext cx="3108960" cy="18288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chemeClr val="tx1"/>
                </a:solidFill>
              </a:rPr>
              <a:t>Channel: </a:t>
            </a:r>
            <a:pPr indent="0" marL="0">
              <a:spcAft>
                <a:spcPts val="600"/>
              </a:spcAft>
              <a:buNone/>
            </a:pPr>
            <a:r>
              <a:rPr lang="en-US" sz="1250" dirty="0">
                <a:solidFill>
                  <a:schemeClr val="tx1"/>
                </a:solidFill>
              </a:rPr>
              <a:t>linreg(close, 50) ± 2 × population stdev</a:t>
            </a:r>
            <a:endParaRPr lang="en-US" sz="1400" dirty="0"/>
          </a:p>
          <a:p>
            <a:pPr marL="177800" indent="-177800">
              <a:spcAft>
                <a:spcPts val="600"/>
              </a:spcAft>
              <a:buSzPct val="100000"/>
              <a:buChar char="•"/>
            </a:pPr>
            <a:r>
              <a:rPr lang="en-US" sz="1250" b="1" dirty="0">
                <a:solidFill>
                  <a:schemeClr val="tx1"/>
                </a:solidFill>
              </a:rPr>
              <a:t>Squeeze: </a:t>
            </a:r>
            <a:pPr indent="0" marL="0">
              <a:spcAft>
                <a:spcPts val="600"/>
              </a:spcAft>
              <a:buNone/>
            </a:pPr>
            <a:r>
              <a:rPr lang="en-US" sz="1250" dirty="0">
                <a:solidFill>
                  <a:schemeClr val="tx1"/>
                </a:solidFill>
              </a:rPr>
              <a:t>width in the bottom 20% of its 100-bar range</a:t>
            </a:r>
            <a:endParaRPr lang="en-US" sz="1400" dirty="0"/>
          </a:p>
          <a:p>
            <a:pPr marL="177800" indent="-177800">
              <a:spcAft>
                <a:spcPts val="600"/>
              </a:spcAft>
              <a:buSzPct val="100000"/>
              <a:buChar char="•"/>
            </a:pPr>
            <a:r>
              <a:rPr lang="en-US" sz="1250" b="1" dirty="0">
                <a:solidFill>
                  <a:schemeClr val="tx1"/>
                </a:solidFill>
              </a:rPr>
              <a:t>Breakout: </a:t>
            </a:r>
            <a:pPr indent="0" marL="0">
              <a:spcAft>
                <a:spcPts val="600"/>
              </a:spcAft>
              <a:buNone/>
            </a:pPr>
            <a:r>
              <a:rPr lang="en-US" sz="1250" dirty="0">
                <a:solidFill>
                  <a:schemeClr val="tx1"/>
                </a:solidFill>
              </a:rPr>
              <a:t>close crosses the band right after a squeeze bar</a:t>
            </a:r>
            <a:endParaRPr lang="en-US" sz="1400" dirty="0"/>
          </a:p>
          <a:p>
            <a:pPr marL="177800" indent="-177800">
              <a:spcAft>
                <a:spcPts val="600"/>
              </a:spcAft>
              <a:buSzPct val="100000"/>
              <a:buChar char="•"/>
            </a:pPr>
            <a:r>
              <a:rPr lang="en-US" sz="1250" b="1" dirty="0">
                <a:solidFill>
                  <a:schemeClr val="tx1"/>
                </a:solidFill>
              </a:rPr>
              <a:t>Exit ladder: </a:t>
            </a:r>
            <a:pPr indent="0" marL="0">
              <a:spcAft>
                <a:spcPts val="600"/>
              </a:spcAft>
              <a:buNone/>
            </a:pPr>
            <a:r>
              <a:rPr lang="en-US" sz="1250" dirty="0">
                <a:solidFill>
                  <a:schemeClr val="tx1"/>
                </a:solidFill>
              </a:rPr>
              <a:t>stop ratchets at TP1 and TP2; TP3 closes</a:t>
            </a:r>
            <a:endParaRPr lang="en-US" sz="1400" dirty="0"/>
          </a:p>
        </p:txBody>
      </p:sp>
      <p:sp>
        <p:nvSpPr>
          <p:cNvPr id="51" name="text-260"/>
          <p:cNvSpPr txBox="1"/>
          <p:nvPr/>
        </p:nvSpPr>
        <p:spPr>
          <a:xfrm>
            <a:off x="5577840" y="3108960"/>
            <a:ext cx="3108960" cy="320040"/>
          </a:xfrm>
          <a:prstGeom prst="rect">
            <a:avLst/>
          </a:prstGeom>
          <a:noFill/>
          <a:ln/>
        </p:spPr>
        <p:txBody>
          <a:bodyPr wrap="square" lIns="0" tIns="0" rIns="0" bIns="0" rtlCol="0" anchor="t"/>
          <a:lstStyle/>
          <a:p>
            <a:pPr indent="0" marL="0">
              <a:buNone/>
            </a:pPr>
            <a:r>
              <a:rPr lang="en-US" sz="1400" b="1" dirty="0">
                <a:solidFill>
                  <a:schemeClr val="tx1"/>
                </a:solidFill>
              </a:rPr>
              <a:t>Python port fixes</a:t>
            </a:r>
            <a:endParaRPr lang="en-US" sz="1400" dirty="0"/>
          </a:p>
        </p:txBody>
      </p:sp>
      <p:sp>
        <p:nvSpPr>
          <p:cNvPr id="52" name="text-261"/>
          <p:cNvSpPr txBox="1"/>
          <p:nvPr/>
        </p:nvSpPr>
        <p:spPr>
          <a:xfrm>
            <a:off x="5577840" y="3429000"/>
            <a:ext cx="3108960" cy="123444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chemeClr val="tx1"/>
                </a:solidFill>
              </a:rPr>
              <a:t>Fill at next open plus slippage</a:t>
            </a:r>
            <a:endParaRPr lang="en-US" sz="1400" dirty="0"/>
          </a:p>
          <a:p>
            <a:pPr marL="177800" indent="-177800">
              <a:spcAft>
                <a:spcPts val="600"/>
              </a:spcAft>
              <a:buSzPct val="100000"/>
              <a:buChar char="•"/>
            </a:pPr>
            <a:r>
              <a:rPr lang="en-US" sz="1150" dirty="0">
                <a:solidFill>
                  <a:schemeClr val="tx1"/>
                </a:solidFill>
              </a:rPr>
              <a:t>Population std to match Pine</a:t>
            </a:r>
            <a:endParaRPr lang="en-US" sz="1400" dirty="0"/>
          </a:p>
          <a:p>
            <a:pPr marL="177800" indent="-177800">
              <a:spcAft>
                <a:spcPts val="600"/>
              </a:spcAft>
              <a:buSzPct val="100000"/>
              <a:buChar char="•"/>
            </a:pPr>
            <a:r>
              <a:rPr lang="en-US" sz="1150" dirty="0">
                <a:solidFill>
                  <a:schemeClr val="tx1"/>
                </a:solidFill>
              </a:rPr>
              <a:t>Gap-aware stops and costs on both legs</a:t>
            </a:r>
            <a:endParaRPr lang="en-US" sz="1400" dirty="0"/>
          </a:p>
          <a:p>
            <a:pPr marL="177800" indent="-177800">
              <a:spcAft>
                <a:spcPts val="600"/>
              </a:spcAft>
              <a:buSzPct val="100000"/>
              <a:buChar char="•"/>
            </a:pPr>
            <a:r>
              <a:rPr lang="en-US" sz="1150" dirty="0">
                <a:solidFill>
                  <a:schemeClr val="tx1"/>
                </a:solidFill>
              </a:rPr>
              <a:t>Stop never moves backward after TP2</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rPr>
              <a:t>REGIME-X: the research terminal</a:t>
            </a:r>
            <a:endParaRPr lang="en-US" sz="2800" dirty="0"/>
          </a:p>
        </p:txBody>
      </p:sp>
      <p:sp>
        <p:nvSpPr>
          <p:cNvPr id="3" name="kicker-262"/>
          <p:cNvSpPr txBox="1"/>
          <p:nvPr/>
        </p:nvSpPr>
        <p:spPr>
          <a:xfrm>
            <a:off x="457200" y="146304"/>
            <a:ext cx="8229600" cy="237744"/>
          </a:xfrm>
          <a:prstGeom prst="rect">
            <a:avLst/>
          </a:prstGeom>
          <a:noFill/>
          <a:ln/>
        </p:spPr>
        <p:txBody>
          <a:bodyPr wrap="square" lIns="0" tIns="0" rIns="0" bIns="0" rtlCol="0" anchor="t"/>
          <a:lstStyle/>
          <a:p>
            <a:pPr indent="0" marL="0">
              <a:buNone/>
            </a:pPr>
            <a:r>
              <a:rPr lang="en-US" sz="1000" b="1" spc="200" kern="0" dirty="0">
                <a:solidFill>
                  <a:schemeClr val="accent2"/>
                </a:solidFill>
              </a:rPr>
              <a:t>REGIME-X · regime-x/backend + regime-x/frontend</a:t>
            </a:r>
            <a:endParaRPr lang="en-US" sz="1000" dirty="0"/>
          </a:p>
        </p:txBody>
      </p:sp>
      <p:sp>
        <p:nvSpPr>
          <p:cNvPr id="5" name="card-263"/>
          <p:cNvSpPr/>
          <p:nvPr/>
        </p:nvSpPr>
        <p:spPr>
          <a:xfrm>
            <a:off x="457200" y="1005840"/>
            <a:ext cx="1885950" cy="1097280"/>
          </a:xfrm>
          <a:prstGeom prst="roundRect">
            <a:avLst>
              <a:gd name="adj" fmla="val 6667"/>
            </a:avLst>
          </a:prstGeom>
          <a:solidFill>
            <a:schemeClr val="bg2"/>
          </a:solidFill>
          <a:ln w="12700">
            <a:solidFill>
              <a:schemeClr val="bg2"/>
            </a:solidFill>
            <a:prstDash val="solid"/>
          </a:ln>
        </p:spPr>
      </p:sp>
      <p:sp>
        <p:nvSpPr>
          <p:cNvPr id="6" name="step-dot-264"/>
          <p:cNvSpPr/>
          <p:nvPr/>
        </p:nvSpPr>
        <p:spPr>
          <a:xfrm>
            <a:off x="594360" y="1143000"/>
            <a:ext cx="329184" cy="329184"/>
          </a:xfrm>
          <a:prstGeom prst="ellipse">
            <a:avLst/>
          </a:prstGeom>
          <a:solidFill>
            <a:schemeClr val="accent1"/>
          </a:solidFill>
          <a:ln w="12700">
            <a:solidFill>
              <a:schemeClr val="accent1"/>
            </a:solidFill>
            <a:prstDash val="solid"/>
          </a:ln>
        </p:spPr>
      </p:sp>
      <p:sp>
        <p:nvSpPr>
          <p:cNvPr id="7" name="text-265"/>
          <p:cNvSpPr txBox="1"/>
          <p:nvPr/>
        </p:nvSpPr>
        <p:spPr>
          <a:xfrm>
            <a:off x="59436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266"/>
          <p:cNvSpPr txBox="1"/>
          <p:nvPr/>
        </p:nvSpPr>
        <p:spPr>
          <a:xfrm>
            <a:off x="1005840" y="11247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Data loader</a:t>
            </a:r>
            <a:endParaRPr lang="en-US" sz="1400" dirty="0"/>
          </a:p>
        </p:txBody>
      </p:sp>
      <p:sp>
        <p:nvSpPr>
          <p:cNvPr id="9" name="text-267"/>
          <p:cNvSpPr txBox="1"/>
          <p:nvPr/>
        </p:nvSpPr>
        <p:spPr>
          <a:xfrm>
            <a:off x="594360" y="1572768"/>
            <a:ext cx="1611630" cy="438912"/>
          </a:xfrm>
          <a:prstGeom prst="rect">
            <a:avLst/>
          </a:prstGeom>
          <a:noFill/>
          <a:ln/>
        </p:spPr>
        <p:txBody>
          <a:bodyPr wrap="square" lIns="0" tIns="0" rIns="0" bIns="0" rtlCol="0" anchor="t"/>
          <a:lstStyle/>
          <a:p>
            <a:pPr indent="0" marL="0">
              <a:buNone/>
            </a:pPr>
            <a:r>
              <a:rPr lang="en-US" sz="1150" dirty="0">
                <a:solidFill>
                  <a:srgbClr val="55666E"/>
                </a:solidFill>
              </a:rPr>
              <a:t>data/loader.py · yfinance or CSV, Parquet cache</a:t>
            </a:r>
            <a:endParaRPr lang="en-US" sz="1150" dirty="0"/>
          </a:p>
        </p:txBody>
      </p:sp>
      <p:sp>
        <p:nvSpPr>
          <p:cNvPr id="10" name="card-268"/>
          <p:cNvSpPr/>
          <p:nvPr/>
        </p:nvSpPr>
        <p:spPr>
          <a:xfrm>
            <a:off x="2571750" y="1005840"/>
            <a:ext cx="1885950" cy="1097280"/>
          </a:xfrm>
          <a:prstGeom prst="roundRect">
            <a:avLst>
              <a:gd name="adj" fmla="val 6667"/>
            </a:avLst>
          </a:prstGeom>
          <a:solidFill>
            <a:schemeClr val="bg2"/>
          </a:solidFill>
          <a:ln w="12700">
            <a:solidFill>
              <a:schemeClr val="bg2"/>
            </a:solidFill>
            <a:prstDash val="solid"/>
          </a:ln>
        </p:spPr>
      </p:sp>
      <p:sp>
        <p:nvSpPr>
          <p:cNvPr id="11" name="step-dot-269"/>
          <p:cNvSpPr/>
          <p:nvPr/>
        </p:nvSpPr>
        <p:spPr>
          <a:xfrm>
            <a:off x="2708910" y="1143000"/>
            <a:ext cx="329184" cy="329184"/>
          </a:xfrm>
          <a:prstGeom prst="ellipse">
            <a:avLst/>
          </a:prstGeom>
          <a:solidFill>
            <a:schemeClr val="accent1"/>
          </a:solidFill>
          <a:ln w="12700">
            <a:solidFill>
              <a:schemeClr val="accent1"/>
            </a:solidFill>
            <a:prstDash val="solid"/>
          </a:ln>
        </p:spPr>
      </p:sp>
      <p:sp>
        <p:nvSpPr>
          <p:cNvPr id="12" name="text-270"/>
          <p:cNvSpPr txBox="1"/>
          <p:nvPr/>
        </p:nvSpPr>
        <p:spPr>
          <a:xfrm>
            <a:off x="270891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271"/>
          <p:cNvSpPr txBox="1"/>
          <p:nvPr/>
        </p:nvSpPr>
        <p:spPr>
          <a:xfrm>
            <a:off x="3120390" y="11247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ARBM engine</a:t>
            </a:r>
            <a:endParaRPr lang="en-US" sz="1400" dirty="0"/>
          </a:p>
        </p:txBody>
      </p:sp>
      <p:sp>
        <p:nvSpPr>
          <p:cNvPr id="14" name="text-272"/>
          <p:cNvSpPr txBox="1"/>
          <p:nvPr/>
        </p:nvSpPr>
        <p:spPr>
          <a:xfrm>
            <a:off x="2708910" y="1572768"/>
            <a:ext cx="1611630" cy="438912"/>
          </a:xfrm>
          <a:prstGeom prst="rect">
            <a:avLst/>
          </a:prstGeom>
          <a:noFill/>
          <a:ln/>
        </p:spPr>
        <p:txBody>
          <a:bodyPr wrap="square" lIns="0" tIns="0" rIns="0" bIns="0" rtlCol="0" anchor="t"/>
          <a:lstStyle/>
          <a:p>
            <a:pPr indent="0" marL="0">
              <a:buNone/>
            </a:pPr>
            <a:r>
              <a:rPr lang="en-US" sz="1150" dirty="0">
                <a:solidFill>
                  <a:srgbClr val="55666E"/>
                </a:solidFill>
              </a:rPr>
              <a:t>engine/arbm.py · channel, squeeze, breakouts</a:t>
            </a:r>
            <a:endParaRPr lang="en-US" sz="1150" dirty="0"/>
          </a:p>
        </p:txBody>
      </p:sp>
      <p:sp>
        <p:nvSpPr>
          <p:cNvPr id="15" name="card-273"/>
          <p:cNvSpPr/>
          <p:nvPr/>
        </p:nvSpPr>
        <p:spPr>
          <a:xfrm>
            <a:off x="4686300" y="1005840"/>
            <a:ext cx="1885950" cy="1097280"/>
          </a:xfrm>
          <a:prstGeom prst="roundRect">
            <a:avLst>
              <a:gd name="adj" fmla="val 6667"/>
            </a:avLst>
          </a:prstGeom>
          <a:solidFill>
            <a:schemeClr val="bg2"/>
          </a:solidFill>
          <a:ln w="12700">
            <a:solidFill>
              <a:schemeClr val="bg2"/>
            </a:solidFill>
            <a:prstDash val="solid"/>
          </a:ln>
        </p:spPr>
      </p:sp>
      <p:sp>
        <p:nvSpPr>
          <p:cNvPr id="16" name="step-dot-274"/>
          <p:cNvSpPr/>
          <p:nvPr/>
        </p:nvSpPr>
        <p:spPr>
          <a:xfrm>
            <a:off x="4823460" y="1143000"/>
            <a:ext cx="329184" cy="329184"/>
          </a:xfrm>
          <a:prstGeom prst="ellipse">
            <a:avLst/>
          </a:prstGeom>
          <a:solidFill>
            <a:schemeClr val="accent1"/>
          </a:solidFill>
          <a:ln w="12700">
            <a:solidFill>
              <a:schemeClr val="accent1"/>
            </a:solidFill>
            <a:prstDash val="solid"/>
          </a:ln>
        </p:spPr>
      </p:sp>
      <p:sp>
        <p:nvSpPr>
          <p:cNvPr id="17" name="text-275"/>
          <p:cNvSpPr txBox="1"/>
          <p:nvPr/>
        </p:nvSpPr>
        <p:spPr>
          <a:xfrm>
            <a:off x="482346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276"/>
          <p:cNvSpPr txBox="1"/>
          <p:nvPr/>
        </p:nvSpPr>
        <p:spPr>
          <a:xfrm>
            <a:off x="5234940" y="11247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Regime detector</a:t>
            </a:r>
            <a:endParaRPr lang="en-US" sz="1400" dirty="0"/>
          </a:p>
        </p:txBody>
      </p:sp>
      <p:sp>
        <p:nvSpPr>
          <p:cNvPr id="19" name="text-277"/>
          <p:cNvSpPr txBox="1"/>
          <p:nvPr/>
        </p:nvSpPr>
        <p:spPr>
          <a:xfrm>
            <a:off x="4823460" y="1572768"/>
            <a:ext cx="1611630" cy="438912"/>
          </a:xfrm>
          <a:prstGeom prst="rect">
            <a:avLst/>
          </a:prstGeom>
          <a:noFill/>
          <a:ln/>
        </p:spPr>
        <p:txBody>
          <a:bodyPr wrap="square" lIns="0" tIns="0" rIns="0" bIns="0" rtlCol="0" anchor="t"/>
          <a:lstStyle/>
          <a:p>
            <a:pPr indent="0" marL="0">
              <a:buNone/>
            </a:pPr>
            <a:r>
              <a:rPr lang="en-US" sz="1150" dirty="0">
                <a:solidFill>
                  <a:srgbClr val="55666E"/>
                </a:solidFill>
              </a:rPr>
              <a:t>engine/regime.py · 4 regimes from trailing vol, drawdown</a:t>
            </a:r>
            <a:endParaRPr lang="en-US" sz="1150" dirty="0"/>
          </a:p>
        </p:txBody>
      </p:sp>
      <p:sp>
        <p:nvSpPr>
          <p:cNvPr id="20" name="card-278"/>
          <p:cNvSpPr/>
          <p:nvPr/>
        </p:nvSpPr>
        <p:spPr>
          <a:xfrm>
            <a:off x="6800850" y="1005840"/>
            <a:ext cx="1885950" cy="1097280"/>
          </a:xfrm>
          <a:prstGeom prst="roundRect">
            <a:avLst>
              <a:gd name="adj" fmla="val 6667"/>
            </a:avLst>
          </a:prstGeom>
          <a:solidFill>
            <a:schemeClr val="bg2"/>
          </a:solidFill>
          <a:ln w="12700">
            <a:solidFill>
              <a:schemeClr val="bg2"/>
            </a:solidFill>
            <a:prstDash val="solid"/>
          </a:ln>
        </p:spPr>
      </p:sp>
      <p:sp>
        <p:nvSpPr>
          <p:cNvPr id="21" name="step-dot-279"/>
          <p:cNvSpPr/>
          <p:nvPr/>
        </p:nvSpPr>
        <p:spPr>
          <a:xfrm>
            <a:off x="6938010" y="1143000"/>
            <a:ext cx="329184" cy="329184"/>
          </a:xfrm>
          <a:prstGeom prst="ellipse">
            <a:avLst/>
          </a:prstGeom>
          <a:solidFill>
            <a:schemeClr val="accent1"/>
          </a:solidFill>
          <a:ln w="12700">
            <a:solidFill>
              <a:schemeClr val="accent1"/>
            </a:solidFill>
            <a:prstDash val="solid"/>
          </a:ln>
        </p:spPr>
      </p:sp>
      <p:sp>
        <p:nvSpPr>
          <p:cNvPr id="22" name="text-280"/>
          <p:cNvSpPr txBox="1"/>
          <p:nvPr/>
        </p:nvSpPr>
        <p:spPr>
          <a:xfrm>
            <a:off x="693801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3" name="text-281"/>
          <p:cNvSpPr txBox="1"/>
          <p:nvPr/>
        </p:nvSpPr>
        <p:spPr>
          <a:xfrm>
            <a:off x="7349490" y="112471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ML pipeline</a:t>
            </a:r>
            <a:endParaRPr lang="en-US" sz="1400" dirty="0"/>
          </a:p>
        </p:txBody>
      </p:sp>
      <p:sp>
        <p:nvSpPr>
          <p:cNvPr id="24" name="text-282"/>
          <p:cNvSpPr txBox="1"/>
          <p:nvPr/>
        </p:nvSpPr>
        <p:spPr>
          <a:xfrm>
            <a:off x="6938010" y="1572768"/>
            <a:ext cx="1611630" cy="438912"/>
          </a:xfrm>
          <a:prstGeom prst="rect">
            <a:avLst/>
          </a:prstGeom>
          <a:noFill/>
          <a:ln/>
        </p:spPr>
        <p:txBody>
          <a:bodyPr wrap="square" lIns="0" tIns="0" rIns="0" bIns="0" rtlCol="0" anchor="t"/>
          <a:lstStyle/>
          <a:p>
            <a:pPr indent="0" marL="0">
              <a:buNone/>
            </a:pPr>
            <a:r>
              <a:rPr lang="en-US" sz="1150" dirty="0">
                <a:solidFill>
                  <a:srgbClr val="55666E"/>
                </a:solidFill>
              </a:rPr>
              <a:t>ml/pipeline.py · 3 calibrated models, pick by MCC</a:t>
            </a:r>
            <a:endParaRPr lang="en-US" sz="1150" dirty="0"/>
          </a:p>
        </p:txBody>
      </p:sp>
      <p:sp>
        <p:nvSpPr>
          <p:cNvPr id="25" name="card-283"/>
          <p:cNvSpPr/>
          <p:nvPr/>
        </p:nvSpPr>
        <p:spPr>
          <a:xfrm>
            <a:off x="457200" y="2286000"/>
            <a:ext cx="1885950" cy="1097280"/>
          </a:xfrm>
          <a:prstGeom prst="roundRect">
            <a:avLst>
              <a:gd name="adj" fmla="val 6667"/>
            </a:avLst>
          </a:prstGeom>
          <a:solidFill>
            <a:schemeClr val="bg2"/>
          </a:solidFill>
          <a:ln w="12700">
            <a:solidFill>
              <a:schemeClr val="bg2"/>
            </a:solidFill>
            <a:prstDash val="solid"/>
          </a:ln>
        </p:spPr>
      </p:sp>
      <p:sp>
        <p:nvSpPr>
          <p:cNvPr id="26" name="step-dot-284"/>
          <p:cNvSpPr/>
          <p:nvPr/>
        </p:nvSpPr>
        <p:spPr>
          <a:xfrm>
            <a:off x="594360" y="2423160"/>
            <a:ext cx="329184" cy="329184"/>
          </a:xfrm>
          <a:prstGeom prst="ellipse">
            <a:avLst/>
          </a:prstGeom>
          <a:solidFill>
            <a:schemeClr val="accent1"/>
          </a:solidFill>
          <a:ln w="12700">
            <a:solidFill>
              <a:schemeClr val="accent1"/>
            </a:solidFill>
            <a:prstDash val="solid"/>
          </a:ln>
        </p:spPr>
      </p:sp>
      <p:sp>
        <p:nvSpPr>
          <p:cNvPr id="27" name="text-285"/>
          <p:cNvSpPr txBox="1"/>
          <p:nvPr/>
        </p:nvSpPr>
        <p:spPr>
          <a:xfrm>
            <a:off x="594360" y="2423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286"/>
          <p:cNvSpPr txBox="1"/>
          <p:nvPr/>
        </p:nvSpPr>
        <p:spPr>
          <a:xfrm>
            <a:off x="1005840" y="2404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Hybrid signal</a:t>
            </a:r>
            <a:endParaRPr lang="en-US" sz="1400" dirty="0"/>
          </a:p>
        </p:txBody>
      </p:sp>
      <p:sp>
        <p:nvSpPr>
          <p:cNvPr id="29" name="text-287"/>
          <p:cNvSpPr txBox="1"/>
          <p:nvPr/>
        </p:nvSpPr>
        <p:spPr>
          <a:xfrm>
            <a:off x="594360" y="2852928"/>
            <a:ext cx="1611630" cy="438912"/>
          </a:xfrm>
          <a:prstGeom prst="rect">
            <a:avLst/>
          </a:prstGeom>
          <a:noFill/>
          <a:ln/>
        </p:spPr>
        <p:txBody>
          <a:bodyPr wrap="square" lIns="0" tIns="0" rIns="0" bIns="0" rtlCol="0" anchor="t"/>
          <a:lstStyle/>
          <a:p>
            <a:pPr indent="0" marL="0">
              <a:buNone/>
            </a:pPr>
            <a:r>
              <a:rPr lang="en-US" sz="1150" dirty="0">
                <a:solidFill>
                  <a:srgbClr val="55666E"/>
                </a:solidFill>
              </a:rPr>
              <a:t>engine/signals.py · ML 0.45 + ARBM 0.35 + regime 0.20</a:t>
            </a:r>
            <a:endParaRPr lang="en-US" sz="1150" dirty="0"/>
          </a:p>
        </p:txBody>
      </p:sp>
      <p:sp>
        <p:nvSpPr>
          <p:cNvPr id="30" name="card-288"/>
          <p:cNvSpPr/>
          <p:nvPr/>
        </p:nvSpPr>
        <p:spPr>
          <a:xfrm>
            <a:off x="2571750" y="2286000"/>
            <a:ext cx="1885950" cy="1097280"/>
          </a:xfrm>
          <a:prstGeom prst="roundRect">
            <a:avLst>
              <a:gd name="adj" fmla="val 6667"/>
            </a:avLst>
          </a:prstGeom>
          <a:solidFill>
            <a:schemeClr val="bg2"/>
          </a:solidFill>
          <a:ln w="12700">
            <a:solidFill>
              <a:schemeClr val="bg2"/>
            </a:solidFill>
            <a:prstDash val="solid"/>
          </a:ln>
        </p:spPr>
      </p:sp>
      <p:sp>
        <p:nvSpPr>
          <p:cNvPr id="31" name="step-dot-289"/>
          <p:cNvSpPr/>
          <p:nvPr/>
        </p:nvSpPr>
        <p:spPr>
          <a:xfrm>
            <a:off x="2708910" y="2423160"/>
            <a:ext cx="329184" cy="329184"/>
          </a:xfrm>
          <a:prstGeom prst="ellipse">
            <a:avLst/>
          </a:prstGeom>
          <a:solidFill>
            <a:schemeClr val="accent1"/>
          </a:solidFill>
          <a:ln w="12700">
            <a:solidFill>
              <a:schemeClr val="accent1"/>
            </a:solidFill>
            <a:prstDash val="solid"/>
          </a:ln>
        </p:spPr>
      </p:sp>
      <p:sp>
        <p:nvSpPr>
          <p:cNvPr id="32" name="text-290"/>
          <p:cNvSpPr txBox="1"/>
          <p:nvPr/>
        </p:nvSpPr>
        <p:spPr>
          <a:xfrm>
            <a:off x="2708910" y="2423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3" name="text-291"/>
          <p:cNvSpPr txBox="1"/>
          <p:nvPr/>
        </p:nvSpPr>
        <p:spPr>
          <a:xfrm>
            <a:off x="3120390" y="2404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Backtester</a:t>
            </a:r>
            <a:endParaRPr lang="en-US" sz="1400" dirty="0"/>
          </a:p>
        </p:txBody>
      </p:sp>
      <p:sp>
        <p:nvSpPr>
          <p:cNvPr id="34" name="text-292"/>
          <p:cNvSpPr txBox="1"/>
          <p:nvPr/>
        </p:nvSpPr>
        <p:spPr>
          <a:xfrm>
            <a:off x="2708910" y="2852928"/>
            <a:ext cx="1611630" cy="438912"/>
          </a:xfrm>
          <a:prstGeom prst="rect">
            <a:avLst/>
          </a:prstGeom>
          <a:noFill/>
          <a:ln/>
        </p:spPr>
        <p:txBody>
          <a:bodyPr wrap="square" lIns="0" tIns="0" rIns="0" bIns="0" rtlCol="0" anchor="t"/>
          <a:lstStyle/>
          <a:p>
            <a:pPr indent="0" marL="0">
              <a:buNone/>
            </a:pPr>
            <a:r>
              <a:rPr lang="en-US" sz="1150" dirty="0">
                <a:solidFill>
                  <a:srgbClr val="55666E"/>
                </a:solidFill>
              </a:rPr>
              <a:t>engine/signals.py · overnight + intraday P&amp;L, fees</a:t>
            </a:r>
            <a:endParaRPr lang="en-US" sz="1150" dirty="0"/>
          </a:p>
        </p:txBody>
      </p:sp>
      <p:sp>
        <p:nvSpPr>
          <p:cNvPr id="35" name="card-293"/>
          <p:cNvSpPr/>
          <p:nvPr/>
        </p:nvSpPr>
        <p:spPr>
          <a:xfrm>
            <a:off x="4686300" y="2286000"/>
            <a:ext cx="1885950" cy="1097280"/>
          </a:xfrm>
          <a:prstGeom prst="roundRect">
            <a:avLst>
              <a:gd name="adj" fmla="val 6667"/>
            </a:avLst>
          </a:prstGeom>
          <a:solidFill>
            <a:schemeClr val="bg2"/>
          </a:solidFill>
          <a:ln w="12700">
            <a:solidFill>
              <a:schemeClr val="bg2"/>
            </a:solidFill>
            <a:prstDash val="solid"/>
          </a:ln>
        </p:spPr>
      </p:sp>
      <p:sp>
        <p:nvSpPr>
          <p:cNvPr id="36" name="step-dot-294"/>
          <p:cNvSpPr/>
          <p:nvPr/>
        </p:nvSpPr>
        <p:spPr>
          <a:xfrm>
            <a:off x="4823460" y="2423160"/>
            <a:ext cx="329184" cy="329184"/>
          </a:xfrm>
          <a:prstGeom prst="ellipse">
            <a:avLst/>
          </a:prstGeom>
          <a:solidFill>
            <a:schemeClr val="accent1"/>
          </a:solidFill>
          <a:ln w="12700">
            <a:solidFill>
              <a:schemeClr val="accent1"/>
            </a:solidFill>
            <a:prstDash val="solid"/>
          </a:ln>
        </p:spPr>
      </p:sp>
      <p:sp>
        <p:nvSpPr>
          <p:cNvPr id="37" name="text-295"/>
          <p:cNvSpPr txBox="1"/>
          <p:nvPr/>
        </p:nvSpPr>
        <p:spPr>
          <a:xfrm>
            <a:off x="4823460" y="2423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8" name="text-296"/>
          <p:cNvSpPr txBox="1"/>
          <p:nvPr/>
        </p:nvSpPr>
        <p:spPr>
          <a:xfrm>
            <a:off x="5234940" y="2404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FastAPI</a:t>
            </a:r>
            <a:endParaRPr lang="en-US" sz="1400" dirty="0"/>
          </a:p>
        </p:txBody>
      </p:sp>
      <p:sp>
        <p:nvSpPr>
          <p:cNvPr id="39" name="text-297"/>
          <p:cNvSpPr txBox="1"/>
          <p:nvPr/>
        </p:nvSpPr>
        <p:spPr>
          <a:xfrm>
            <a:off x="4823460" y="2852928"/>
            <a:ext cx="1611630" cy="438912"/>
          </a:xfrm>
          <a:prstGeom prst="rect">
            <a:avLst/>
          </a:prstGeom>
          <a:noFill/>
          <a:ln/>
        </p:spPr>
        <p:txBody>
          <a:bodyPr wrap="square" lIns="0" tIns="0" rIns="0" bIns="0" rtlCol="0" anchor="t"/>
          <a:lstStyle/>
          <a:p>
            <a:pPr indent="0" marL="0">
              <a:buNone/>
            </a:pPr>
            <a:r>
              <a:rPr lang="en-US" sz="1150" dirty="0">
                <a:solidFill>
                  <a:srgbClr val="55666E"/>
                </a:solidFill>
              </a:rPr>
              <a:t>api/main.py · analyze, stress test, walk-forward</a:t>
            </a:r>
            <a:endParaRPr lang="en-US" sz="1150" dirty="0"/>
          </a:p>
        </p:txBody>
      </p:sp>
      <p:sp>
        <p:nvSpPr>
          <p:cNvPr id="40" name="card-298"/>
          <p:cNvSpPr/>
          <p:nvPr/>
        </p:nvSpPr>
        <p:spPr>
          <a:xfrm>
            <a:off x="6800850" y="2286000"/>
            <a:ext cx="1885950" cy="1097280"/>
          </a:xfrm>
          <a:prstGeom prst="roundRect">
            <a:avLst>
              <a:gd name="adj" fmla="val 6667"/>
            </a:avLst>
          </a:prstGeom>
          <a:solidFill>
            <a:schemeClr val="bg2"/>
          </a:solidFill>
          <a:ln w="12700">
            <a:solidFill>
              <a:schemeClr val="bg2"/>
            </a:solidFill>
            <a:prstDash val="solid"/>
          </a:ln>
        </p:spPr>
      </p:sp>
      <p:sp>
        <p:nvSpPr>
          <p:cNvPr id="41" name="step-dot-299"/>
          <p:cNvSpPr/>
          <p:nvPr/>
        </p:nvSpPr>
        <p:spPr>
          <a:xfrm>
            <a:off x="6938010" y="2423160"/>
            <a:ext cx="329184" cy="329184"/>
          </a:xfrm>
          <a:prstGeom prst="ellipse">
            <a:avLst/>
          </a:prstGeom>
          <a:solidFill>
            <a:schemeClr val="accent1"/>
          </a:solidFill>
          <a:ln w="12700">
            <a:solidFill>
              <a:schemeClr val="accent1"/>
            </a:solidFill>
            <a:prstDash val="solid"/>
          </a:ln>
        </p:spPr>
      </p:sp>
      <p:sp>
        <p:nvSpPr>
          <p:cNvPr id="42" name="text-300"/>
          <p:cNvSpPr txBox="1"/>
          <p:nvPr/>
        </p:nvSpPr>
        <p:spPr>
          <a:xfrm>
            <a:off x="6938010" y="242316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3" name="text-301"/>
          <p:cNvSpPr txBox="1"/>
          <p:nvPr/>
        </p:nvSpPr>
        <p:spPr>
          <a:xfrm>
            <a:off x="7349490" y="2404872"/>
            <a:ext cx="1227582" cy="365760"/>
          </a:xfrm>
          <a:prstGeom prst="rect">
            <a:avLst/>
          </a:prstGeom>
          <a:noFill/>
          <a:ln/>
        </p:spPr>
        <p:txBody>
          <a:bodyPr wrap="square" lIns="0" tIns="0" rIns="0" bIns="0" rtlCol="0" anchor="ctr"/>
          <a:lstStyle/>
          <a:p>
            <a:pPr indent="0" marL="0">
              <a:buNone/>
            </a:pPr>
            <a:r>
              <a:rPr lang="en-US" sz="1400" b="1" dirty="0">
                <a:solidFill>
                  <a:schemeClr val="tx1"/>
                </a:solidFill>
              </a:rPr>
              <a:t>Next.js UI</a:t>
            </a:r>
            <a:endParaRPr lang="en-US" sz="1400" dirty="0"/>
          </a:p>
        </p:txBody>
      </p:sp>
      <p:sp>
        <p:nvSpPr>
          <p:cNvPr id="44" name="text-302"/>
          <p:cNvSpPr txBox="1"/>
          <p:nvPr/>
        </p:nvSpPr>
        <p:spPr>
          <a:xfrm>
            <a:off x="6938010" y="2852928"/>
            <a:ext cx="1611630" cy="438912"/>
          </a:xfrm>
          <a:prstGeom prst="rect">
            <a:avLst/>
          </a:prstGeom>
          <a:noFill/>
          <a:ln/>
        </p:spPr>
        <p:txBody>
          <a:bodyPr wrap="square" lIns="0" tIns="0" rIns="0" bIns="0" rtlCol="0" anchor="t"/>
          <a:lstStyle/>
          <a:p>
            <a:pPr indent="0" marL="0">
              <a:buNone/>
            </a:pPr>
            <a:r>
              <a:rPr lang="en-US" sz="1150" dirty="0">
                <a:solidFill>
                  <a:srgbClr val="55666E"/>
                </a:solidFill>
              </a:rPr>
              <a:t>frontend/components · charts, crash simulator, risk</a:t>
            </a:r>
            <a:endParaRPr lang="en-US" sz="1150" dirty="0"/>
          </a:p>
        </p:txBody>
      </p:sp>
      <p:sp>
        <p:nvSpPr>
          <p:cNvPr id="45" name="text-303"/>
          <p:cNvSpPr txBox="1"/>
          <p:nvPr/>
        </p:nvSpPr>
        <p:spPr>
          <a:xfrm>
            <a:off x="457200" y="3547872"/>
            <a:ext cx="8229600" cy="274320"/>
          </a:xfrm>
          <a:prstGeom prst="rect">
            <a:avLst/>
          </a:prstGeom>
          <a:noFill/>
          <a:ln/>
        </p:spPr>
        <p:txBody>
          <a:bodyPr wrap="square" lIns="0" tIns="0" rIns="0" bIns="0" rtlCol="0" anchor="t"/>
          <a:lstStyle/>
          <a:p>
            <a:pPr indent="0" marL="0">
              <a:buNone/>
            </a:pPr>
            <a:r>
              <a:rPr lang="en-US" sz="1300" b="1" dirty="0">
                <a:solidFill>
                  <a:schemeClr val="tx1"/>
                </a:solidFill>
              </a:rPr>
              <a:t>Four regimes → position caps</a:t>
            </a:r>
            <a:endParaRPr lang="en-US" sz="1300" dirty="0"/>
          </a:p>
        </p:txBody>
      </p:sp>
      <p:sp>
        <p:nvSpPr>
          <p:cNvPr id="46" name="regime-dot-0"/>
          <p:cNvSpPr/>
          <p:nvPr/>
        </p:nvSpPr>
        <p:spPr>
          <a:xfrm>
            <a:off x="457200" y="3913632"/>
            <a:ext cx="201168" cy="201168"/>
          </a:xfrm>
          <a:prstGeom prst="ellipse">
            <a:avLst/>
          </a:prstGeom>
          <a:solidFill>
            <a:srgbClr val="2E7D4F"/>
          </a:solidFill>
          <a:ln w="12700">
            <a:solidFill>
              <a:srgbClr val="2E7D4F"/>
            </a:solidFill>
            <a:prstDash val="solid"/>
          </a:ln>
        </p:spPr>
      </p:sp>
      <p:sp>
        <p:nvSpPr>
          <p:cNvPr id="47" name="text-304"/>
          <p:cNvSpPr txBox="1"/>
          <p:nvPr/>
        </p:nvSpPr>
        <p:spPr>
          <a:xfrm>
            <a:off x="731520" y="3858768"/>
            <a:ext cx="1783080" cy="292608"/>
          </a:xfrm>
          <a:prstGeom prst="rect">
            <a:avLst/>
          </a:prstGeom>
          <a:noFill/>
          <a:ln/>
        </p:spPr>
        <p:txBody>
          <a:bodyPr wrap="square" lIns="0" tIns="0" rIns="0" bIns="0" rtlCol="0" anchor="t"/>
          <a:lstStyle/>
          <a:p>
            <a:pPr indent="0" marL="0">
              <a:buNone/>
            </a:pPr>
            <a:r>
              <a:rPr lang="en-US" sz="1200" b="1" dirty="0">
                <a:solidFill>
                  <a:schemeClr val="tx1"/>
                </a:solidFill>
              </a:rPr>
              <a:t>Low vol  </a:t>
            </a:r>
            <a:pPr indent="0" marL="0">
              <a:buNone/>
            </a:pPr>
            <a:r>
              <a:rPr lang="en-US" sz="1200" dirty="0">
                <a:solidFill>
                  <a:srgbClr val="55666E"/>
                </a:solidFill>
              </a:rPr>
              <a:t>Full size</a:t>
            </a:r>
            <a:endParaRPr lang="en-US" sz="1200" dirty="0"/>
          </a:p>
        </p:txBody>
      </p:sp>
      <p:sp>
        <p:nvSpPr>
          <p:cNvPr id="48" name="text-305"/>
          <p:cNvSpPr txBox="1"/>
          <p:nvPr/>
        </p:nvSpPr>
        <p:spPr>
          <a:xfrm>
            <a:off x="731520" y="4160520"/>
            <a:ext cx="1783080" cy="457200"/>
          </a:xfrm>
          <a:prstGeom prst="rect">
            <a:avLst/>
          </a:prstGeom>
          <a:noFill/>
          <a:ln/>
        </p:spPr>
        <p:txBody>
          <a:bodyPr wrap="square" lIns="0" tIns="0" rIns="0" bIns="0" rtlCol="0" anchor="t"/>
          <a:lstStyle/>
          <a:p>
            <a:pPr indent="0" marL="0">
              <a:buNone/>
            </a:pPr>
            <a:r>
              <a:rPr lang="en-US" sz="1050" dirty="0">
                <a:solidFill>
                  <a:srgbClr val="55666E"/>
                </a:solidFill>
              </a:rPr>
              <a:t>&lt; 25th pct</a:t>
            </a:r>
            <a:endParaRPr lang="en-US" sz="1050" dirty="0"/>
          </a:p>
        </p:txBody>
      </p:sp>
      <p:sp>
        <p:nvSpPr>
          <p:cNvPr id="49" name="regime-dot-1"/>
          <p:cNvSpPr/>
          <p:nvPr/>
        </p:nvSpPr>
        <p:spPr>
          <a:xfrm>
            <a:off x="2560320" y="3913632"/>
            <a:ext cx="201168" cy="201168"/>
          </a:xfrm>
          <a:prstGeom prst="ellipse">
            <a:avLst/>
          </a:prstGeom>
          <a:solidFill>
            <a:srgbClr val="1F6F6B"/>
          </a:solidFill>
          <a:ln w="12700">
            <a:solidFill>
              <a:srgbClr val="1F6F6B"/>
            </a:solidFill>
            <a:prstDash val="solid"/>
          </a:ln>
        </p:spPr>
      </p:sp>
      <p:sp>
        <p:nvSpPr>
          <p:cNvPr id="50" name="text-306"/>
          <p:cNvSpPr txBox="1"/>
          <p:nvPr/>
        </p:nvSpPr>
        <p:spPr>
          <a:xfrm>
            <a:off x="2834640" y="3858768"/>
            <a:ext cx="1783080" cy="292608"/>
          </a:xfrm>
          <a:prstGeom prst="rect">
            <a:avLst/>
          </a:prstGeom>
          <a:noFill/>
          <a:ln/>
        </p:spPr>
        <p:txBody>
          <a:bodyPr wrap="square" lIns="0" tIns="0" rIns="0" bIns="0" rtlCol="0" anchor="t"/>
          <a:lstStyle/>
          <a:p>
            <a:pPr indent="0" marL="0">
              <a:buNone/>
            </a:pPr>
            <a:r>
              <a:rPr lang="en-US" sz="1200" b="1" dirty="0">
                <a:solidFill>
                  <a:schemeClr val="tx1"/>
                </a:solidFill>
              </a:rPr>
              <a:t>Normal  </a:t>
            </a:r>
            <a:pPr indent="0" marL="0">
              <a:buNone/>
            </a:pPr>
            <a:r>
              <a:rPr lang="en-US" sz="1200" dirty="0">
                <a:solidFill>
                  <a:srgbClr val="55666E"/>
                </a:solidFill>
              </a:rPr>
              <a:t>Full size</a:t>
            </a:r>
            <a:endParaRPr lang="en-US" sz="1200" dirty="0"/>
          </a:p>
        </p:txBody>
      </p:sp>
      <p:sp>
        <p:nvSpPr>
          <p:cNvPr id="51" name="text-307"/>
          <p:cNvSpPr txBox="1"/>
          <p:nvPr/>
        </p:nvSpPr>
        <p:spPr>
          <a:xfrm>
            <a:off x="2834640" y="4160520"/>
            <a:ext cx="1783080" cy="457200"/>
          </a:xfrm>
          <a:prstGeom prst="rect">
            <a:avLst/>
          </a:prstGeom>
          <a:noFill/>
          <a:ln/>
        </p:spPr>
        <p:txBody>
          <a:bodyPr wrap="square" lIns="0" tIns="0" rIns="0" bIns="0" rtlCol="0" anchor="t"/>
          <a:lstStyle/>
          <a:p>
            <a:pPr indent="0" marL="0">
              <a:buNone/>
            </a:pPr>
            <a:r>
              <a:rPr lang="en-US" sz="1050" dirty="0">
                <a:solidFill>
                  <a:srgbClr val="55666E"/>
                </a:solidFill>
              </a:rPr>
              <a:t>25th–75th</a:t>
            </a:r>
            <a:endParaRPr lang="en-US" sz="1050" dirty="0"/>
          </a:p>
        </p:txBody>
      </p:sp>
      <p:sp>
        <p:nvSpPr>
          <p:cNvPr id="52" name="regime-dot-2"/>
          <p:cNvSpPr/>
          <p:nvPr/>
        </p:nvSpPr>
        <p:spPr>
          <a:xfrm>
            <a:off x="4663440" y="3913632"/>
            <a:ext cx="201168" cy="201168"/>
          </a:xfrm>
          <a:prstGeom prst="ellipse">
            <a:avLst/>
          </a:prstGeom>
          <a:solidFill>
            <a:srgbClr val="D9962B"/>
          </a:solidFill>
          <a:ln w="12700">
            <a:solidFill>
              <a:srgbClr val="D9962B"/>
            </a:solidFill>
            <a:prstDash val="solid"/>
          </a:ln>
        </p:spPr>
      </p:sp>
      <p:sp>
        <p:nvSpPr>
          <p:cNvPr id="53" name="text-308"/>
          <p:cNvSpPr txBox="1"/>
          <p:nvPr/>
        </p:nvSpPr>
        <p:spPr>
          <a:xfrm>
            <a:off x="4937760" y="3858768"/>
            <a:ext cx="1783080" cy="292608"/>
          </a:xfrm>
          <a:prstGeom prst="rect">
            <a:avLst/>
          </a:prstGeom>
          <a:noFill/>
          <a:ln/>
        </p:spPr>
        <p:txBody>
          <a:bodyPr wrap="square" lIns="0" tIns="0" rIns="0" bIns="0" rtlCol="0" anchor="t"/>
          <a:lstStyle/>
          <a:p>
            <a:pPr indent="0" marL="0">
              <a:buNone/>
            </a:pPr>
            <a:r>
              <a:rPr lang="en-US" sz="1200" b="1" dirty="0">
                <a:solidFill>
                  <a:schemeClr val="tx1"/>
                </a:solidFill>
              </a:rPr>
              <a:t>High vol  </a:t>
            </a:r>
            <a:pPr indent="0" marL="0">
              <a:buNone/>
            </a:pPr>
            <a:r>
              <a:rPr lang="en-US" sz="1200" dirty="0">
                <a:solidFill>
                  <a:srgbClr val="55666E"/>
                </a:solidFill>
              </a:rPr>
              <a:t>Cap 0.5</a:t>
            </a:r>
            <a:endParaRPr lang="en-US" sz="1200" dirty="0"/>
          </a:p>
        </p:txBody>
      </p:sp>
      <p:sp>
        <p:nvSpPr>
          <p:cNvPr id="54" name="text-309"/>
          <p:cNvSpPr txBox="1"/>
          <p:nvPr/>
        </p:nvSpPr>
        <p:spPr>
          <a:xfrm>
            <a:off x="4937760" y="4160520"/>
            <a:ext cx="1783080" cy="457200"/>
          </a:xfrm>
          <a:prstGeom prst="rect">
            <a:avLst/>
          </a:prstGeom>
          <a:noFill/>
          <a:ln/>
        </p:spPr>
        <p:txBody>
          <a:bodyPr wrap="square" lIns="0" tIns="0" rIns="0" bIns="0" rtlCol="0" anchor="t"/>
          <a:lstStyle/>
          <a:p>
            <a:pPr indent="0" marL="0">
              <a:buNone/>
            </a:pPr>
            <a:r>
              <a:rPr lang="en-US" sz="1050" dirty="0">
                <a:solidFill>
                  <a:srgbClr val="55666E"/>
                </a:solidFill>
              </a:rPr>
              <a:t>≥ 75th pct</a:t>
            </a:r>
            <a:endParaRPr lang="en-US" sz="1050" dirty="0"/>
          </a:p>
        </p:txBody>
      </p:sp>
      <p:sp>
        <p:nvSpPr>
          <p:cNvPr id="55" name="regime-dot-3"/>
          <p:cNvSpPr/>
          <p:nvPr/>
        </p:nvSpPr>
        <p:spPr>
          <a:xfrm>
            <a:off x="6766560" y="3913632"/>
            <a:ext cx="201168" cy="201168"/>
          </a:xfrm>
          <a:prstGeom prst="ellipse">
            <a:avLst/>
          </a:prstGeom>
          <a:solidFill>
            <a:srgbClr val="C0452F"/>
          </a:solidFill>
          <a:ln w="12700">
            <a:solidFill>
              <a:srgbClr val="C0452F"/>
            </a:solidFill>
            <a:prstDash val="solid"/>
          </a:ln>
        </p:spPr>
      </p:sp>
      <p:sp>
        <p:nvSpPr>
          <p:cNvPr id="56" name="text-310"/>
          <p:cNvSpPr txBox="1"/>
          <p:nvPr/>
        </p:nvSpPr>
        <p:spPr>
          <a:xfrm>
            <a:off x="7040880" y="3858768"/>
            <a:ext cx="1783080" cy="292608"/>
          </a:xfrm>
          <a:prstGeom prst="rect">
            <a:avLst/>
          </a:prstGeom>
          <a:noFill/>
          <a:ln/>
        </p:spPr>
        <p:txBody>
          <a:bodyPr wrap="square" lIns="0" tIns="0" rIns="0" bIns="0" rtlCol="0" anchor="t"/>
          <a:lstStyle/>
          <a:p>
            <a:pPr indent="0" marL="0">
              <a:buNone/>
            </a:pPr>
            <a:r>
              <a:rPr lang="en-US" sz="1200" b="1" dirty="0">
                <a:solidFill>
                  <a:schemeClr val="tx1"/>
                </a:solidFill>
              </a:rPr>
              <a:t>Extreme  </a:t>
            </a:r>
            <a:pPr indent="0" marL="0">
              <a:buNone/>
            </a:pPr>
            <a:r>
              <a:rPr lang="en-US" sz="1200" dirty="0">
                <a:solidFill>
                  <a:srgbClr val="55666E"/>
                </a:solidFill>
              </a:rPr>
              <a:t>Cap 0.1</a:t>
            </a:r>
            <a:endParaRPr lang="en-US" sz="1200" dirty="0"/>
          </a:p>
        </p:txBody>
      </p:sp>
      <p:sp>
        <p:nvSpPr>
          <p:cNvPr id="57" name="text-311"/>
          <p:cNvSpPr txBox="1"/>
          <p:nvPr/>
        </p:nvSpPr>
        <p:spPr>
          <a:xfrm>
            <a:off x="7040880" y="4160520"/>
            <a:ext cx="1783080" cy="457200"/>
          </a:xfrm>
          <a:prstGeom prst="rect">
            <a:avLst/>
          </a:prstGeom>
          <a:noFill/>
          <a:ln/>
        </p:spPr>
        <p:txBody>
          <a:bodyPr wrap="square" lIns="0" tIns="0" rIns="0" bIns="0" rtlCol="0" anchor="t"/>
          <a:lstStyle/>
          <a:p>
            <a:pPr indent="0" marL="0">
              <a:buNone/>
            </a:pPr>
            <a:r>
              <a:rPr lang="en-US" sz="1050" dirty="0">
                <a:solidFill>
                  <a:srgbClr val="55666E"/>
                </a:solidFill>
              </a:rPr>
              <a:t>≥ 95th, DD ≤ −10%, or −3σ</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A9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Kestrel Desk">
  <a:themeElements>
    <a:clrScheme name="Kestrel Desk">
      <a:dk1>
        <a:srgbClr val="13232B"/>
      </a:dk1>
      <a:lt1>
        <a:srgbClr val="FFFFFF"/>
      </a:lt1>
      <a:dk2>
        <a:srgbClr val="1F6F6B"/>
      </a:dk2>
      <a:lt2>
        <a:srgbClr val="EEF3F2"/>
      </a:lt2>
      <a:accent1>
        <a:srgbClr val="1F6F6B"/>
      </a:accent1>
      <a:accent2>
        <a:srgbClr val="D9962B"/>
      </a:accent2>
      <a:accent3>
        <a:srgbClr val="C0452F"/>
      </a:accent3>
      <a:accent4>
        <a:srgbClr val="8A9A9C"/>
      </a:accent4>
      <a:accent5>
        <a:srgbClr val="2E7D4F"/>
      </a:accent5>
      <a:accent6>
        <a:srgbClr val="55666E"/>
      </a:accent6>
      <a:hlink>
        <a:srgbClr val="1F6F6B"/>
      </a:hlink>
      <a:folHlink>
        <a:srgbClr val="55666E"/>
      </a:folHlink>
    </a:clrScheme>
    <a:fontScheme name="Kestrel De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KESTREL_EM Sprint Playbook</dc:title>
  <dc:subject>PptxGenJS Presentation</dc:subject>
  <dc:creator>Team Renaissance</dc:creator>
  <cp:lastModifiedBy>Team Renaissance</cp:lastModifiedBy>
  <cp:revision>1</cp:revision>
  <dcterms:created xsi:type="dcterms:W3CDTF">2026-10-16T10:25:55Z</dcterms:created>
  <dcterms:modified xsi:type="dcterms:W3CDTF">2026-10-16T10:25:55Z</dcterms:modified>
</cp:coreProperties>
</file>